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56" r:id="rId4"/>
    <p:sldId id="257" r:id="rId3"/>
    <p:sldId id="258" r:id="rId2"/>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Lst>
  <p:sldSz cx="12192000" cy="6858000"/>
  <p:notesSz cx="6858000" cy="9144000"/>
  <p:embeddedFontLst>
    <p:embeddedFont>
      <p:font typeface="Figtree" pitchFamily="2" charset="0"/>
      <p:regular r:id="rId6"/>
      <p:bold r:id="rId7"/>
      <p:italic r:id="rId8"/>
      <p:boldItalic r:id="rId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7.pn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7.png"/><Relationship Id="rId5"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1.png"/><Relationship Id="rId7"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1.xml"/><Relationship Id="rId49" Type="http://schemas.openxmlformats.org/officeDocument/2006/relationships/image" Target="../media/image1.png"/><Relationship Id="rId5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691640" y="2880360"/>
            <a:ext cx="8796528" cy="1691640"/>
          </a:xfrm>
        </p:spPr>
        <p:txBody>
          <a:bodyPr/>
          <a:lstStyle/>
          <a:p>
            <a:r>
              <a:rPr>
                <a:latin typeface="Figtree"/>
              </a:rPr>
              <a:t>Adaptive Hybrid</a:t>
            </a:r>
            <a:br/>
            <a:r>
              <a:rPr>
                <a:latin typeface="Figtree"/>
              </a:rPr>
              <a:t>Retrieval-Augmented Generation</a:t>
            </a:r>
          </a:p>
        </p:txBody>
      </p:sp>
      <p:sp>
        <p:nvSpPr>
          <p:cNvPr id="3" name="Subtitle 2"/>
          <p:cNvSpPr>
            <a:spLocks noGrp="1"/>
          </p:cNvSpPr>
          <p:nvPr>
            <p:ph type="subTitle" idx="1"/>
          </p:nvPr>
        </p:nvSpPr>
        <p:spPr>
          <a:xfrm>
            <a:off x="2130552" y="5596128"/>
            <a:ext cx="7927848" cy="466344"/>
          </a:xfrm>
        </p:spPr>
        <p:txBody>
          <a:bodyPr/>
          <a:lstStyle/>
          <a:p>
            <a:r>
              <a:rPr>
                <a:latin typeface="Figtree"/>
              </a:rPr>
              <a:t>Dante Wesslund  ·  2026-10-22</a:t>
            </a:r>
          </a:p>
        </p:txBody>
      </p:sp>
      <p:sp>
        <p:nvSpPr>
          <p:cNvPr id="4" name="TextBox 3"/>
          <p:cNvSpPr txBox="1"/>
          <p:nvPr/>
        </p:nvSpPr>
        <p:spPr>
          <a:xfrm>
            <a:off x="2194560" y="4754880"/>
            <a:ext cx="7799831" cy="713232"/>
          </a:xfrm>
          <a:prstGeom prst="rect">
            <a:avLst/>
          </a:prstGeom>
          <a:noFill/>
        </p:spPr>
        <p:txBody>
          <a:bodyPr wrap="square" anchor="t" lIns="0" rIns="0" tIns="0" bIns="0">
            <a:spAutoFit/>
          </a:bodyPr>
          <a:lstStyle/>
          <a:p>
            <a:pPr algn="ctr">
              <a:lnSpc>
                <a:spcPct val="105000"/>
              </a:lnSpc>
              <a:spcAft>
                <a:spcPts val="0"/>
              </a:spcAft>
            </a:pPr>
            <a:r>
              <a:rPr sz="2000" b="0" i="0">
                <a:solidFill>
                  <a:srgbClr val="FFFFFF"/>
                </a:solidFill>
                <a:latin typeface="Figtree"/>
              </a:rPr>
              <a:t>Optimizing the computational cost-performance trade-off</a:t>
            </a:r>
          </a:p>
          <a:p>
            <a:pPr algn="ctr">
              <a:lnSpc>
                <a:spcPct val="105000"/>
              </a:lnSpc>
              <a:spcAft>
                <a:spcPts val="600"/>
              </a:spcAft>
            </a:pPr>
            <a:r>
              <a:rPr sz="2000" b="0" i="0">
                <a:solidFill>
                  <a:srgbClr val="FFFFFF"/>
                </a:solidFill>
                <a:latin typeface="Figtree"/>
              </a:rPr>
              <a:t>via learned query routing</a:t>
            </a:r>
          </a:p>
        </p:txBody>
      </p:sp>
      <p:sp>
        <p:nvSpPr>
          <p:cNvPr id="5" name="TextBox 4"/>
          <p:cNvSpPr txBox="1"/>
          <p:nvPr/>
        </p:nvSpPr>
        <p:spPr>
          <a:xfrm>
            <a:off x="2194560" y="6144768"/>
            <a:ext cx="7799831" cy="548640"/>
          </a:xfrm>
          <a:prstGeom prst="rect">
            <a:avLst/>
          </a:prstGeom>
          <a:noFill/>
        </p:spPr>
        <p:txBody>
          <a:bodyPr wrap="square" anchor="t" lIns="0" rIns="0" tIns="0" bIns="0">
            <a:spAutoFit/>
          </a:bodyPr>
          <a:lstStyle/>
          <a:p>
            <a:pPr algn="ctr">
              <a:lnSpc>
                <a:spcPct val="105000"/>
              </a:lnSpc>
              <a:spcAft>
                <a:spcPts val="0"/>
              </a:spcAft>
            </a:pPr>
            <a:r>
              <a:rPr sz="1400" b="0" i="0">
                <a:solidFill>
                  <a:srgbClr val="DEF0FF"/>
                </a:solidFill>
                <a:latin typeface="Figtree"/>
              </a:rPr>
              <a:t>Examiner: Pawel Herman  ·  Supervisors: Arvid Eriksson (KTH), Peng Zhang (Ericsson)</a:t>
            </a:r>
          </a:p>
          <a:p>
            <a:pPr algn="ctr">
              <a:lnSpc>
                <a:spcPct val="105000"/>
              </a:lnSpc>
              <a:spcAft>
                <a:spcPts val="600"/>
              </a:spcAft>
            </a:pPr>
            <a:r>
              <a:rPr sz="1400" b="0" i="0">
                <a:solidFill>
                  <a:srgbClr val="DEF0FF"/>
                </a:solidFill>
                <a:latin typeface="Figtree"/>
              </a:rPr>
              <a:t>DA233X Degree Project, Machine Learning  ·  In collaboration with Ericsson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In short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965960"/>
            <a:ext cx="10424160" cy="1097280"/>
          </a:xfrm>
          <a:prstGeom prst="rect">
            <a:avLst/>
          </a:prstGeom>
          <a:noFill/>
        </p:spPr>
        <p:txBody>
          <a:bodyPr wrap="square" anchor="t" lIns="0" rIns="0" tIns="0" bIns="0">
            <a:spAutoFit/>
          </a:bodyPr>
          <a:lstStyle/>
          <a:p>
            <a:pPr algn="l">
              <a:lnSpc>
                <a:spcPct val="110000"/>
              </a:lnSpc>
              <a:spcAft>
                <a:spcPts val="600"/>
              </a:spcAft>
            </a:pPr>
            <a:r>
              <a:rPr sz="3200" b="1" i="0">
                <a:solidFill>
                  <a:srgbClr val="004791"/>
                </a:solidFill>
                <a:latin typeface="Figtree"/>
              </a:rPr>
              <a:t>Route before you retrieve. </a:t>
            </a:r>
            <a:r>
              <a:rPr sz="3200" b="0" i="0">
                <a:solidFill>
                  <a:srgbClr val="1F2A44"/>
                </a:solidFill>
                <a:latin typeface="Figtree"/>
              </a:rPr>
              <a:t>The question alone often tells you whether the expensive retrieval is needed.</a:t>
            </a:r>
          </a:p>
        </p:txBody>
      </p:sp>
      <p:sp>
        <p:nvSpPr>
          <p:cNvPr id="7" name="TextBox 6"/>
          <p:cNvSpPr txBox="1"/>
          <p:nvPr/>
        </p:nvSpPr>
        <p:spPr>
          <a:xfrm>
            <a:off x="60350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42%</a:t>
            </a:r>
          </a:p>
        </p:txBody>
      </p:sp>
      <p:sp>
        <p:nvSpPr>
          <p:cNvPr id="8" name="TextBox 7"/>
          <p:cNvSpPr txBox="1"/>
          <p:nvPr/>
        </p:nvSpPr>
        <p:spPr>
          <a:xfrm>
            <a:off x="60350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less time than always using Mix</a:t>
            </a:r>
          </a:p>
        </p:txBody>
      </p:sp>
      <p:sp>
        <p:nvSpPr>
          <p:cNvPr id="9" name="TextBox 8"/>
          <p:cNvSpPr txBox="1"/>
          <p:nvPr/>
        </p:nvSpPr>
        <p:spPr>
          <a:xfrm>
            <a:off x="430682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63%</a:t>
            </a:r>
          </a:p>
        </p:txBody>
      </p:sp>
      <p:sp>
        <p:nvSpPr>
          <p:cNvPr id="10" name="TextBox 9"/>
          <p:cNvSpPr txBox="1"/>
          <p:nvPr/>
        </p:nvSpPr>
        <p:spPr>
          <a:xfrm>
            <a:off x="430682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fewer tokens</a:t>
            </a:r>
          </a:p>
        </p:txBody>
      </p:sp>
      <p:sp>
        <p:nvSpPr>
          <p:cNvPr id="11" name="TextBox 10"/>
          <p:cNvSpPr txBox="1"/>
          <p:nvPr/>
        </p:nvSpPr>
        <p:spPr>
          <a:xfrm>
            <a:off x="8010144" y="3291840"/>
            <a:ext cx="3520440" cy="685800"/>
          </a:xfrm>
          <a:prstGeom prst="rect">
            <a:avLst/>
          </a:prstGeom>
          <a:noFill/>
        </p:spPr>
        <p:txBody>
          <a:bodyPr wrap="square" anchor="t" lIns="0" rIns="0" tIns="0" bIns="0">
            <a:spAutoFit/>
          </a:bodyPr>
          <a:lstStyle/>
          <a:p>
            <a:pPr algn="l">
              <a:lnSpc>
                <a:spcPct val="105000"/>
              </a:lnSpc>
              <a:spcAft>
                <a:spcPts val="0"/>
              </a:spcAft>
            </a:pPr>
            <a:r>
              <a:rPr sz="4800" b="1" i="0">
                <a:solidFill>
                  <a:srgbClr val="004791"/>
                </a:solidFill>
                <a:latin typeface="Figtree"/>
              </a:rPr>
              <a:t>92%</a:t>
            </a:r>
          </a:p>
        </p:txBody>
      </p:sp>
      <p:sp>
        <p:nvSpPr>
          <p:cNvPr id="12" name="TextBox 11"/>
          <p:cNvSpPr txBox="1"/>
          <p:nvPr/>
        </p:nvSpPr>
        <p:spPr>
          <a:xfrm>
            <a:off x="8010144" y="4005072"/>
            <a:ext cx="35204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of correct answers kept</a:t>
            </a:r>
          </a:p>
        </p:txBody>
      </p:sp>
      <p:cxnSp>
        <p:nvCxnSpPr>
          <p:cNvPr id="13" name="Connector 12"/>
          <p:cNvCxnSpPr/>
          <p:nvPr/>
        </p:nvCxnSpPr>
        <p:spPr>
          <a:xfrm>
            <a:off x="1792224" y="5120640"/>
            <a:ext cx="8613648" cy="0"/>
          </a:xfrm>
          <a:prstGeom prst="line">
            <a:avLst/>
          </a:prstGeom>
          <a:ln w="25400">
            <a:solidFill>
              <a:srgbClr val="D7DBE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563624"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1</a:t>
            </a:r>
          </a:p>
        </p:txBody>
      </p:sp>
      <p:sp>
        <p:nvSpPr>
          <p:cNvPr id="15" name="TextBox 14"/>
          <p:cNvSpPr txBox="1"/>
          <p:nvPr/>
        </p:nvSpPr>
        <p:spPr>
          <a:xfrm>
            <a:off x="512064"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problem</a:t>
            </a:r>
          </a:p>
        </p:txBody>
      </p:sp>
      <p:sp>
        <p:nvSpPr>
          <p:cNvPr id="16" name="Rounded Rectangle 15"/>
          <p:cNvSpPr/>
          <p:nvPr/>
        </p:nvSpPr>
        <p:spPr>
          <a:xfrm>
            <a:off x="4434840"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2</a:t>
            </a:r>
          </a:p>
        </p:txBody>
      </p:sp>
      <p:sp>
        <p:nvSpPr>
          <p:cNvPr id="17" name="TextBox 16"/>
          <p:cNvSpPr txBox="1"/>
          <p:nvPr/>
        </p:nvSpPr>
        <p:spPr>
          <a:xfrm>
            <a:off x="3383279"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method</a:t>
            </a:r>
          </a:p>
        </p:txBody>
      </p:sp>
      <p:sp>
        <p:nvSpPr>
          <p:cNvPr id="18" name="Rounded Rectangle 17"/>
          <p:cNvSpPr/>
          <p:nvPr/>
        </p:nvSpPr>
        <p:spPr>
          <a:xfrm>
            <a:off x="7306055"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3</a:t>
            </a:r>
          </a:p>
        </p:txBody>
      </p:sp>
      <p:sp>
        <p:nvSpPr>
          <p:cNvPr id="19" name="TextBox 18"/>
          <p:cNvSpPr txBox="1"/>
          <p:nvPr/>
        </p:nvSpPr>
        <p:spPr>
          <a:xfrm>
            <a:off x="6254495"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The findings</a:t>
            </a:r>
          </a:p>
        </p:txBody>
      </p:sp>
      <p:sp>
        <p:nvSpPr>
          <p:cNvPr id="20" name="Rounded Rectangle 19"/>
          <p:cNvSpPr/>
          <p:nvPr/>
        </p:nvSpPr>
        <p:spPr>
          <a:xfrm>
            <a:off x="10177272" y="4892040"/>
            <a:ext cx="457200" cy="457200"/>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4</a:t>
            </a:r>
          </a:p>
        </p:txBody>
      </p:sp>
      <p:sp>
        <p:nvSpPr>
          <p:cNvPr id="21" name="TextBox 20"/>
          <p:cNvSpPr txBox="1"/>
          <p:nvPr/>
        </p:nvSpPr>
        <p:spPr>
          <a:xfrm>
            <a:off x="9125711" y="5458968"/>
            <a:ext cx="2560320" cy="365760"/>
          </a:xfrm>
          <a:prstGeom prst="rect">
            <a:avLst/>
          </a:prstGeom>
          <a:noFill/>
        </p:spPr>
        <p:txBody>
          <a:bodyPr wrap="square" anchor="t" lIns="0" rIns="0" tIns="0" bIns="0">
            <a:spAutoFit/>
          </a:bodyPr>
          <a:lstStyle/>
          <a:p>
            <a:pPr algn="ctr">
              <a:lnSpc>
                <a:spcPct val="105000"/>
              </a:lnSpc>
              <a:spcAft>
                <a:spcPts val="600"/>
              </a:spcAft>
            </a:pPr>
            <a:r>
              <a:rPr sz="1900" b="0" i="0">
                <a:solidFill>
                  <a:srgbClr val="000000"/>
                </a:solidFill>
                <a:latin typeface="Figtree"/>
              </a:rPr>
              <a:t>What it means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Retrieval-augmented generation</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1046987" y="2743200"/>
            <a:ext cx="182880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question</a:t>
            </a:r>
          </a:p>
        </p:txBody>
      </p:sp>
      <p:cxnSp>
        <p:nvCxnSpPr>
          <p:cNvPr id="7" name="Connector 6"/>
          <p:cNvCxnSpPr/>
          <p:nvPr/>
        </p:nvCxnSpPr>
        <p:spPr>
          <a:xfrm>
            <a:off x="2948939" y="324612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78707" y="2743200"/>
            <a:ext cx="2743200" cy="10058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1" i="0">
                <a:solidFill>
                  <a:srgbClr val="FFFFFF"/>
                </a:solidFill>
                <a:latin typeface="Figtree"/>
              </a:rPr>
              <a:t>search the documents</a:t>
            </a:r>
          </a:p>
        </p:txBody>
      </p:sp>
      <p:cxnSp>
        <p:nvCxnSpPr>
          <p:cNvPr id="9" name="Connector 8"/>
          <p:cNvCxnSpPr/>
          <p:nvPr/>
        </p:nvCxnSpPr>
        <p:spPr>
          <a:xfrm>
            <a:off x="6195059" y="324612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24827" y="2743200"/>
            <a:ext cx="237744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language model</a:t>
            </a:r>
          </a:p>
        </p:txBody>
      </p:sp>
      <p:cxnSp>
        <p:nvCxnSpPr>
          <p:cNvPr id="11" name="Connector 10"/>
          <p:cNvCxnSpPr/>
          <p:nvPr/>
        </p:nvCxnSpPr>
        <p:spPr>
          <a:xfrm>
            <a:off x="9075419" y="3246120"/>
            <a:ext cx="356617"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05188" y="2743200"/>
            <a:ext cx="1645920" cy="100584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answer</a:t>
            </a:r>
          </a:p>
        </p:txBody>
      </p:sp>
      <p:sp>
        <p:nvSpPr>
          <p:cNvPr id="13" name="TextBox 12"/>
          <p:cNvSpPr txBox="1"/>
          <p:nvPr/>
        </p:nvSpPr>
        <p:spPr>
          <a:xfrm>
            <a:off x="603504" y="4434840"/>
            <a:ext cx="10991088" cy="640080"/>
          </a:xfrm>
          <a:prstGeom prst="rect">
            <a:avLst/>
          </a:prstGeom>
          <a:noFill/>
        </p:spPr>
        <p:txBody>
          <a:bodyPr wrap="square" anchor="t" lIns="0" rIns="0" tIns="0" bIns="0">
            <a:spAutoFit/>
          </a:bodyPr>
          <a:lstStyle/>
          <a:p>
            <a:pPr algn="ctr">
              <a:lnSpc>
                <a:spcPct val="105000"/>
              </a:lnSpc>
              <a:spcAft>
                <a:spcPts val="600"/>
              </a:spcAft>
            </a:pPr>
            <a:r>
              <a:rPr sz="3200" b="0" i="0">
                <a:solidFill>
                  <a:srgbClr val="1F2A44"/>
                </a:solidFill>
                <a:latin typeface="Figtree"/>
              </a:rPr>
              <a:t>The answer is only as good as </a:t>
            </a:r>
            <a:r>
              <a:rPr sz="3200" b="1" i="0">
                <a:solidFill>
                  <a:srgbClr val="004791"/>
                </a:solidFill>
                <a:latin typeface="Figtree"/>
              </a:rPr>
              <a:t>what the search finds</a:t>
            </a:r>
            <a:r>
              <a:rPr sz="3200" b="0" i="0">
                <a:solidFill>
                  <a:srgbClr val="1F2A44"/>
                </a:solidFill>
                <a:latin typeface="Figtree"/>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Two ways to search</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965960"/>
            <a:ext cx="5120640" cy="457200"/>
          </a:xfrm>
          <a:prstGeom prst="rect">
            <a:avLst/>
          </a:prstGeom>
          <a:noFill/>
        </p:spPr>
        <p:txBody>
          <a:bodyPr wrap="square" anchor="t" lIns="0" rIns="0" tIns="0" bIns="0">
            <a:spAutoFit/>
          </a:bodyPr>
          <a:lstStyle/>
          <a:p>
            <a:pPr algn="l">
              <a:lnSpc>
                <a:spcPct val="105000"/>
              </a:lnSpc>
              <a:spcAft>
                <a:spcPts val="0"/>
              </a:spcAft>
            </a:pPr>
            <a:r>
              <a:rPr sz="3000" b="1" i="0">
                <a:solidFill>
                  <a:srgbClr val="004791"/>
                </a:solidFill>
                <a:latin typeface="Figtree"/>
              </a:rPr>
              <a:t>Naive</a:t>
            </a:r>
          </a:p>
        </p:txBody>
      </p:sp>
      <p:sp>
        <p:nvSpPr>
          <p:cNvPr id="7" name="TextBox 6"/>
          <p:cNvSpPr txBox="1"/>
          <p:nvPr/>
        </p:nvSpPr>
        <p:spPr>
          <a:xfrm>
            <a:off x="603504" y="2468880"/>
            <a:ext cx="51206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vector search only</a:t>
            </a:r>
          </a:p>
        </p:txBody>
      </p:sp>
      <p:sp>
        <p:nvSpPr>
          <p:cNvPr id="8" name="Oval 7"/>
          <p:cNvSpPr/>
          <p:nvPr/>
        </p:nvSpPr>
        <p:spPr>
          <a:xfrm>
            <a:off x="731520" y="3511296"/>
            <a:ext cx="566928" cy="56692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1800" b="1" i="0">
                <a:solidFill>
                  <a:srgbClr val="FFFFFF"/>
                </a:solidFill>
                <a:latin typeface="Figtree"/>
              </a:rPr>
              <a:t>Q</a:t>
            </a:r>
          </a:p>
        </p:txBody>
      </p:sp>
      <p:cxnSp>
        <p:nvCxnSpPr>
          <p:cNvPr id="9" name="Connector 8"/>
          <p:cNvCxnSpPr/>
          <p:nvPr/>
        </p:nvCxnSpPr>
        <p:spPr>
          <a:xfrm flipV="1">
            <a:off x="1298448" y="3291840"/>
            <a:ext cx="1316736" cy="50292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15184" y="306324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cxnSp>
        <p:nvCxnSpPr>
          <p:cNvPr id="11" name="Connector 10"/>
          <p:cNvCxnSpPr/>
          <p:nvPr/>
        </p:nvCxnSpPr>
        <p:spPr>
          <a:xfrm>
            <a:off x="1298448" y="3794760"/>
            <a:ext cx="1316736" cy="4572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15184" y="361188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cxnSp>
        <p:nvCxnSpPr>
          <p:cNvPr id="13" name="Connector 12"/>
          <p:cNvCxnSpPr/>
          <p:nvPr/>
        </p:nvCxnSpPr>
        <p:spPr>
          <a:xfrm>
            <a:off x="1298448" y="3794760"/>
            <a:ext cx="1316736" cy="59436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5184" y="4160520"/>
            <a:ext cx="237744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similar text</a:t>
            </a:r>
          </a:p>
        </p:txBody>
      </p:sp>
      <p:sp>
        <p:nvSpPr>
          <p:cNvPr id="15" name="TextBox 14"/>
          <p:cNvSpPr txBox="1"/>
          <p:nvPr/>
        </p:nvSpPr>
        <p:spPr>
          <a:xfrm>
            <a:off x="603504" y="4846320"/>
            <a:ext cx="530352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1F2A44"/>
                </a:solidFill>
                <a:latin typeface="Figtree"/>
              </a:rPr>
              <a:t>10.9 s</a:t>
            </a:r>
            <a:r>
              <a:rPr sz="2200" b="0" i="0">
                <a:solidFill>
                  <a:srgbClr val="595959"/>
                </a:solidFill>
                <a:latin typeface="Figtree"/>
              </a:rPr>
              <a:t> per question   ·   </a:t>
            </a:r>
            <a:r>
              <a:rPr sz="2200" b="1" i="0">
                <a:solidFill>
                  <a:srgbClr val="1F2A44"/>
                </a:solidFill>
                <a:latin typeface="Figtree"/>
              </a:rPr>
              <a:t>≈3,500</a:t>
            </a:r>
            <a:r>
              <a:rPr sz="2200" b="0" i="0">
                <a:solidFill>
                  <a:srgbClr val="595959"/>
                </a:solidFill>
                <a:latin typeface="Figtree"/>
              </a:rPr>
              <a:t> tokens</a:t>
            </a:r>
          </a:p>
        </p:txBody>
      </p:sp>
      <p:sp>
        <p:nvSpPr>
          <p:cNvPr id="16" name="TextBox 15"/>
          <p:cNvSpPr txBox="1"/>
          <p:nvPr/>
        </p:nvSpPr>
        <p:spPr>
          <a:xfrm>
            <a:off x="6272784" y="1965960"/>
            <a:ext cx="5120640" cy="457200"/>
          </a:xfrm>
          <a:prstGeom prst="rect">
            <a:avLst/>
          </a:prstGeom>
          <a:noFill/>
        </p:spPr>
        <p:txBody>
          <a:bodyPr wrap="square" anchor="t" lIns="0" rIns="0" tIns="0" bIns="0">
            <a:spAutoFit/>
          </a:bodyPr>
          <a:lstStyle/>
          <a:p>
            <a:pPr algn="l">
              <a:lnSpc>
                <a:spcPct val="105000"/>
              </a:lnSpc>
              <a:spcAft>
                <a:spcPts val="0"/>
              </a:spcAft>
            </a:pPr>
            <a:r>
              <a:rPr sz="3000" b="1" i="0">
                <a:solidFill>
                  <a:srgbClr val="000061"/>
                </a:solidFill>
                <a:latin typeface="Figtree"/>
              </a:rPr>
              <a:t>Mix</a:t>
            </a:r>
          </a:p>
        </p:txBody>
      </p:sp>
      <p:sp>
        <p:nvSpPr>
          <p:cNvPr id="17" name="TextBox 16"/>
          <p:cNvSpPr txBox="1"/>
          <p:nvPr/>
        </p:nvSpPr>
        <p:spPr>
          <a:xfrm>
            <a:off x="6272784" y="2468880"/>
            <a:ext cx="5120640" cy="365760"/>
          </a:xfrm>
          <a:prstGeom prst="rect">
            <a:avLst/>
          </a:prstGeom>
          <a:noFill/>
        </p:spPr>
        <p:txBody>
          <a:bodyPr wrap="square" anchor="t" lIns="0" rIns="0" tIns="0" bIns="0">
            <a:spAutoFit/>
          </a:bodyPr>
          <a:lstStyle/>
          <a:p>
            <a:pPr algn="l">
              <a:lnSpc>
                <a:spcPct val="105000"/>
              </a:lnSpc>
              <a:spcAft>
                <a:spcPts val="600"/>
              </a:spcAft>
            </a:pPr>
            <a:r>
              <a:rPr sz="1800" b="0" i="0">
                <a:solidFill>
                  <a:srgbClr val="6B7280"/>
                </a:solidFill>
                <a:latin typeface="Figtree"/>
              </a:rPr>
              <a:t>vector search + knowledge graph</a:t>
            </a:r>
          </a:p>
        </p:txBody>
      </p:sp>
      <p:sp>
        <p:nvSpPr>
          <p:cNvPr id="18" name="Oval 17"/>
          <p:cNvSpPr/>
          <p:nvPr/>
        </p:nvSpPr>
        <p:spPr>
          <a:xfrm>
            <a:off x="6400800" y="3511296"/>
            <a:ext cx="566928" cy="56692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1800" b="1" i="0">
                <a:solidFill>
                  <a:srgbClr val="FFFFFF"/>
                </a:solidFill>
                <a:latin typeface="Figtree"/>
              </a:rPr>
              <a:t>Q</a:t>
            </a:r>
          </a:p>
        </p:txBody>
      </p:sp>
      <p:cxnSp>
        <p:nvCxnSpPr>
          <p:cNvPr id="19" name="Connector 18"/>
          <p:cNvCxnSpPr/>
          <p:nvPr/>
        </p:nvCxnSpPr>
        <p:spPr>
          <a:xfrm flipV="1">
            <a:off x="6967728" y="3337560"/>
            <a:ext cx="768096" cy="45720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35824" y="3108960"/>
            <a:ext cx="137160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text</a:t>
            </a:r>
          </a:p>
        </p:txBody>
      </p:sp>
      <p:cxnSp>
        <p:nvCxnSpPr>
          <p:cNvPr id="21" name="Connector 20"/>
          <p:cNvCxnSpPr/>
          <p:nvPr/>
        </p:nvCxnSpPr>
        <p:spPr>
          <a:xfrm>
            <a:off x="6967728" y="3794760"/>
            <a:ext cx="768096" cy="457200"/>
          </a:xfrm>
          <a:prstGeom prst="line">
            <a:avLst/>
          </a:prstGeom>
          <a:ln w="22225">
            <a:solidFill>
              <a:srgbClr val="9AA3B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35824" y="4023360"/>
            <a:ext cx="1371600" cy="457200"/>
          </a:xfrm>
          <a:prstGeom prst="roundRect">
            <a:avLst>
              <a:gd name="adj" fmla="val 15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0" i="0">
                <a:solidFill>
                  <a:srgbClr val="595959"/>
                </a:solidFill>
                <a:latin typeface="Figtree"/>
              </a:rPr>
              <a:t>text</a:t>
            </a:r>
          </a:p>
        </p:txBody>
      </p:sp>
      <p:cxnSp>
        <p:nvCxnSpPr>
          <p:cNvPr id="23" name="Connector 22"/>
          <p:cNvCxnSpPr/>
          <p:nvPr/>
        </p:nvCxnSpPr>
        <p:spPr>
          <a:xfrm>
            <a:off x="9564624" y="3337560"/>
            <a:ext cx="868680" cy="4572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564624" y="3794760"/>
            <a:ext cx="868680" cy="4572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64624" y="3337560"/>
            <a:ext cx="0" cy="91440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07424" y="3337560"/>
            <a:ext cx="457200" cy="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07424" y="4251960"/>
            <a:ext cx="457200" cy="0"/>
          </a:xfrm>
          <a:prstGeom prst="line">
            <a:avLst/>
          </a:prstGeom>
          <a:ln w="28575">
            <a:solidFill>
              <a:srgbClr val="000061"/>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427464" y="32004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96144" y="36576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427464" y="4114800"/>
            <a:ext cx="274320" cy="274320"/>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61904" y="3657600"/>
            <a:ext cx="1097280" cy="320040"/>
          </a:xfrm>
          <a:prstGeom prst="rect">
            <a:avLst/>
          </a:prstGeom>
          <a:noFill/>
        </p:spPr>
        <p:txBody>
          <a:bodyPr wrap="square" anchor="t" lIns="0" rIns="0" tIns="0" bIns="0">
            <a:spAutoFit/>
          </a:bodyPr>
          <a:lstStyle/>
          <a:p>
            <a:pPr algn="l">
              <a:lnSpc>
                <a:spcPct val="105000"/>
              </a:lnSpc>
              <a:spcAft>
                <a:spcPts val="600"/>
              </a:spcAft>
            </a:pPr>
            <a:r>
              <a:rPr sz="1500" b="0" i="0">
                <a:solidFill>
                  <a:srgbClr val="000061"/>
                </a:solidFill>
                <a:latin typeface="Figtree"/>
              </a:rPr>
              <a:t>graph</a:t>
            </a:r>
          </a:p>
        </p:txBody>
      </p:sp>
      <p:sp>
        <p:nvSpPr>
          <p:cNvPr id="32" name="TextBox 31"/>
          <p:cNvSpPr txBox="1"/>
          <p:nvPr/>
        </p:nvSpPr>
        <p:spPr>
          <a:xfrm>
            <a:off x="6272784" y="4846320"/>
            <a:ext cx="530352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1F2A44"/>
                </a:solidFill>
                <a:latin typeface="Figtree"/>
              </a:rPr>
              <a:t>24.4 s</a:t>
            </a:r>
            <a:r>
              <a:rPr sz="2200" b="0" i="0">
                <a:solidFill>
                  <a:srgbClr val="595959"/>
                </a:solidFill>
                <a:latin typeface="Figtree"/>
              </a:rPr>
              <a:t> per question   ·   </a:t>
            </a:r>
            <a:r>
              <a:rPr sz="2200" b="1" i="0">
                <a:solidFill>
                  <a:srgbClr val="1F2A44"/>
                </a:solidFill>
                <a:latin typeface="Figtree"/>
              </a:rPr>
              <a:t>≈17,900</a:t>
            </a:r>
            <a:r>
              <a:rPr sz="2200" b="0" i="0">
                <a:solidFill>
                  <a:srgbClr val="595959"/>
                </a:solidFill>
                <a:latin typeface="Figtree"/>
              </a:rPr>
              <a:t> tokens</a:t>
            </a:r>
          </a:p>
        </p:txBody>
      </p:sp>
      <p:sp>
        <p:nvSpPr>
          <p:cNvPr id="33" name="TextBox 32"/>
          <p:cNvSpPr txBox="1"/>
          <p:nvPr/>
        </p:nvSpPr>
        <p:spPr>
          <a:xfrm>
            <a:off x="603504" y="5623560"/>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Mix can connect facts across documents, at </a:t>
            </a:r>
            <a:r>
              <a:rPr sz="2200" b="1" i="0">
                <a:solidFill>
                  <a:srgbClr val="004791"/>
                </a:solidFill>
                <a:latin typeface="Figtree"/>
              </a:rPr>
              <a:t>2.2× the time</a:t>
            </a:r>
            <a:r>
              <a:rPr sz="2200" b="0" i="0">
                <a:solidFill>
                  <a:srgbClr val="323232"/>
                </a:solidFill>
                <a:latin typeface="Figtree"/>
              </a:rPr>
              <a:t> and </a:t>
            </a:r>
            <a:r>
              <a:rPr sz="2200" b="1" i="0">
                <a:solidFill>
                  <a:srgbClr val="004791"/>
                </a:solidFill>
                <a:latin typeface="Figtree"/>
              </a:rPr>
              <a:t>5× the tokens</a:t>
            </a:r>
            <a:r>
              <a:rPr sz="2200" b="0" i="0">
                <a:solidFill>
                  <a:srgbClr val="323232"/>
                </a:solidFill>
                <a:latin typeface="Figtree"/>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Some questions need Mix</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Of 2,000 judged questions, Mix was needed on only </a:t>
            </a:r>
            <a:r>
              <a:rPr sz="2200" b="1" i="0">
                <a:solidFill>
                  <a:srgbClr val="004791"/>
                </a:solidFill>
                <a:latin typeface="Figtree"/>
              </a:rPr>
              <a:t>327</a:t>
            </a:r>
            <a:r>
              <a:rPr sz="2200" b="0" i="0">
                <a:solidFill>
                  <a:srgbClr val="323232"/>
                </a:solidFill>
                <a:latin typeface="Figtree"/>
              </a:rPr>
              <a:t>.</a:t>
            </a:r>
          </a:p>
        </p:txBody>
      </p:sp>
      <p:cxnSp>
        <p:nvCxnSpPr>
          <p:cNvPr id="7" name="Connector 6"/>
          <p:cNvCxnSpPr/>
          <p:nvPr/>
        </p:nvCxnSpPr>
        <p:spPr>
          <a:xfrm>
            <a:off x="603504" y="2496312"/>
            <a:ext cx="10991088" cy="0"/>
          </a:xfrm>
          <a:prstGeom prst="line">
            <a:avLst/>
          </a:prstGeom>
          <a:ln w="12700">
            <a:solidFill>
              <a:srgbClr val="EBED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2679192"/>
            <a:ext cx="5166360" cy="914400"/>
          </a:xfrm>
          <a:prstGeom prst="rect">
            <a:avLst/>
          </a:prstGeom>
          <a:noFill/>
        </p:spPr>
        <p:txBody>
          <a:bodyPr wrap="square" anchor="t" lIns="0" rIns="0" tIns="0" bIns="0">
            <a:spAutoFit/>
          </a:bodyPr>
          <a:lstStyle/>
          <a:p>
            <a:pPr algn="l">
              <a:lnSpc>
                <a:spcPct val="110000"/>
              </a:lnSpc>
              <a:spcAft>
                <a:spcPts val="600"/>
              </a:spcAft>
            </a:pPr>
            <a:r>
              <a:rPr sz="2200" b="0" i="0">
                <a:solidFill>
                  <a:srgbClr val="000000"/>
                </a:solidFill>
                <a:latin typeface="Figtree"/>
              </a:rPr>
              <a:t>Which film came out first,</a:t>
            </a:r>
            <a:br/>
            <a:r>
              <a:rPr sz="2200" b="0" i="0">
                <a:solidFill>
                  <a:srgbClr val="000000"/>
                </a:solidFill>
                <a:latin typeface="Figtree"/>
              </a:rPr>
              <a:t>The Love Route or Engal Aasan?</a:t>
            </a:r>
          </a:p>
        </p:txBody>
      </p:sp>
      <p:sp>
        <p:nvSpPr>
          <p:cNvPr id="9" name="Rounded Rectangle 8"/>
          <p:cNvSpPr/>
          <p:nvPr/>
        </p:nvSpPr>
        <p:spPr>
          <a:xfrm>
            <a:off x="5440680" y="275234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Naive correct</a:t>
            </a:r>
          </a:p>
        </p:txBody>
      </p:sp>
      <p:sp>
        <p:nvSpPr>
          <p:cNvPr id="10" name="Rounded Rectangle 9"/>
          <p:cNvSpPr/>
          <p:nvPr/>
        </p:nvSpPr>
        <p:spPr>
          <a:xfrm>
            <a:off x="7543800" y="275234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Mix correct</a:t>
            </a:r>
          </a:p>
        </p:txBody>
      </p:sp>
      <p:sp>
        <p:nvSpPr>
          <p:cNvPr id="11" name="TextBox 10"/>
          <p:cNvSpPr txBox="1"/>
          <p:nvPr/>
        </p:nvSpPr>
        <p:spPr>
          <a:xfrm>
            <a:off x="9646920" y="2788920"/>
            <a:ext cx="1947672"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latin typeface="Figtree"/>
              </a:rPr>
              <a:t>Naive is enough</a:t>
            </a:r>
          </a:p>
        </p:txBody>
      </p:sp>
      <p:cxnSp>
        <p:nvCxnSpPr>
          <p:cNvPr id="12" name="Connector 11"/>
          <p:cNvCxnSpPr/>
          <p:nvPr/>
        </p:nvCxnSpPr>
        <p:spPr>
          <a:xfrm>
            <a:off x="603504" y="3730752"/>
            <a:ext cx="10991088" cy="0"/>
          </a:xfrm>
          <a:prstGeom prst="line">
            <a:avLst/>
          </a:prstGeom>
          <a:ln w="12700">
            <a:solidFill>
              <a:srgbClr val="EBED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 y="3913632"/>
            <a:ext cx="5166360" cy="914400"/>
          </a:xfrm>
          <a:prstGeom prst="rect">
            <a:avLst/>
          </a:prstGeom>
          <a:noFill/>
        </p:spPr>
        <p:txBody>
          <a:bodyPr wrap="square" anchor="t" lIns="0" rIns="0" tIns="0" bIns="0">
            <a:spAutoFit/>
          </a:bodyPr>
          <a:lstStyle/>
          <a:p>
            <a:pPr algn="l">
              <a:lnSpc>
                <a:spcPct val="110000"/>
              </a:lnSpc>
              <a:spcAft>
                <a:spcPts val="600"/>
              </a:spcAft>
            </a:pPr>
            <a:r>
              <a:rPr sz="2200" b="0" i="0">
                <a:solidFill>
                  <a:srgbClr val="000000"/>
                </a:solidFill>
                <a:latin typeface="Figtree"/>
              </a:rPr>
              <a:t>When was the director of the film</a:t>
            </a:r>
            <a:br/>
            <a:r>
              <a:rPr sz="2200" b="0" i="0">
                <a:solidFill>
                  <a:srgbClr val="000000"/>
                </a:solidFill>
                <a:latin typeface="Figtree"/>
              </a:rPr>
              <a:t>Private Hell 36 born?</a:t>
            </a:r>
          </a:p>
        </p:txBody>
      </p:sp>
      <p:sp>
        <p:nvSpPr>
          <p:cNvPr id="14" name="Rounded Rectangle 13"/>
          <p:cNvSpPr/>
          <p:nvPr/>
        </p:nvSpPr>
        <p:spPr>
          <a:xfrm>
            <a:off x="5440680" y="3986784"/>
            <a:ext cx="1965960" cy="457200"/>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Naive not enough</a:t>
            </a:r>
          </a:p>
        </p:txBody>
      </p:sp>
      <p:sp>
        <p:nvSpPr>
          <p:cNvPr id="15" name="Rounded Rectangle 14"/>
          <p:cNvSpPr/>
          <p:nvPr/>
        </p:nvSpPr>
        <p:spPr>
          <a:xfrm>
            <a:off x="7543800" y="3986784"/>
            <a:ext cx="1965960" cy="457200"/>
          </a:xfrm>
          <a:prstGeom prst="roundRect">
            <a:avLst>
              <a:gd name="adj" fmla="val 50000"/>
            </a:avLst>
          </a:prstGeom>
          <a:solidFill>
            <a:srgbClr val="2E7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0"/>
              </a:spcAft>
            </a:pPr>
            <a:r>
              <a:rPr sz="1500" b="1" i="0">
                <a:solidFill>
                  <a:srgbClr val="FFFFFF"/>
                </a:solidFill>
                <a:latin typeface="Figtree"/>
              </a:rPr>
              <a:t>Mix correct</a:t>
            </a:r>
          </a:p>
        </p:txBody>
      </p:sp>
      <p:sp>
        <p:nvSpPr>
          <p:cNvPr id="16" name="TextBox 15"/>
          <p:cNvSpPr txBox="1"/>
          <p:nvPr/>
        </p:nvSpPr>
        <p:spPr>
          <a:xfrm>
            <a:off x="9646920" y="4023360"/>
            <a:ext cx="1947672" cy="411480"/>
          </a:xfrm>
          <a:prstGeom prst="rect">
            <a:avLst/>
          </a:prstGeom>
          <a:noFill/>
        </p:spPr>
        <p:txBody>
          <a:bodyPr wrap="square" anchor="t" lIns="0" rIns="0" tIns="0" bIns="0">
            <a:spAutoFit/>
          </a:bodyPr>
          <a:lstStyle/>
          <a:p>
            <a:pPr algn="l">
              <a:lnSpc>
                <a:spcPct val="105000"/>
              </a:lnSpc>
              <a:spcAft>
                <a:spcPts val="600"/>
              </a:spcAft>
            </a:pPr>
            <a:r>
              <a:rPr sz="1900" b="1" i="0">
                <a:solidFill>
                  <a:srgbClr val="000061"/>
                </a:solidFill>
                <a:latin typeface="Figtree"/>
              </a:rPr>
              <a:t>needs Mix</a:t>
            </a:r>
          </a:p>
        </p:txBody>
      </p:sp>
      <p:sp>
        <p:nvSpPr>
          <p:cNvPr id="17" name="TextBox 16"/>
          <p:cNvSpPr txBox="1"/>
          <p:nvPr/>
        </p:nvSpPr>
        <p:spPr>
          <a:xfrm>
            <a:off x="603504" y="5212080"/>
            <a:ext cx="10991088" cy="73152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latin typeface="Figtree"/>
              </a:rPr>
              <a:t>Naive found the director, Don Siegel, but not his birth date. Mix answered: October 26, 1912.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Query routing</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877824" y="3017520"/>
            <a:ext cx="1920240" cy="82296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400" b="0" i="0">
                <a:solidFill>
                  <a:srgbClr val="000000"/>
                </a:solidFill>
                <a:latin typeface="Figtree"/>
              </a:rPr>
              <a:t>question</a:t>
            </a:r>
          </a:p>
        </p:txBody>
      </p:sp>
      <p:cxnSp>
        <p:nvCxnSpPr>
          <p:cNvPr id="7" name="Connector 6"/>
          <p:cNvCxnSpPr/>
          <p:nvPr/>
        </p:nvCxnSpPr>
        <p:spPr>
          <a:xfrm>
            <a:off x="2889504" y="3429000"/>
            <a:ext cx="822959"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803904" y="2788920"/>
            <a:ext cx="2743200" cy="128016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200"/>
              </a:spcAft>
            </a:pPr>
            <a:r>
              <a:rPr sz="3000" b="1" i="0">
                <a:solidFill>
                  <a:srgbClr val="FFFFFF"/>
                </a:solidFill>
                <a:latin typeface="Figtree"/>
              </a:rPr>
              <a:t>router</a:t>
            </a:r>
          </a:p>
          <a:p>
            <a:pPr algn="ctr">
              <a:lnSpc>
                <a:spcPct val="105000"/>
              </a:lnSpc>
              <a:spcAft>
                <a:spcPts val="0"/>
              </a:spcAft>
            </a:pPr>
            <a:r>
              <a:rPr sz="1600" b="0" i="0">
                <a:solidFill>
                  <a:srgbClr val="C9D3E6"/>
                </a:solidFill>
                <a:latin typeface="Figtree"/>
              </a:rPr>
              <a:t>small classifier</a:t>
            </a:r>
          </a:p>
          <a:p>
            <a:pPr algn="ctr">
              <a:lnSpc>
                <a:spcPct val="105000"/>
              </a:lnSpc>
              <a:spcAft>
                <a:spcPts val="0"/>
              </a:spcAft>
            </a:pPr>
            <a:r>
              <a:rPr sz="1600" b="0" i="0">
                <a:solidFill>
                  <a:srgbClr val="C9D3E6"/>
                </a:solidFill>
                <a:latin typeface="Figtree"/>
              </a:rPr>
              <a:t>no LLM call</a:t>
            </a:r>
          </a:p>
        </p:txBody>
      </p:sp>
      <p:cxnSp>
        <p:nvCxnSpPr>
          <p:cNvPr id="9" name="Connector 8"/>
          <p:cNvCxnSpPr/>
          <p:nvPr/>
        </p:nvCxnSpPr>
        <p:spPr>
          <a:xfrm flipV="1">
            <a:off x="6638544" y="2514600"/>
            <a:ext cx="1188720" cy="64008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638544" y="3703320"/>
            <a:ext cx="1188720" cy="64008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18704" y="2103120"/>
            <a:ext cx="2651760" cy="86868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600" b="1" i="0">
                <a:solidFill>
                  <a:srgbClr val="004791"/>
                </a:solidFill>
                <a:latin typeface="Figtree"/>
              </a:rPr>
              <a:t>Naive</a:t>
            </a:r>
            <a:r>
              <a:rPr sz="1800" b="0" i="0">
                <a:solidFill>
                  <a:srgbClr val="595959"/>
                </a:solidFill>
                <a:latin typeface="Figtree"/>
              </a:rPr>
              <a:t>   cheap</a:t>
            </a:r>
          </a:p>
        </p:txBody>
      </p:sp>
      <p:sp>
        <p:nvSpPr>
          <p:cNvPr id="12" name="Rounded Rectangle 11"/>
          <p:cNvSpPr/>
          <p:nvPr/>
        </p:nvSpPr>
        <p:spPr>
          <a:xfrm>
            <a:off x="7918704" y="3931920"/>
            <a:ext cx="2651760" cy="86868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600" b="1" i="0">
                <a:solidFill>
                  <a:srgbClr val="000061"/>
                </a:solidFill>
                <a:latin typeface="Figtree"/>
              </a:rPr>
              <a:t>Mix</a:t>
            </a:r>
            <a:r>
              <a:rPr sz="1800" b="0" i="0">
                <a:solidFill>
                  <a:srgbClr val="595959"/>
                </a:solidFill>
                <a:latin typeface="Figtree"/>
              </a:rPr>
              <a:t>   expensive</a:t>
            </a:r>
          </a:p>
        </p:txBody>
      </p:sp>
      <p:sp>
        <p:nvSpPr>
          <p:cNvPr id="13" name="TextBox 12"/>
          <p:cNvSpPr txBox="1"/>
          <p:nvPr/>
        </p:nvSpPr>
        <p:spPr>
          <a:xfrm>
            <a:off x="603504" y="5120640"/>
            <a:ext cx="10991088" cy="640080"/>
          </a:xfrm>
          <a:prstGeom prst="rect">
            <a:avLst/>
          </a:prstGeom>
          <a:noFill/>
        </p:spPr>
        <p:txBody>
          <a:bodyPr wrap="square" anchor="t" lIns="0" rIns="0" tIns="0" bIns="0">
            <a:spAutoFit/>
          </a:bodyPr>
          <a:lstStyle/>
          <a:p>
            <a:pPr algn="ctr">
              <a:lnSpc>
                <a:spcPct val="105000"/>
              </a:lnSpc>
              <a:spcAft>
                <a:spcPts val="600"/>
              </a:spcAft>
            </a:pPr>
            <a:r>
              <a:rPr sz="3200" b="0" i="0">
                <a:solidFill>
                  <a:srgbClr val="1F2A44"/>
                </a:solidFill>
                <a:latin typeface="Figtree"/>
              </a:rPr>
              <a:t>Decide from the </a:t>
            </a:r>
            <a:r>
              <a:rPr sz="3200" b="1" i="0">
                <a:solidFill>
                  <a:srgbClr val="004791"/>
                </a:solidFill>
                <a:latin typeface="Figtree"/>
              </a:rPr>
              <a:t>question alone</a:t>
            </a:r>
            <a:r>
              <a:rPr sz="3200" b="0" i="0">
                <a:solidFill>
                  <a:srgbClr val="1F2A44"/>
                </a:solidFill>
                <a:latin typeface="Figtree"/>
              </a:rPr>
              <a:t>, before paying for retrieval.</a:t>
            </a:r>
          </a:p>
        </p:txBody>
      </p:sp>
      <p:sp>
        <p:nvSpPr>
          <p:cNvPr id="14" name="TextBox 13"/>
          <p:cNvSpPr txBox="1"/>
          <p:nvPr/>
        </p:nvSpPr>
        <p:spPr>
          <a:xfrm>
            <a:off x="603504" y="5943600"/>
            <a:ext cx="10991088" cy="320040"/>
          </a:xfrm>
          <a:prstGeom prst="rect">
            <a:avLst/>
          </a:prstGeom>
          <a:noFill/>
        </p:spPr>
        <p:txBody>
          <a:bodyPr wrap="square" anchor="t" lIns="0" rIns="0" tIns="0" bIns="0">
            <a:spAutoFit/>
          </a:bodyPr>
          <a:lstStyle/>
          <a:p>
            <a:pPr algn="ctr">
              <a:lnSpc>
                <a:spcPct val="105000"/>
              </a:lnSpc>
              <a:spcAft>
                <a:spcPts val="600"/>
              </a:spcAft>
            </a:pPr>
            <a:r>
              <a:rPr sz="1500" b="0" i="0">
                <a:solidFill>
                  <a:srgbClr val="6B7280"/>
                </a:solidFill>
                <a:latin typeface="Figtree"/>
              </a:rPr>
              <a:t>Related: Adaptive-RAG (Jeong et al., 2024), RouterBench (Hu et al.,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Research question</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011680"/>
            <a:ext cx="10607040" cy="1828800"/>
          </a:xfrm>
          <a:prstGeom prst="rect">
            <a:avLst/>
          </a:prstGeom>
          <a:noFill/>
        </p:spPr>
        <p:txBody>
          <a:bodyPr wrap="square" anchor="t" lIns="0" rIns="0" tIns="0" bIns="0">
            <a:spAutoFit/>
          </a:bodyPr>
          <a:lstStyle/>
          <a:p>
            <a:pPr algn="l">
              <a:lnSpc>
                <a:spcPct val="115000"/>
              </a:lnSpc>
              <a:spcAft>
                <a:spcPts val="600"/>
              </a:spcAft>
            </a:pPr>
            <a:r>
              <a:rPr sz="2600" b="0" i="0">
                <a:solidFill>
                  <a:srgbClr val="1F2A44"/>
                </a:solidFill>
                <a:latin typeface="Figtree"/>
              </a:rPr>
              <a:t>Within one Hybrid RAG system, how well can a </a:t>
            </a:r>
            <a:r>
              <a:rPr sz="2600" b="1" i="0">
                <a:solidFill>
                  <a:srgbClr val="004791"/>
                </a:solidFill>
                <a:latin typeface="Figtree"/>
              </a:rPr>
              <a:t>lightweight classifier</a:t>
            </a:r>
            <a:r>
              <a:rPr sz="2600" b="0" i="0">
                <a:solidFill>
                  <a:srgbClr val="1F2A44"/>
                </a:solidFill>
                <a:latin typeface="Figtree"/>
              </a:rPr>
              <a:t> predict from the question alone whether the cheap retrieval mode is enough, and how much </a:t>
            </a:r>
            <a:r>
              <a:rPr sz="2600" b="1" i="0">
                <a:solidFill>
                  <a:srgbClr val="004791"/>
                </a:solidFill>
                <a:latin typeface="Figtree"/>
              </a:rPr>
              <a:t>cost</a:t>
            </a:r>
            <a:r>
              <a:rPr sz="2600" b="0" i="0">
                <a:solidFill>
                  <a:srgbClr val="1F2A44"/>
                </a:solidFill>
                <a:latin typeface="Figtree"/>
              </a:rPr>
              <a:t> does routing with it save?</a:t>
            </a:r>
          </a:p>
        </p:txBody>
      </p:sp>
      <p:sp>
        <p:nvSpPr>
          <p:cNvPr id="7" name="Rounded Rectangle 6"/>
          <p:cNvSpPr/>
          <p:nvPr/>
        </p:nvSpPr>
        <p:spPr>
          <a:xfrm>
            <a:off x="603504" y="4069080"/>
            <a:ext cx="475488" cy="475488"/>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1</a:t>
            </a:r>
          </a:p>
        </p:txBody>
      </p:sp>
      <p:sp>
        <p:nvSpPr>
          <p:cNvPr id="8" name="TextBox 7"/>
          <p:cNvSpPr txBox="1"/>
          <p:nvPr/>
        </p:nvSpPr>
        <p:spPr>
          <a:xfrm>
            <a:off x="1289304" y="4105656"/>
            <a:ext cx="1005840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Prediction. </a:t>
            </a:r>
            <a:r>
              <a:rPr sz="2200" b="0" i="0">
                <a:solidFill>
                  <a:srgbClr val="333333"/>
                </a:solidFill>
                <a:latin typeface="Figtree"/>
              </a:rPr>
              <a:t>ModernBERT vs a TF-IDF baseline and a question-type rule</a:t>
            </a:r>
          </a:p>
        </p:txBody>
      </p:sp>
      <p:sp>
        <p:nvSpPr>
          <p:cNvPr id="9" name="Rounded Rectangle 8"/>
          <p:cNvSpPr/>
          <p:nvPr/>
        </p:nvSpPr>
        <p:spPr>
          <a:xfrm>
            <a:off x="603504" y="4846320"/>
            <a:ext cx="475488" cy="475488"/>
          </a:xfrm>
          <a:prstGeom prst="roundRect">
            <a:avLst>
              <a:gd name="adj" fmla="val 12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0"/>
              </a:spcAft>
            </a:pPr>
            <a:r>
              <a:rPr sz="2000" b="1" i="0">
                <a:solidFill>
                  <a:srgbClr val="FFFFFF"/>
                </a:solidFill>
                <a:latin typeface="Figtree"/>
              </a:rPr>
              <a:t>2</a:t>
            </a:r>
          </a:p>
        </p:txBody>
      </p:sp>
      <p:sp>
        <p:nvSpPr>
          <p:cNvPr id="10" name="TextBox 9"/>
          <p:cNvSpPr txBox="1"/>
          <p:nvPr/>
        </p:nvSpPr>
        <p:spPr>
          <a:xfrm>
            <a:off x="1289304" y="4882896"/>
            <a:ext cx="10058400" cy="457200"/>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Cost. </a:t>
            </a:r>
            <a:r>
              <a:rPr sz="2200" b="0" i="0">
                <a:solidFill>
                  <a:srgbClr val="333333"/>
                </a:solidFill>
                <a:latin typeface="Figtree"/>
              </a:rPr>
              <a:t>Time and tokens saved vs always using Mix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Building the labels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1" i="0">
                <a:solidFill>
                  <a:srgbClr val="004791"/>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1115567" y="2011680"/>
            <a:ext cx="251460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2,000 questions</a:t>
            </a:r>
          </a:p>
        </p:txBody>
      </p:sp>
      <p:cxnSp>
        <p:nvCxnSpPr>
          <p:cNvPr id="7" name="Connector 6"/>
          <p:cNvCxnSpPr/>
          <p:nvPr/>
        </p:nvCxnSpPr>
        <p:spPr>
          <a:xfrm>
            <a:off x="3703320" y="2377440"/>
            <a:ext cx="356615"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33087" y="2011680"/>
            <a:ext cx="256032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run Naive and Mix</a:t>
            </a:r>
          </a:p>
        </p:txBody>
      </p:sp>
      <p:cxnSp>
        <p:nvCxnSpPr>
          <p:cNvPr id="9" name="Connector 8"/>
          <p:cNvCxnSpPr/>
          <p:nvPr/>
        </p:nvCxnSpPr>
        <p:spPr>
          <a:xfrm>
            <a:off x="6766559" y="237744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196327" y="2011680"/>
            <a:ext cx="2011680" cy="7315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1" i="0">
                <a:solidFill>
                  <a:srgbClr val="FFFFFF"/>
                </a:solidFill>
                <a:latin typeface="Figtree"/>
              </a:rPr>
              <a:t>LLM judge</a:t>
            </a:r>
          </a:p>
        </p:txBody>
      </p:sp>
      <p:cxnSp>
        <p:nvCxnSpPr>
          <p:cNvPr id="11" name="Connector 10"/>
          <p:cNvCxnSpPr/>
          <p:nvPr/>
        </p:nvCxnSpPr>
        <p:spPr>
          <a:xfrm>
            <a:off x="9281160" y="2377440"/>
            <a:ext cx="356616" cy="0"/>
          </a:xfrm>
          <a:prstGeom prst="line">
            <a:avLst/>
          </a:prstGeom>
          <a:ln w="25400">
            <a:solidFill>
              <a:srgbClr val="9AA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10928" y="2011680"/>
            <a:ext cx="1371600" cy="731520"/>
          </a:xfrm>
          <a:prstGeom prst="roundRect">
            <a:avLst>
              <a:gd name="adj" fmla="val 10000"/>
            </a:avLst>
          </a:prstGeom>
          <a:solidFill>
            <a:srgbClr val="DEF0FF"/>
          </a:solidFill>
          <a:ln w="12700">
            <a:solidFill>
              <a:srgbClr val="D7DBE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ctr">
              <a:lnSpc>
                <a:spcPct val="105000"/>
              </a:lnSpc>
              <a:spcAft>
                <a:spcPts val="0"/>
              </a:spcAft>
            </a:pPr>
            <a:r>
              <a:rPr sz="2100" b="0" i="0">
                <a:solidFill>
                  <a:srgbClr val="000000"/>
                </a:solidFill>
                <a:latin typeface="Figtree"/>
              </a:rPr>
              <a:t>label</a:t>
            </a:r>
          </a:p>
        </p:txBody>
      </p:sp>
      <p:sp>
        <p:nvSpPr>
          <p:cNvPr id="13" name="Rectangle 12"/>
          <p:cNvSpPr/>
          <p:nvPr/>
        </p:nvSpPr>
        <p:spPr>
          <a:xfrm>
            <a:off x="603504" y="3291840"/>
            <a:ext cx="5233650" cy="914400"/>
          </a:xfrm>
          <a:prstGeom prst="rect">
            <a:avLst/>
          </a:prstGeom>
          <a:solidFill>
            <a:srgbClr val="DEF0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1F2A44"/>
                </a:solidFill>
                <a:latin typeface="Figtree"/>
              </a:rPr>
              <a:t>959  </a:t>
            </a:r>
            <a:r>
              <a:rPr sz="1900" b="0" i="0">
                <a:solidFill>
                  <a:srgbClr val="1F2A44"/>
                </a:solidFill>
                <a:latin typeface="Figtree"/>
              </a:rPr>
              <a:t>Naive enough</a:t>
            </a:r>
          </a:p>
        </p:txBody>
      </p:sp>
      <p:sp>
        <p:nvSpPr>
          <p:cNvPr id="14" name="Rectangle 13"/>
          <p:cNvSpPr/>
          <p:nvPr/>
        </p:nvSpPr>
        <p:spPr>
          <a:xfrm>
            <a:off x="5873730" y="3291840"/>
            <a:ext cx="1760466" cy="914400"/>
          </a:xfrm>
          <a:prstGeom prst="rect">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FFFFFF"/>
                </a:solidFill>
                <a:latin typeface="Figtree"/>
              </a:rPr>
              <a:t>327  </a:t>
            </a:r>
            <a:r>
              <a:rPr sz="1900" b="0" i="0">
                <a:solidFill>
                  <a:srgbClr val="FFFFFF"/>
                </a:solidFill>
                <a:latin typeface="Figtree"/>
              </a:rPr>
              <a:t>Mix</a:t>
            </a:r>
          </a:p>
        </p:txBody>
      </p:sp>
      <p:sp>
        <p:nvSpPr>
          <p:cNvPr id="15" name="Rectangle 14"/>
          <p:cNvSpPr/>
          <p:nvPr/>
        </p:nvSpPr>
        <p:spPr>
          <a:xfrm>
            <a:off x="7670773" y="3291840"/>
            <a:ext cx="3887242" cy="9144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2400" b="1" i="0">
                <a:solidFill>
                  <a:srgbClr val="323232"/>
                </a:solidFill>
                <a:latin typeface="Figtree"/>
              </a:rPr>
              <a:t>714  </a:t>
            </a:r>
            <a:r>
              <a:rPr sz="1900" b="0" i="0">
                <a:solidFill>
                  <a:srgbClr val="323232"/>
                </a:solidFill>
                <a:latin typeface="Figtree"/>
              </a:rPr>
              <a:t>neither correct</a:t>
            </a:r>
          </a:p>
        </p:txBody>
      </p:sp>
      <p:sp>
        <p:nvSpPr>
          <p:cNvPr id="16" name="TextBox 15"/>
          <p:cNvSpPr txBox="1"/>
          <p:nvPr/>
        </p:nvSpPr>
        <p:spPr>
          <a:xfrm>
            <a:off x="603504" y="4572000"/>
            <a:ext cx="10991088" cy="9144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Label = the </a:t>
            </a:r>
            <a:r>
              <a:rPr sz="2200" b="1" i="0">
                <a:solidFill>
                  <a:srgbClr val="004791"/>
                </a:solidFill>
                <a:latin typeface="Figtree"/>
              </a:rPr>
              <a:t>cheapest mode that was enough</a:t>
            </a:r>
            <a:r>
              <a:rPr sz="2200" b="0" i="0">
                <a:solidFill>
                  <a:srgbClr val="323232"/>
                </a:solidFill>
                <a:latin typeface="Figtree"/>
              </a:rPr>
              <a:t>. The 1,286 questions where at least one mode worked are 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The setup</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1" i="0">
                <a:solidFill>
                  <a:srgbClr val="004791"/>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603504" y="1965960"/>
            <a:ext cx="5358383"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Data</a:t>
            </a:r>
          </a:p>
          <a:p>
            <a:pPr algn="l">
              <a:lnSpc>
                <a:spcPct val="110000"/>
              </a:lnSpc>
              <a:spcAft>
                <a:spcPts val="600"/>
              </a:spcAft>
            </a:pPr>
            <a:r>
              <a:rPr sz="1900" b="0" i="0">
                <a:solidFill>
                  <a:srgbClr val="333333"/>
                </a:solidFill>
                <a:latin typeface="Figtree"/>
              </a:rPr>
              <a:t>1,286 labelled questions from 2WikiMultihopQA, split 900 / 193 / 193 for training, validation and test.</a:t>
            </a:r>
          </a:p>
        </p:txBody>
      </p:sp>
      <p:sp>
        <p:nvSpPr>
          <p:cNvPr id="7" name="Rounded Rectangle 6"/>
          <p:cNvSpPr/>
          <p:nvPr/>
        </p:nvSpPr>
        <p:spPr>
          <a:xfrm>
            <a:off x="6236207" y="1965960"/>
            <a:ext cx="5358383"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Retrieval</a:t>
            </a:r>
          </a:p>
          <a:p>
            <a:pPr algn="l">
              <a:lnSpc>
                <a:spcPct val="110000"/>
              </a:lnSpc>
              <a:spcAft>
                <a:spcPts val="600"/>
              </a:spcAft>
            </a:pPr>
            <a:r>
              <a:rPr sz="1900" b="0" i="0">
                <a:solidFill>
                  <a:srgbClr val="333333"/>
                </a:solidFill>
                <a:latin typeface="Figtree"/>
              </a:rPr>
              <a:t>LightRAG: Naive and Mix on one index. Gemini writes and judges the answers.</a:t>
            </a:r>
          </a:p>
        </p:txBody>
      </p:sp>
      <p:sp>
        <p:nvSpPr>
          <p:cNvPr id="8" name="Rounded Rectangle 7"/>
          <p:cNvSpPr/>
          <p:nvPr/>
        </p:nvSpPr>
        <p:spPr>
          <a:xfrm>
            <a:off x="603504" y="4114800"/>
            <a:ext cx="5358383"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Routers</a:t>
            </a:r>
          </a:p>
          <a:p>
            <a:pPr algn="l">
              <a:lnSpc>
                <a:spcPct val="110000"/>
              </a:lnSpc>
              <a:spcAft>
                <a:spcPts val="600"/>
              </a:spcAft>
            </a:pPr>
            <a:r>
              <a:rPr sz="1900" b="0" i="0">
                <a:solidFill>
                  <a:srgbClr val="333333"/>
                </a:solidFill>
                <a:latin typeface="Figtree"/>
              </a:rPr>
              <a:t>TF-IDF with logistic regression as the baseline, and a fine-tuned ModernBERT: three training runs, scores averaged.</a:t>
            </a:r>
          </a:p>
        </p:txBody>
      </p:sp>
      <p:sp>
        <p:nvSpPr>
          <p:cNvPr id="9" name="Rounded Rectangle 8"/>
          <p:cNvSpPr/>
          <p:nvPr/>
        </p:nvSpPr>
        <p:spPr>
          <a:xfrm>
            <a:off x="6236207" y="4114800"/>
            <a:ext cx="5358383" cy="1874519"/>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Evaluation</a:t>
            </a:r>
          </a:p>
          <a:p>
            <a:pPr algn="l">
              <a:lnSpc>
                <a:spcPct val="110000"/>
              </a:lnSpc>
              <a:spcAft>
                <a:spcPts val="600"/>
              </a:spcAft>
            </a:pPr>
            <a:r>
              <a:rPr sz="1900" b="0" i="0">
                <a:solidFill>
                  <a:srgbClr val="333333"/>
                </a:solidFill>
                <a:latin typeface="Figtree"/>
              </a:rPr>
              <a:t>On the 193 test questions: prediction quality and routing cost. Paired bootstrap and permutation tests, Holm-corrected.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Can the question predict it?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Yes, partly. Both routers find the Mix-needing questions </a:t>
            </a:r>
            <a:r>
              <a:rPr sz="2200" b="1" i="0">
                <a:solidFill>
                  <a:srgbClr val="004791"/>
                </a:solidFill>
                <a:latin typeface="Figtree"/>
              </a:rPr>
              <a:t>far above chance</a:t>
            </a:r>
            <a:r>
              <a:rPr sz="2200" b="0" i="0">
                <a:solidFill>
                  <a:srgbClr val="323232"/>
                </a:solidFill>
                <a:latin typeface="Figtree"/>
              </a:rPr>
              <a:t>.</a:t>
            </a:r>
          </a:p>
        </p:txBody>
      </p:sp>
      <p:sp>
        <p:nvSpPr>
          <p:cNvPr id="7" name="TextBox 6"/>
          <p:cNvSpPr txBox="1"/>
          <p:nvPr/>
        </p:nvSpPr>
        <p:spPr>
          <a:xfrm>
            <a:off x="603504" y="2331720"/>
            <a:ext cx="10515600" cy="292608"/>
          </a:xfrm>
          <a:prstGeom prst="rect">
            <a:avLst/>
          </a:prstGeom>
          <a:noFill/>
        </p:spPr>
        <p:txBody>
          <a:bodyPr wrap="square" anchor="t" lIns="0" rIns="0" tIns="0" bIns="0">
            <a:spAutoFit/>
          </a:bodyPr>
          <a:lstStyle/>
          <a:p>
            <a:pPr algn="r">
              <a:lnSpc>
                <a:spcPct val="105000"/>
              </a:lnSpc>
              <a:spcAft>
                <a:spcPts val="600"/>
              </a:spcAft>
            </a:pPr>
            <a:r>
              <a:rPr sz="1500" b="0" i="0">
                <a:solidFill>
                  <a:srgbClr val="6B7280"/>
                </a:solidFill>
                <a:latin typeface="Figtree"/>
              </a:rPr>
              <a:t>Test set: 193 questions, 49 need Mix. Whiskers: 95% bootstrap intervals.</a:t>
            </a:r>
          </a:p>
        </p:txBody>
      </p:sp>
      <p:cxnSp>
        <p:nvCxnSpPr>
          <p:cNvPr id="8" name="Connector 7"/>
          <p:cNvCxnSpPr/>
          <p:nvPr/>
        </p:nvCxnSpPr>
        <p:spPr>
          <a:xfrm>
            <a:off x="2340864" y="576072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26464" y="561441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0.00</a:t>
            </a:r>
          </a:p>
        </p:txBody>
      </p:sp>
      <p:cxnSp>
        <p:nvCxnSpPr>
          <p:cNvPr id="10" name="Connector 9"/>
          <p:cNvCxnSpPr/>
          <p:nvPr/>
        </p:nvCxnSpPr>
        <p:spPr>
          <a:xfrm>
            <a:off x="2340864" y="502920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26464" y="488289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0.25</a:t>
            </a:r>
          </a:p>
        </p:txBody>
      </p:sp>
      <p:cxnSp>
        <p:nvCxnSpPr>
          <p:cNvPr id="12" name="Connector 11"/>
          <p:cNvCxnSpPr/>
          <p:nvPr/>
        </p:nvCxnSpPr>
        <p:spPr>
          <a:xfrm>
            <a:off x="2340864" y="429768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26464" y="415137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0.50</a:t>
            </a:r>
          </a:p>
        </p:txBody>
      </p:sp>
      <p:cxnSp>
        <p:nvCxnSpPr>
          <p:cNvPr id="14" name="Connector 13"/>
          <p:cNvCxnSpPr/>
          <p:nvPr/>
        </p:nvCxnSpPr>
        <p:spPr>
          <a:xfrm>
            <a:off x="2340864" y="356616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26464" y="341985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0.75</a:t>
            </a:r>
          </a:p>
        </p:txBody>
      </p:sp>
      <p:cxnSp>
        <p:nvCxnSpPr>
          <p:cNvPr id="16" name="Connector 15"/>
          <p:cNvCxnSpPr/>
          <p:nvPr/>
        </p:nvCxnSpPr>
        <p:spPr>
          <a:xfrm>
            <a:off x="2340864" y="2834640"/>
            <a:ext cx="8778240" cy="0"/>
          </a:xfrm>
          <a:prstGeom prst="line">
            <a:avLst/>
          </a:prstGeom>
          <a:ln w="12700">
            <a:solidFill>
              <a:srgbClr val="EEF0F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426464" y="2688336"/>
            <a:ext cx="777240" cy="292608"/>
          </a:xfrm>
          <a:prstGeom prst="rect">
            <a:avLst/>
          </a:prstGeom>
          <a:noFill/>
        </p:spPr>
        <p:txBody>
          <a:bodyPr wrap="square" anchor="t" lIns="0" rIns="0" tIns="0" bIns="0">
            <a:spAutoFit/>
          </a:bodyPr>
          <a:lstStyle/>
          <a:p>
            <a:pPr algn="r">
              <a:lnSpc>
                <a:spcPct val="105000"/>
              </a:lnSpc>
              <a:spcAft>
                <a:spcPts val="600"/>
              </a:spcAft>
            </a:pPr>
            <a:r>
              <a:rPr sz="1400" b="0" i="0">
                <a:solidFill>
                  <a:srgbClr val="9AA3B2"/>
                </a:solidFill>
                <a:latin typeface="Figtree"/>
              </a:rPr>
              <a:t>1.00</a:t>
            </a:r>
          </a:p>
        </p:txBody>
      </p:sp>
      <p:cxnSp>
        <p:nvCxnSpPr>
          <p:cNvPr id="18" name="Connector 17"/>
          <p:cNvCxnSpPr/>
          <p:nvPr/>
        </p:nvCxnSpPr>
        <p:spPr>
          <a:xfrm>
            <a:off x="2340864" y="5760720"/>
            <a:ext cx="8778240"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rot="16200000">
            <a:off x="603504" y="4160520"/>
            <a:ext cx="1828800" cy="320040"/>
          </a:xfrm>
          <a:prstGeom prst="rect">
            <a:avLst/>
          </a:prstGeom>
          <a:noFill/>
        </p:spPr>
        <p:txBody>
          <a:bodyPr wrap="square" anchor="t" lIns="0" rIns="0" tIns="0" bIns="0">
            <a:spAutoFit/>
          </a:bodyPr>
          <a:lstStyle/>
          <a:p>
            <a:pPr algn="ctr">
              <a:lnSpc>
                <a:spcPct val="105000"/>
              </a:lnSpc>
              <a:spcAft>
                <a:spcPts val="600"/>
              </a:spcAft>
            </a:pPr>
            <a:r>
              <a:rPr sz="1500" b="0" i="0">
                <a:solidFill>
                  <a:srgbClr val="6B7280"/>
                </a:solidFill>
                <a:latin typeface="Figtree"/>
              </a:rPr>
              <a:t>AUPRC</a:t>
            </a:r>
          </a:p>
        </p:txBody>
      </p:sp>
      <p:sp>
        <p:nvSpPr>
          <p:cNvPr id="20" name="Rectangle 19"/>
          <p:cNvSpPr/>
          <p:nvPr/>
        </p:nvSpPr>
        <p:spPr>
          <a:xfrm>
            <a:off x="3803904" y="3589919"/>
            <a:ext cx="1463040" cy="2170800"/>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cxnSp>
        <p:nvCxnSpPr>
          <p:cNvPr id="21" name="Connector 20"/>
          <p:cNvCxnSpPr/>
          <p:nvPr/>
        </p:nvCxnSpPr>
        <p:spPr>
          <a:xfrm>
            <a:off x="4535424" y="3265250"/>
            <a:ext cx="0" cy="709412"/>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25696" y="3265250"/>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25696" y="3974662"/>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21024" y="2853770"/>
            <a:ext cx="182880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0.742</a:t>
            </a:r>
          </a:p>
        </p:txBody>
      </p:sp>
      <p:sp>
        <p:nvSpPr>
          <p:cNvPr id="25" name="TextBox 24"/>
          <p:cNvSpPr txBox="1"/>
          <p:nvPr/>
        </p:nvSpPr>
        <p:spPr>
          <a:xfrm>
            <a:off x="3346704" y="5852159"/>
            <a:ext cx="2377440"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000000"/>
                </a:solidFill>
                <a:latin typeface="Figtree"/>
              </a:rPr>
              <a:t>TF-IDF</a:t>
            </a:r>
          </a:p>
        </p:txBody>
      </p:sp>
      <p:sp>
        <p:nvSpPr>
          <p:cNvPr id="26" name="Rectangle 25"/>
          <p:cNvSpPr/>
          <p:nvPr/>
        </p:nvSpPr>
        <p:spPr>
          <a:xfrm>
            <a:off x="8193023" y="3510454"/>
            <a:ext cx="1463040" cy="2250265"/>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cxnSp>
        <p:nvCxnSpPr>
          <p:cNvPr id="27" name="Connector 26"/>
          <p:cNvCxnSpPr/>
          <p:nvPr/>
        </p:nvCxnSpPr>
        <p:spPr>
          <a:xfrm>
            <a:off x="8924544" y="3158183"/>
            <a:ext cx="0" cy="714512"/>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14816" y="3158183"/>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14816" y="3872695"/>
            <a:ext cx="219456" cy="0"/>
          </a:xfrm>
          <a:prstGeom prst="line">
            <a:avLst/>
          </a:prstGeom>
          <a:ln w="25400">
            <a:solidFill>
              <a:srgbClr val="1F2A4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10144" y="2746703"/>
            <a:ext cx="182880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0.769</a:t>
            </a:r>
          </a:p>
        </p:txBody>
      </p:sp>
      <p:sp>
        <p:nvSpPr>
          <p:cNvPr id="31" name="TextBox 30"/>
          <p:cNvSpPr txBox="1"/>
          <p:nvPr/>
        </p:nvSpPr>
        <p:spPr>
          <a:xfrm>
            <a:off x="7735823" y="5852159"/>
            <a:ext cx="2377440"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000000"/>
                </a:solidFill>
                <a:latin typeface="Figtree"/>
              </a:rPr>
              <a:t>ModernBERT</a:t>
            </a:r>
          </a:p>
        </p:txBody>
      </p:sp>
      <p:cxnSp>
        <p:nvCxnSpPr>
          <p:cNvPr id="32" name="Connector 31"/>
          <p:cNvCxnSpPr/>
          <p:nvPr/>
        </p:nvCxnSpPr>
        <p:spPr>
          <a:xfrm>
            <a:off x="2340864" y="5017495"/>
            <a:ext cx="8778240" cy="0"/>
          </a:xfrm>
          <a:prstGeom prst="line">
            <a:avLst/>
          </a:prstGeom>
          <a:ln w="25400">
            <a:solidFill>
              <a:srgbClr val="E86A58"/>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656064" y="4670023"/>
            <a:ext cx="1463040" cy="292608"/>
          </a:xfrm>
          <a:prstGeom prst="rect">
            <a:avLst/>
          </a:prstGeom>
          <a:noFill/>
        </p:spPr>
        <p:txBody>
          <a:bodyPr wrap="square" anchor="t" lIns="0" rIns="0" tIns="0" bIns="0">
            <a:spAutoFit/>
          </a:bodyPr>
          <a:lstStyle/>
          <a:p>
            <a:pPr algn="r">
              <a:lnSpc>
                <a:spcPct val="105000"/>
              </a:lnSpc>
              <a:spcAft>
                <a:spcPts val="600"/>
              </a:spcAft>
            </a:pPr>
            <a:r>
              <a:rPr sz="1500" b="0" i="0">
                <a:solidFill>
                  <a:srgbClr val="E86A58"/>
                </a:solidFill>
                <a:latin typeface="Figtree"/>
              </a:rPr>
              <a:t>chance 0.254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More selective</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731520"/>
          </a:xfrm>
          <a:prstGeom prst="rect">
            <a:avLst/>
          </a:prstGeom>
          <a:noFill/>
        </p:spPr>
        <p:txBody>
          <a:bodyPr wrap="square" anchor="t" lIns="0" rIns="0" tIns="0" bIns="0">
            <a:spAutoFit/>
          </a:bodyPr>
          <a:lstStyle/>
          <a:p>
            <a:pPr algn="l">
              <a:lnSpc>
                <a:spcPct val="110000"/>
              </a:lnSpc>
              <a:spcAft>
                <a:spcPts val="600"/>
              </a:spcAft>
            </a:pPr>
            <a:r>
              <a:rPr sz="2200" b="0" i="0">
                <a:solidFill>
                  <a:srgbClr val="323232"/>
                </a:solidFill>
                <a:latin typeface="Figtree"/>
              </a:rPr>
              <a:t>ModernBERT is </a:t>
            </a:r>
            <a:r>
              <a:rPr sz="2200" b="1" i="0">
                <a:solidFill>
                  <a:srgbClr val="004791"/>
                </a:solidFill>
                <a:latin typeface="Figtree"/>
              </a:rPr>
              <a:t>significantly more precise and more accurate</a:t>
            </a:r>
            <a:r>
              <a:rPr sz="2200" b="0" i="0">
                <a:solidFill>
                  <a:srgbClr val="323232"/>
                </a:solidFill>
                <a:latin typeface="Figtree"/>
              </a:rPr>
              <a:t>. Recall, F1 and the ranking metrics are not resolved.</a:t>
            </a:r>
          </a:p>
        </p:txBody>
      </p:sp>
      <p:cxnSp>
        <p:nvCxnSpPr>
          <p:cNvPr id="7" name="Connector 6"/>
          <p:cNvCxnSpPr/>
          <p:nvPr/>
        </p:nvCxnSpPr>
        <p:spPr>
          <a:xfrm>
            <a:off x="1975104" y="5532120"/>
            <a:ext cx="8229600"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798064" y="4050254"/>
            <a:ext cx="1143000" cy="1481865"/>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9" name="TextBox 8"/>
          <p:cNvSpPr txBox="1"/>
          <p:nvPr/>
        </p:nvSpPr>
        <p:spPr>
          <a:xfrm>
            <a:off x="2523744" y="3638774"/>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0.56</a:t>
            </a:r>
          </a:p>
        </p:txBody>
      </p:sp>
      <p:sp>
        <p:nvSpPr>
          <p:cNvPr id="10" name="Rectangle 9"/>
          <p:cNvSpPr/>
          <p:nvPr/>
        </p:nvSpPr>
        <p:spPr>
          <a:xfrm>
            <a:off x="4123944" y="3497048"/>
            <a:ext cx="1143000" cy="2035071"/>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3849624" y="3085568"/>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0.77</a:t>
            </a:r>
          </a:p>
        </p:txBody>
      </p:sp>
      <p:sp>
        <p:nvSpPr>
          <p:cNvPr id="12" name="TextBox 11"/>
          <p:cNvSpPr txBox="1"/>
          <p:nvPr/>
        </p:nvSpPr>
        <p:spPr>
          <a:xfrm>
            <a:off x="2340864" y="5605272"/>
            <a:ext cx="3383280" cy="365760"/>
          </a:xfrm>
          <a:prstGeom prst="rect">
            <a:avLst/>
          </a:prstGeom>
          <a:noFill/>
        </p:spPr>
        <p:txBody>
          <a:bodyPr wrap="square" anchor="t" lIns="0" rIns="0" tIns="0" bIns="0">
            <a:spAutoFit/>
          </a:bodyPr>
          <a:lstStyle/>
          <a:p>
            <a:pPr algn="ctr">
              <a:lnSpc>
                <a:spcPct val="105000"/>
              </a:lnSpc>
              <a:spcAft>
                <a:spcPts val="600"/>
              </a:spcAft>
            </a:pPr>
            <a:r>
              <a:rPr sz="2000" b="0" i="0">
                <a:solidFill>
                  <a:srgbClr val="000000"/>
                </a:solidFill>
                <a:latin typeface="Figtree"/>
              </a:rPr>
              <a:t>Precision</a:t>
            </a:r>
          </a:p>
        </p:txBody>
      </p:sp>
      <p:sp>
        <p:nvSpPr>
          <p:cNvPr id="13" name="TextBox 12"/>
          <p:cNvSpPr txBox="1"/>
          <p:nvPr/>
        </p:nvSpPr>
        <p:spPr>
          <a:xfrm>
            <a:off x="2340864" y="5943600"/>
            <a:ext cx="3383280" cy="320040"/>
          </a:xfrm>
          <a:prstGeom prst="rect">
            <a:avLst/>
          </a:prstGeom>
          <a:noFill/>
        </p:spPr>
        <p:txBody>
          <a:bodyPr wrap="square" anchor="t" lIns="0" rIns="0" tIns="0" bIns="0">
            <a:spAutoFit/>
          </a:bodyPr>
          <a:lstStyle/>
          <a:p>
            <a:pPr algn="ctr">
              <a:lnSpc>
                <a:spcPct val="105000"/>
              </a:lnSpc>
              <a:spcAft>
                <a:spcPts val="600"/>
              </a:spcAft>
            </a:pPr>
            <a:r>
              <a:rPr sz="1600" b="1" i="0">
                <a:solidFill>
                  <a:srgbClr val="004791"/>
                </a:solidFill>
                <a:latin typeface="Figtree"/>
              </a:rPr>
              <a:t>significant, Holm p &lt; 0.001</a:t>
            </a:r>
          </a:p>
        </p:txBody>
      </p:sp>
      <p:sp>
        <p:nvSpPr>
          <p:cNvPr id="14" name="Rectangle 13"/>
          <p:cNvSpPr/>
          <p:nvPr/>
        </p:nvSpPr>
        <p:spPr>
          <a:xfrm>
            <a:off x="6821424" y="3475653"/>
            <a:ext cx="1143000" cy="2056466"/>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5" name="TextBox 14"/>
          <p:cNvSpPr txBox="1"/>
          <p:nvPr/>
        </p:nvSpPr>
        <p:spPr>
          <a:xfrm>
            <a:off x="6547104" y="3064173"/>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0.78</a:t>
            </a:r>
          </a:p>
        </p:txBody>
      </p:sp>
      <p:sp>
        <p:nvSpPr>
          <p:cNvPr id="16" name="Rectangle 15"/>
          <p:cNvSpPr/>
          <p:nvPr/>
        </p:nvSpPr>
        <p:spPr>
          <a:xfrm>
            <a:off x="8147304" y="3746240"/>
            <a:ext cx="1143000" cy="1785879"/>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7872983" y="3334760"/>
            <a:ext cx="1691640" cy="365760"/>
          </a:xfrm>
          <a:prstGeom prst="rect">
            <a:avLst/>
          </a:prstGeom>
          <a:noFill/>
        </p:spPr>
        <p:txBody>
          <a:bodyPr wrap="square" anchor="t" lIns="0" rIns="0" tIns="0" bIns="0">
            <a:spAutoFit/>
          </a:bodyPr>
          <a:lstStyle/>
          <a:p>
            <a:pPr algn="ctr">
              <a:lnSpc>
                <a:spcPct val="105000"/>
              </a:lnSpc>
              <a:spcAft>
                <a:spcPts val="600"/>
              </a:spcAft>
            </a:pPr>
            <a:r>
              <a:rPr sz="2000" b="1" i="0">
                <a:solidFill>
                  <a:srgbClr val="1F2A44"/>
                </a:solidFill>
                <a:latin typeface="Figtree"/>
              </a:rPr>
              <a:t>0.67</a:t>
            </a:r>
          </a:p>
        </p:txBody>
      </p:sp>
      <p:sp>
        <p:nvSpPr>
          <p:cNvPr id="18" name="TextBox 17"/>
          <p:cNvSpPr txBox="1"/>
          <p:nvPr/>
        </p:nvSpPr>
        <p:spPr>
          <a:xfrm>
            <a:off x="6364224" y="5605272"/>
            <a:ext cx="3383280" cy="365760"/>
          </a:xfrm>
          <a:prstGeom prst="rect">
            <a:avLst/>
          </a:prstGeom>
          <a:noFill/>
        </p:spPr>
        <p:txBody>
          <a:bodyPr wrap="square" anchor="t" lIns="0" rIns="0" tIns="0" bIns="0">
            <a:spAutoFit/>
          </a:bodyPr>
          <a:lstStyle/>
          <a:p>
            <a:pPr algn="ctr">
              <a:lnSpc>
                <a:spcPct val="105000"/>
              </a:lnSpc>
              <a:spcAft>
                <a:spcPts val="600"/>
              </a:spcAft>
            </a:pPr>
            <a:r>
              <a:rPr sz="2000" b="0" i="0">
                <a:solidFill>
                  <a:srgbClr val="000000"/>
                </a:solidFill>
                <a:latin typeface="Figtree"/>
              </a:rPr>
              <a:t>Recall</a:t>
            </a:r>
          </a:p>
        </p:txBody>
      </p:sp>
      <p:sp>
        <p:nvSpPr>
          <p:cNvPr id="19" name="TextBox 18"/>
          <p:cNvSpPr txBox="1"/>
          <p:nvPr/>
        </p:nvSpPr>
        <p:spPr>
          <a:xfrm>
            <a:off x="6364224" y="5943600"/>
            <a:ext cx="3383280" cy="320040"/>
          </a:xfrm>
          <a:prstGeom prst="rect">
            <a:avLst/>
          </a:prstGeom>
          <a:noFill/>
        </p:spPr>
        <p:txBody>
          <a:bodyPr wrap="square" anchor="t" lIns="0" rIns="0" tIns="0" bIns="0">
            <a:spAutoFit/>
          </a:bodyPr>
          <a:lstStyle/>
          <a:p>
            <a:pPr algn="ctr">
              <a:lnSpc>
                <a:spcPct val="105000"/>
              </a:lnSpc>
              <a:spcAft>
                <a:spcPts val="600"/>
              </a:spcAft>
            </a:pPr>
            <a:r>
              <a:rPr sz="1600" b="0" i="0">
                <a:solidFill>
                  <a:srgbClr val="6B7280"/>
                </a:solidFill>
                <a:latin typeface="Figtree"/>
              </a:rPr>
              <a:t>not significant, Holm p = 0.56</a:t>
            </a:r>
          </a:p>
        </p:txBody>
      </p:sp>
      <p:sp>
        <p:nvSpPr>
          <p:cNvPr id="20" name="Rectangle 19"/>
          <p:cNvSpPr/>
          <p:nvPr/>
        </p:nvSpPr>
        <p:spPr>
          <a:xfrm>
            <a:off x="9518904" y="3017520"/>
            <a:ext cx="256032" cy="256032"/>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1" name="TextBox 20"/>
          <p:cNvSpPr txBox="1"/>
          <p:nvPr/>
        </p:nvSpPr>
        <p:spPr>
          <a:xfrm>
            <a:off x="9884664" y="2980944"/>
            <a:ext cx="1645920"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22" name="Rectangle 21"/>
          <p:cNvSpPr/>
          <p:nvPr/>
        </p:nvSpPr>
        <p:spPr>
          <a:xfrm>
            <a:off x="9518904" y="3474720"/>
            <a:ext cx="256032" cy="256032"/>
          </a:xfrm>
          <a:prstGeom prst="rect">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3" name="TextBox 22"/>
          <p:cNvSpPr txBox="1"/>
          <p:nvPr/>
        </p:nvSpPr>
        <p:spPr>
          <a:xfrm>
            <a:off x="9884664" y="3438144"/>
            <a:ext cx="1828800"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24" name="TextBox 23"/>
          <p:cNvSpPr txBox="1"/>
          <p:nvPr/>
        </p:nvSpPr>
        <p:spPr>
          <a:xfrm>
            <a:off x="9518904" y="4069080"/>
            <a:ext cx="2075688" cy="1463040"/>
          </a:xfrm>
          <a:prstGeom prst="rect">
            <a:avLst/>
          </a:prstGeom>
          <a:noFill/>
        </p:spPr>
        <p:txBody>
          <a:bodyPr wrap="square" anchor="t" lIns="0" rIns="0" tIns="0" bIns="0">
            <a:spAutoFit/>
          </a:bodyPr>
          <a:lstStyle/>
          <a:p>
            <a:pPr algn="l">
              <a:lnSpc>
                <a:spcPct val="110000"/>
              </a:lnSpc>
              <a:spcAft>
                <a:spcPts val="600"/>
              </a:spcAft>
            </a:pPr>
            <a:r>
              <a:rPr sz="1500" b="0" i="0">
                <a:solidFill>
                  <a:srgbClr val="6B7280"/>
                </a:solidFill>
                <a:latin typeface="Figtree"/>
              </a:rPr>
              <a:t>Paired tests on the same 193 questions, Holm-corrected over 7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Where the signal comes from</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Largely </a:t>
            </a:r>
            <a:r>
              <a:rPr sz="2200" b="1" i="0">
                <a:solidFill>
                  <a:srgbClr val="004791"/>
                </a:solidFill>
                <a:latin typeface="Figtree"/>
              </a:rPr>
              <a:t>question structure</a:t>
            </a:r>
            <a:r>
              <a:rPr sz="2200" b="0" i="0">
                <a:solidFill>
                  <a:srgbClr val="323232"/>
                </a:solidFill>
                <a:latin typeface="Figtree"/>
              </a:rPr>
              <a:t>, recognised from the wording.</a:t>
            </a:r>
          </a:p>
        </p:txBody>
      </p:sp>
      <p:sp>
        <p:nvSpPr>
          <p:cNvPr id="7" name="TextBox 6"/>
          <p:cNvSpPr txBox="1"/>
          <p:nvPr/>
        </p:nvSpPr>
        <p:spPr>
          <a:xfrm>
            <a:off x="786384" y="2395728"/>
            <a:ext cx="7498079"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6B7280"/>
                </a:solidFill>
                <a:latin typeface="Figtree"/>
              </a:rPr>
              <a:t>Share of the 1,286 labelled questions that needed Mix, by type</a:t>
            </a:r>
          </a:p>
        </p:txBody>
      </p:sp>
      <p:cxnSp>
        <p:nvCxnSpPr>
          <p:cNvPr id="8" name="Connector 7"/>
          <p:cNvCxnSpPr/>
          <p:nvPr/>
        </p:nvCxnSpPr>
        <p:spPr>
          <a:xfrm>
            <a:off x="786384" y="5257800"/>
            <a:ext cx="7315199" cy="0"/>
          </a:xfrm>
          <a:prstGeom prst="line">
            <a:avLst/>
          </a:prstGeom>
          <a:ln w="15875">
            <a:solidFill>
              <a:srgbClr val="C9CDD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106424" y="5198210"/>
            <a:ext cx="1097280" cy="59589"/>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Box 9"/>
          <p:cNvSpPr txBox="1"/>
          <p:nvPr/>
        </p:nvSpPr>
        <p:spPr>
          <a:xfrm>
            <a:off x="740664" y="4539842"/>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a:t>
            </a:r>
          </a:p>
          <a:p>
            <a:pPr algn="ctr">
              <a:lnSpc>
                <a:spcPct val="105000"/>
              </a:lnSpc>
              <a:spcAft>
                <a:spcPts val="600"/>
              </a:spcAft>
            </a:pPr>
            <a:r>
              <a:rPr sz="1400" b="0" i="0">
                <a:solidFill>
                  <a:srgbClr val="6B7280"/>
                </a:solidFill>
                <a:latin typeface="Figtree"/>
              </a:rPr>
              <a:t>12 of 594</a:t>
            </a:r>
          </a:p>
        </p:txBody>
      </p:sp>
      <p:sp>
        <p:nvSpPr>
          <p:cNvPr id="11" name="TextBox 10"/>
          <p:cNvSpPr txBox="1"/>
          <p:nvPr/>
        </p:nvSpPr>
        <p:spPr>
          <a:xfrm>
            <a:off x="6492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comparison</a:t>
            </a:r>
          </a:p>
        </p:txBody>
      </p:sp>
      <p:sp>
        <p:nvSpPr>
          <p:cNvPr id="12" name="Rectangle 11"/>
          <p:cNvSpPr/>
          <p:nvPr/>
        </p:nvSpPr>
        <p:spPr>
          <a:xfrm>
            <a:off x="2935224" y="3539409"/>
            <a:ext cx="1097280" cy="1718390"/>
          </a:xfrm>
          <a:prstGeom prst="rect">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3" name="TextBox 12"/>
          <p:cNvSpPr txBox="1"/>
          <p:nvPr/>
        </p:nvSpPr>
        <p:spPr>
          <a:xfrm>
            <a:off x="2569464" y="2881041"/>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58%</a:t>
            </a:r>
          </a:p>
          <a:p>
            <a:pPr algn="ctr">
              <a:lnSpc>
                <a:spcPct val="105000"/>
              </a:lnSpc>
              <a:spcAft>
                <a:spcPts val="600"/>
              </a:spcAft>
            </a:pPr>
            <a:r>
              <a:rPr sz="1400" b="0" i="0">
                <a:solidFill>
                  <a:srgbClr val="6B7280"/>
                </a:solidFill>
                <a:latin typeface="Figtree"/>
              </a:rPr>
              <a:t>254 of 436</a:t>
            </a:r>
          </a:p>
        </p:txBody>
      </p:sp>
      <p:sp>
        <p:nvSpPr>
          <p:cNvPr id="14" name="TextBox 13"/>
          <p:cNvSpPr txBox="1"/>
          <p:nvPr/>
        </p:nvSpPr>
        <p:spPr>
          <a:xfrm>
            <a:off x="24780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compositional</a:t>
            </a:r>
          </a:p>
        </p:txBody>
      </p:sp>
      <p:sp>
        <p:nvSpPr>
          <p:cNvPr id="15" name="Rectangle 14"/>
          <p:cNvSpPr/>
          <p:nvPr/>
        </p:nvSpPr>
        <p:spPr>
          <a:xfrm>
            <a:off x="4764024" y="4550411"/>
            <a:ext cx="1097280" cy="707388"/>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6" name="TextBox 15"/>
          <p:cNvSpPr txBox="1"/>
          <p:nvPr/>
        </p:nvSpPr>
        <p:spPr>
          <a:xfrm>
            <a:off x="4398264" y="3892043"/>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24%</a:t>
            </a:r>
          </a:p>
          <a:p>
            <a:pPr algn="ctr">
              <a:lnSpc>
                <a:spcPct val="105000"/>
              </a:lnSpc>
              <a:spcAft>
                <a:spcPts val="600"/>
              </a:spcAft>
            </a:pPr>
            <a:r>
              <a:rPr sz="1400" b="0" i="0">
                <a:solidFill>
                  <a:srgbClr val="6B7280"/>
                </a:solidFill>
                <a:latin typeface="Figtree"/>
              </a:rPr>
              <a:t>53 of 221</a:t>
            </a:r>
          </a:p>
        </p:txBody>
      </p:sp>
      <p:sp>
        <p:nvSpPr>
          <p:cNvPr id="17" name="TextBox 16"/>
          <p:cNvSpPr txBox="1"/>
          <p:nvPr/>
        </p:nvSpPr>
        <p:spPr>
          <a:xfrm>
            <a:off x="43068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bridge-comparison</a:t>
            </a:r>
          </a:p>
        </p:txBody>
      </p:sp>
      <p:sp>
        <p:nvSpPr>
          <p:cNvPr id="18" name="Rectangle 17"/>
          <p:cNvSpPr/>
          <p:nvPr/>
        </p:nvSpPr>
        <p:spPr>
          <a:xfrm>
            <a:off x="6592824" y="4583588"/>
            <a:ext cx="1097280" cy="674211"/>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9" name="TextBox 18"/>
          <p:cNvSpPr txBox="1"/>
          <p:nvPr/>
        </p:nvSpPr>
        <p:spPr>
          <a:xfrm>
            <a:off x="6227064" y="3925220"/>
            <a:ext cx="1828800" cy="365760"/>
          </a:xfrm>
          <a:prstGeom prst="rect">
            <a:avLst/>
          </a:prstGeom>
          <a:noFill/>
        </p:spPr>
        <p:txBody>
          <a:bodyPr wrap="square" anchor="t" lIns="0" rIns="0" tIns="0" bIns="0">
            <a:spAutoFit/>
          </a:bodyPr>
          <a:lstStyle/>
          <a:p>
            <a:pPr algn="ctr">
              <a:lnSpc>
                <a:spcPct val="105000"/>
              </a:lnSpc>
              <a:spcAft>
                <a:spcPts val="0"/>
              </a:spcAft>
            </a:pPr>
            <a:r>
              <a:rPr sz="2000" b="1" i="0">
                <a:solidFill>
                  <a:srgbClr val="1F2A44"/>
                </a:solidFill>
                <a:latin typeface="Figtree"/>
              </a:rPr>
              <a:t>23%</a:t>
            </a:r>
          </a:p>
          <a:p>
            <a:pPr algn="ctr">
              <a:lnSpc>
                <a:spcPct val="105000"/>
              </a:lnSpc>
              <a:spcAft>
                <a:spcPts val="600"/>
              </a:spcAft>
            </a:pPr>
            <a:r>
              <a:rPr sz="1400" b="0" i="0">
                <a:solidFill>
                  <a:srgbClr val="6B7280"/>
                </a:solidFill>
                <a:latin typeface="Figtree"/>
              </a:rPr>
              <a:t>8 of 35</a:t>
            </a:r>
          </a:p>
        </p:txBody>
      </p:sp>
      <p:sp>
        <p:nvSpPr>
          <p:cNvPr id="20" name="TextBox 19"/>
          <p:cNvSpPr txBox="1"/>
          <p:nvPr/>
        </p:nvSpPr>
        <p:spPr>
          <a:xfrm>
            <a:off x="6135624" y="5349240"/>
            <a:ext cx="2011680" cy="365760"/>
          </a:xfrm>
          <a:prstGeom prst="rect">
            <a:avLst/>
          </a:prstGeom>
          <a:noFill/>
        </p:spPr>
        <p:txBody>
          <a:bodyPr wrap="square" anchor="t" lIns="0" rIns="0" tIns="0" bIns="0">
            <a:spAutoFit/>
          </a:bodyPr>
          <a:lstStyle/>
          <a:p>
            <a:pPr algn="ctr">
              <a:lnSpc>
                <a:spcPct val="105000"/>
              </a:lnSpc>
              <a:spcAft>
                <a:spcPts val="600"/>
              </a:spcAft>
            </a:pPr>
            <a:r>
              <a:rPr sz="1700" b="0" i="0">
                <a:solidFill>
                  <a:srgbClr val="000000"/>
                </a:solidFill>
                <a:latin typeface="Figtree"/>
              </a:rPr>
              <a:t>inference</a:t>
            </a:r>
          </a:p>
        </p:txBody>
      </p:sp>
      <p:sp>
        <p:nvSpPr>
          <p:cNvPr id="21" name="Rounded Rectangle 20"/>
          <p:cNvSpPr/>
          <p:nvPr/>
        </p:nvSpPr>
        <p:spPr>
          <a:xfrm>
            <a:off x="8467344" y="2468880"/>
            <a:ext cx="3127248" cy="3703320"/>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2" name="TextBox 21"/>
          <p:cNvSpPr txBox="1"/>
          <p:nvPr/>
        </p:nvSpPr>
        <p:spPr>
          <a:xfrm>
            <a:off x="8695944" y="2670048"/>
            <a:ext cx="2670048" cy="365760"/>
          </a:xfrm>
          <a:prstGeom prst="rect">
            <a:avLst/>
          </a:prstGeom>
          <a:noFill/>
        </p:spPr>
        <p:txBody>
          <a:bodyPr wrap="square" anchor="t" lIns="0" rIns="0" tIns="0" bIns="0">
            <a:spAutoFit/>
          </a:bodyPr>
          <a:lstStyle/>
          <a:p>
            <a:pPr algn="l">
              <a:lnSpc>
                <a:spcPct val="105000"/>
              </a:lnSpc>
              <a:spcAft>
                <a:spcPts val="600"/>
              </a:spcAft>
            </a:pPr>
            <a:r>
              <a:rPr sz="1800" b="1" i="0">
                <a:solidFill>
                  <a:srgbClr val="004791"/>
                </a:solidFill>
                <a:latin typeface="Figtree"/>
              </a:rPr>
              <a:t>Precision (test set)</a:t>
            </a:r>
          </a:p>
        </p:txBody>
      </p:sp>
      <p:sp>
        <p:nvSpPr>
          <p:cNvPr id="23" name="TextBox 22"/>
          <p:cNvSpPr txBox="1"/>
          <p:nvPr/>
        </p:nvSpPr>
        <p:spPr>
          <a:xfrm>
            <a:off x="8695944" y="3182112"/>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Question-type rule</a:t>
            </a:r>
          </a:p>
        </p:txBody>
      </p:sp>
      <p:sp>
        <p:nvSpPr>
          <p:cNvPr id="24" name="Rounded Rectangle 23"/>
          <p:cNvSpPr/>
          <p:nvPr/>
        </p:nvSpPr>
        <p:spPr>
          <a:xfrm>
            <a:off x="8695944" y="3474720"/>
            <a:ext cx="1160021" cy="219456"/>
          </a:xfrm>
          <a:prstGeom prst="roundRect">
            <a:avLst>
              <a:gd name="adj" fmla="val 15000"/>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5" name="TextBox 24"/>
          <p:cNvSpPr txBox="1"/>
          <p:nvPr/>
        </p:nvSpPr>
        <p:spPr>
          <a:xfrm>
            <a:off x="9947405" y="3429000"/>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0.58</a:t>
            </a:r>
          </a:p>
        </p:txBody>
      </p:sp>
      <p:sp>
        <p:nvSpPr>
          <p:cNvPr id="26" name="TextBox 25"/>
          <p:cNvSpPr txBox="1"/>
          <p:nvPr/>
        </p:nvSpPr>
        <p:spPr>
          <a:xfrm>
            <a:off x="8695944" y="3803904"/>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TF-IDF</a:t>
            </a:r>
          </a:p>
        </p:txBody>
      </p:sp>
      <p:sp>
        <p:nvSpPr>
          <p:cNvPr id="27" name="Rounded Rectangle 26"/>
          <p:cNvSpPr/>
          <p:nvPr/>
        </p:nvSpPr>
        <p:spPr>
          <a:xfrm>
            <a:off x="8695944" y="4096512"/>
            <a:ext cx="1108844" cy="219456"/>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8" name="TextBox 27"/>
          <p:cNvSpPr txBox="1"/>
          <p:nvPr/>
        </p:nvSpPr>
        <p:spPr>
          <a:xfrm>
            <a:off x="9896228" y="4050791"/>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0.56</a:t>
            </a:r>
          </a:p>
        </p:txBody>
      </p:sp>
      <p:sp>
        <p:nvSpPr>
          <p:cNvPr id="29" name="TextBox 28"/>
          <p:cNvSpPr txBox="1"/>
          <p:nvPr/>
        </p:nvSpPr>
        <p:spPr>
          <a:xfrm>
            <a:off x="8695944" y="4425696"/>
            <a:ext cx="2670048" cy="274320"/>
          </a:xfrm>
          <a:prstGeom prst="rect">
            <a:avLst/>
          </a:prstGeom>
          <a:noFill/>
        </p:spPr>
        <p:txBody>
          <a:bodyPr wrap="square" anchor="t" lIns="0" rIns="0" tIns="0" bIns="0">
            <a:spAutoFit/>
          </a:bodyPr>
          <a:lstStyle/>
          <a:p>
            <a:pPr algn="l">
              <a:lnSpc>
                <a:spcPct val="105000"/>
              </a:lnSpc>
              <a:spcAft>
                <a:spcPts val="600"/>
              </a:spcAft>
            </a:pPr>
            <a:r>
              <a:rPr sz="1600" b="0" i="0">
                <a:solidFill>
                  <a:srgbClr val="333333"/>
                </a:solidFill>
                <a:latin typeface="Figtree"/>
              </a:rPr>
              <a:t>ModernBERT</a:t>
            </a:r>
          </a:p>
        </p:txBody>
      </p:sp>
      <p:sp>
        <p:nvSpPr>
          <p:cNvPr id="30" name="Rounded Rectangle 29"/>
          <p:cNvSpPr/>
          <p:nvPr/>
        </p:nvSpPr>
        <p:spPr>
          <a:xfrm>
            <a:off x="8695944" y="4718304"/>
            <a:ext cx="1522794" cy="219456"/>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1" name="TextBox 30"/>
          <p:cNvSpPr txBox="1"/>
          <p:nvPr/>
        </p:nvSpPr>
        <p:spPr>
          <a:xfrm>
            <a:off x="10310178" y="4672583"/>
            <a:ext cx="640080" cy="292608"/>
          </a:xfrm>
          <a:prstGeom prst="rect">
            <a:avLst/>
          </a:prstGeom>
          <a:noFill/>
        </p:spPr>
        <p:txBody>
          <a:bodyPr wrap="square" anchor="t" lIns="0" rIns="0" tIns="0" bIns="0">
            <a:spAutoFit/>
          </a:bodyPr>
          <a:lstStyle/>
          <a:p>
            <a:pPr algn="l">
              <a:lnSpc>
                <a:spcPct val="105000"/>
              </a:lnSpc>
              <a:spcAft>
                <a:spcPts val="600"/>
              </a:spcAft>
            </a:pPr>
            <a:r>
              <a:rPr sz="1600" b="1" i="0">
                <a:solidFill>
                  <a:srgbClr val="1F2A44"/>
                </a:solidFill>
                <a:latin typeface="Figtree"/>
              </a:rPr>
              <a:t>0.77</a:t>
            </a:r>
          </a:p>
        </p:txBody>
      </p:sp>
      <p:sp>
        <p:nvSpPr>
          <p:cNvPr id="32" name="TextBox 31"/>
          <p:cNvSpPr txBox="1"/>
          <p:nvPr/>
        </p:nvSpPr>
        <p:spPr>
          <a:xfrm>
            <a:off x="8695944" y="5120640"/>
            <a:ext cx="2670048" cy="914400"/>
          </a:xfrm>
          <a:prstGeom prst="rect">
            <a:avLst/>
          </a:prstGeom>
          <a:noFill/>
        </p:spPr>
        <p:txBody>
          <a:bodyPr wrap="square" anchor="t" lIns="0" rIns="0" tIns="0" bIns="0">
            <a:spAutoFit/>
          </a:bodyPr>
          <a:lstStyle/>
          <a:p>
            <a:pPr algn="l">
              <a:lnSpc>
                <a:spcPct val="110000"/>
              </a:lnSpc>
              <a:spcAft>
                <a:spcPts val="600"/>
              </a:spcAft>
            </a:pPr>
            <a:r>
              <a:rPr sz="1400" b="0" i="0">
                <a:solidFill>
                  <a:srgbClr val="6B7280"/>
                </a:solidFill>
                <a:latin typeface="Figtree"/>
              </a:rPr>
              <a:t>The rule needs a type label that real questions lack. Only ModernBERT is significantly above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Routing errors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Far less wasted compute, for a small and unresolved increase in risk.</a:t>
            </a:r>
          </a:p>
        </p:txBody>
      </p:sp>
      <p:sp>
        <p:nvSpPr>
          <p:cNvPr id="7" name="TextBox 6"/>
          <p:cNvSpPr txBox="1"/>
          <p:nvPr/>
        </p:nvSpPr>
        <p:spPr>
          <a:xfrm>
            <a:off x="60350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Unnecessary Mix calls</a:t>
            </a:r>
          </a:p>
        </p:txBody>
      </p:sp>
      <p:sp>
        <p:nvSpPr>
          <p:cNvPr id="8" name="TextBox 7"/>
          <p:cNvSpPr txBox="1"/>
          <p:nvPr/>
        </p:nvSpPr>
        <p:spPr>
          <a:xfrm>
            <a:off x="60350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of 144 questions where Naive was enough</a:t>
            </a:r>
          </a:p>
        </p:txBody>
      </p:sp>
      <p:sp>
        <p:nvSpPr>
          <p:cNvPr id="9" name="TextBox 8"/>
          <p:cNvSpPr txBox="1"/>
          <p:nvPr/>
        </p:nvSpPr>
        <p:spPr>
          <a:xfrm>
            <a:off x="60350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10" name="Rounded Rectangle 9"/>
          <p:cNvSpPr/>
          <p:nvPr/>
        </p:nvSpPr>
        <p:spPr>
          <a:xfrm>
            <a:off x="603504" y="3538727"/>
            <a:ext cx="3227294"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3940526"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30</a:t>
            </a:r>
          </a:p>
        </p:txBody>
      </p:sp>
      <p:sp>
        <p:nvSpPr>
          <p:cNvPr id="12" name="TextBox 11"/>
          <p:cNvSpPr txBox="1"/>
          <p:nvPr/>
        </p:nvSpPr>
        <p:spPr>
          <a:xfrm>
            <a:off x="603504" y="3904487"/>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13" name="Rounded Rectangle 12"/>
          <p:cNvSpPr/>
          <p:nvPr/>
        </p:nvSpPr>
        <p:spPr>
          <a:xfrm>
            <a:off x="603504" y="4197096"/>
            <a:ext cx="1075764"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1788996" y="41605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a:t>
            </a:r>
          </a:p>
        </p:txBody>
      </p:sp>
      <p:sp>
        <p:nvSpPr>
          <p:cNvPr id="15" name="TextBox 14"/>
          <p:cNvSpPr txBox="1"/>
          <p:nvPr/>
        </p:nvSpPr>
        <p:spPr>
          <a:xfrm>
            <a:off x="603504" y="4608575"/>
            <a:ext cx="5120640" cy="320040"/>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significant, McNemar p &lt; 0.001</a:t>
            </a:r>
          </a:p>
        </p:txBody>
      </p:sp>
      <p:sp>
        <p:nvSpPr>
          <p:cNvPr id="16" name="TextBox 15"/>
          <p:cNvSpPr txBox="1"/>
          <p:nvPr/>
        </p:nvSpPr>
        <p:spPr>
          <a:xfrm>
            <a:off x="645566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Missed Mix calls</a:t>
            </a:r>
          </a:p>
        </p:txBody>
      </p:sp>
      <p:sp>
        <p:nvSpPr>
          <p:cNvPr id="17" name="TextBox 16"/>
          <p:cNvSpPr txBox="1"/>
          <p:nvPr/>
        </p:nvSpPr>
        <p:spPr>
          <a:xfrm>
            <a:off x="645566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of 49 questions that needed Mix</a:t>
            </a:r>
          </a:p>
        </p:txBody>
      </p:sp>
      <p:sp>
        <p:nvSpPr>
          <p:cNvPr id="18" name="TextBox 17"/>
          <p:cNvSpPr txBox="1"/>
          <p:nvPr/>
        </p:nvSpPr>
        <p:spPr>
          <a:xfrm>
            <a:off x="645566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a:t>
            </a:r>
          </a:p>
        </p:txBody>
      </p:sp>
      <p:sp>
        <p:nvSpPr>
          <p:cNvPr id="19" name="Rounded Rectangle 18"/>
          <p:cNvSpPr/>
          <p:nvPr/>
        </p:nvSpPr>
        <p:spPr>
          <a:xfrm>
            <a:off x="6455664" y="3538727"/>
            <a:ext cx="1183341"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7748733"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11</a:t>
            </a:r>
          </a:p>
        </p:txBody>
      </p:sp>
      <p:sp>
        <p:nvSpPr>
          <p:cNvPr id="21" name="TextBox 20"/>
          <p:cNvSpPr txBox="1"/>
          <p:nvPr/>
        </p:nvSpPr>
        <p:spPr>
          <a:xfrm>
            <a:off x="6455664" y="3904487"/>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a:t>
            </a:r>
          </a:p>
        </p:txBody>
      </p:sp>
      <p:sp>
        <p:nvSpPr>
          <p:cNvPr id="22" name="Rounded Rectangle 21"/>
          <p:cNvSpPr/>
          <p:nvPr/>
        </p:nvSpPr>
        <p:spPr>
          <a:xfrm>
            <a:off x="6455664" y="4197096"/>
            <a:ext cx="1721223"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3" name="TextBox 22"/>
          <p:cNvSpPr txBox="1"/>
          <p:nvPr/>
        </p:nvSpPr>
        <p:spPr>
          <a:xfrm>
            <a:off x="8286615" y="41605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16</a:t>
            </a:r>
          </a:p>
        </p:txBody>
      </p:sp>
      <p:sp>
        <p:nvSpPr>
          <p:cNvPr id="24" name="TextBox 23"/>
          <p:cNvSpPr txBox="1"/>
          <p:nvPr/>
        </p:nvSpPr>
        <p:spPr>
          <a:xfrm>
            <a:off x="6455664" y="4608575"/>
            <a:ext cx="5120640" cy="320040"/>
          </a:xfrm>
          <a:prstGeom prst="rect">
            <a:avLst/>
          </a:prstGeom>
          <a:noFill/>
        </p:spPr>
        <p:txBody>
          <a:bodyPr wrap="square" anchor="t" lIns="0" rIns="0" tIns="0" bIns="0">
            <a:spAutoFit/>
          </a:bodyPr>
          <a:lstStyle/>
          <a:p>
            <a:pPr algn="l">
              <a:lnSpc>
                <a:spcPct val="105000"/>
              </a:lnSpc>
              <a:spcAft>
                <a:spcPts val="600"/>
              </a:spcAft>
            </a:pPr>
            <a:r>
              <a:rPr sz="1600" b="0" i="0">
                <a:solidFill>
                  <a:srgbClr val="6B7280"/>
                </a:solidFill>
                <a:latin typeface="Figtree"/>
              </a:rPr>
              <a:t>not significant, McNemar p = 0.125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Cost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ModernBERT routing: </a:t>
            </a:r>
            <a:r>
              <a:rPr sz="2200" b="1" i="0">
                <a:solidFill>
                  <a:srgbClr val="004791"/>
                </a:solidFill>
                <a:latin typeface="Figtree"/>
              </a:rPr>
              <a:t>42% less time</a:t>
            </a:r>
            <a:r>
              <a:rPr sz="2200" b="0" i="0">
                <a:solidFill>
                  <a:srgbClr val="323232"/>
                </a:solidFill>
                <a:latin typeface="Figtree"/>
              </a:rPr>
              <a:t> and </a:t>
            </a:r>
            <a:r>
              <a:rPr sz="2200" b="1" i="0">
                <a:solidFill>
                  <a:srgbClr val="004791"/>
                </a:solidFill>
                <a:latin typeface="Figtree"/>
              </a:rPr>
              <a:t>63% fewer tokens</a:t>
            </a:r>
            <a:r>
              <a:rPr sz="2200" b="0" i="0">
                <a:solidFill>
                  <a:srgbClr val="323232"/>
                </a:solidFill>
                <a:latin typeface="Figtree"/>
              </a:rPr>
              <a:t> than always-Mix.</a:t>
            </a:r>
          </a:p>
        </p:txBody>
      </p:sp>
      <p:sp>
        <p:nvSpPr>
          <p:cNvPr id="7" name="TextBox 6"/>
          <p:cNvSpPr txBox="1"/>
          <p:nvPr/>
        </p:nvSpPr>
        <p:spPr>
          <a:xfrm>
            <a:off x="60350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Mean time per question</a:t>
            </a:r>
          </a:p>
        </p:txBody>
      </p:sp>
      <p:sp>
        <p:nvSpPr>
          <p:cNvPr id="8" name="TextBox 7"/>
          <p:cNvSpPr txBox="1"/>
          <p:nvPr/>
        </p:nvSpPr>
        <p:spPr>
          <a:xfrm>
            <a:off x="60350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measured on every test question</a:t>
            </a:r>
          </a:p>
        </p:txBody>
      </p:sp>
      <p:sp>
        <p:nvSpPr>
          <p:cNvPr id="9" name="TextBox 8"/>
          <p:cNvSpPr txBox="1"/>
          <p:nvPr/>
        </p:nvSpPr>
        <p:spPr>
          <a:xfrm>
            <a:off x="60350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10" name="Rounded Rectangle 9"/>
          <p:cNvSpPr/>
          <p:nvPr/>
        </p:nvSpPr>
        <p:spPr>
          <a:xfrm>
            <a:off x="603504" y="3538727"/>
            <a:ext cx="3308698"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4021930"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24.4 s</a:t>
            </a:r>
          </a:p>
        </p:txBody>
      </p:sp>
      <p:sp>
        <p:nvSpPr>
          <p:cNvPr id="12" name="TextBox 11"/>
          <p:cNvSpPr txBox="1"/>
          <p:nvPr/>
        </p:nvSpPr>
        <p:spPr>
          <a:xfrm>
            <a:off x="603504" y="3922776"/>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13" name="Rounded Rectangle 12"/>
          <p:cNvSpPr/>
          <p:nvPr/>
        </p:nvSpPr>
        <p:spPr>
          <a:xfrm>
            <a:off x="603504" y="4215384"/>
            <a:ext cx="2299549"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3012781"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17.0 s</a:t>
            </a:r>
          </a:p>
        </p:txBody>
      </p:sp>
      <p:sp>
        <p:nvSpPr>
          <p:cNvPr id="15" name="TextBox 14"/>
          <p:cNvSpPr txBox="1"/>
          <p:nvPr/>
        </p:nvSpPr>
        <p:spPr>
          <a:xfrm>
            <a:off x="603504" y="4599432"/>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16" name="Rounded Rectangle 15"/>
          <p:cNvSpPr/>
          <p:nvPr/>
        </p:nvSpPr>
        <p:spPr>
          <a:xfrm>
            <a:off x="603504" y="4892040"/>
            <a:ext cx="1910871"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2624103"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14.1 s</a:t>
            </a:r>
          </a:p>
        </p:txBody>
      </p:sp>
      <p:sp>
        <p:nvSpPr>
          <p:cNvPr id="18" name="TextBox 17"/>
          <p:cNvSpPr txBox="1"/>
          <p:nvPr/>
        </p:nvSpPr>
        <p:spPr>
          <a:xfrm>
            <a:off x="603504" y="5276088"/>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19" name="Rounded Rectangle 18"/>
          <p:cNvSpPr/>
          <p:nvPr/>
        </p:nvSpPr>
        <p:spPr>
          <a:xfrm>
            <a:off x="603504" y="5568696"/>
            <a:ext cx="1483328"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2196560"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10.9 s</a:t>
            </a:r>
          </a:p>
        </p:txBody>
      </p:sp>
      <p:sp>
        <p:nvSpPr>
          <p:cNvPr id="21" name="TextBox 20"/>
          <p:cNvSpPr txBox="1"/>
          <p:nvPr/>
        </p:nvSpPr>
        <p:spPr>
          <a:xfrm>
            <a:off x="603504" y="5998464"/>
            <a:ext cx="5120640" cy="320040"/>
          </a:xfrm>
          <a:prstGeom prst="rect">
            <a:avLst/>
          </a:prstGeom>
          <a:noFill/>
        </p:spPr>
        <p:txBody>
          <a:bodyPr wrap="square" anchor="t" lIns="0" rIns="0" tIns="0" bIns="0">
            <a:spAutoFit/>
          </a:bodyPr>
          <a:lstStyle/>
          <a:p>
            <a:pPr algn="l">
              <a:lnSpc>
                <a:spcPct val="105000"/>
              </a:lnSpc>
              <a:spcAft>
                <a:spcPts val="600"/>
              </a:spcAft>
            </a:pPr>
            <a:r>
              <a:rPr sz="1600" b="1" i="0">
                <a:solidFill>
                  <a:srgbClr val="004791"/>
                </a:solidFill>
                <a:latin typeface="Figtree"/>
              </a:rPr>
              <a:t>ModernBERT vs TF-IDF: 2.9 s faster, p = 0.003</a:t>
            </a:r>
          </a:p>
        </p:txBody>
      </p:sp>
      <p:sp>
        <p:nvSpPr>
          <p:cNvPr id="22" name="TextBox 21"/>
          <p:cNvSpPr txBox="1"/>
          <p:nvPr/>
        </p:nvSpPr>
        <p:spPr>
          <a:xfrm>
            <a:off x="6455664" y="2377440"/>
            <a:ext cx="5120640"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Model tokens per question</a:t>
            </a:r>
          </a:p>
        </p:txBody>
      </p:sp>
      <p:sp>
        <p:nvSpPr>
          <p:cNvPr id="23" name="TextBox 22"/>
          <p:cNvSpPr txBox="1"/>
          <p:nvPr/>
        </p:nvSpPr>
        <p:spPr>
          <a:xfrm>
            <a:off x="6455664" y="2761488"/>
            <a:ext cx="5120640"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estimated from 15 instrumented questions</a:t>
            </a:r>
          </a:p>
        </p:txBody>
      </p:sp>
      <p:sp>
        <p:nvSpPr>
          <p:cNvPr id="24" name="TextBox 23"/>
          <p:cNvSpPr txBox="1"/>
          <p:nvPr/>
        </p:nvSpPr>
        <p:spPr>
          <a:xfrm>
            <a:off x="6455664" y="3246120"/>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25" name="Rounded Rectangle 24"/>
          <p:cNvSpPr/>
          <p:nvPr/>
        </p:nvSpPr>
        <p:spPr>
          <a:xfrm>
            <a:off x="6455664" y="3538727"/>
            <a:ext cx="3298674"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6" name="TextBox 25"/>
          <p:cNvSpPr txBox="1"/>
          <p:nvPr/>
        </p:nvSpPr>
        <p:spPr>
          <a:xfrm>
            <a:off x="9864066"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17,857</a:t>
            </a:r>
          </a:p>
        </p:txBody>
      </p:sp>
      <p:sp>
        <p:nvSpPr>
          <p:cNvPr id="27" name="TextBox 26"/>
          <p:cNvSpPr txBox="1"/>
          <p:nvPr/>
        </p:nvSpPr>
        <p:spPr>
          <a:xfrm>
            <a:off x="6455664" y="3922776"/>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28" name="Rounded Rectangle 27"/>
          <p:cNvSpPr/>
          <p:nvPr/>
        </p:nvSpPr>
        <p:spPr>
          <a:xfrm>
            <a:off x="6455664" y="4215384"/>
            <a:ext cx="1575908"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9" name="TextBox 28"/>
          <p:cNvSpPr txBox="1"/>
          <p:nvPr/>
        </p:nvSpPr>
        <p:spPr>
          <a:xfrm>
            <a:off x="8141300"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8,531</a:t>
            </a:r>
          </a:p>
        </p:txBody>
      </p:sp>
      <p:sp>
        <p:nvSpPr>
          <p:cNvPr id="30" name="TextBox 29"/>
          <p:cNvSpPr txBox="1"/>
          <p:nvPr/>
        </p:nvSpPr>
        <p:spPr>
          <a:xfrm>
            <a:off x="6455664" y="4599432"/>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31" name="Rounded Rectangle 30"/>
          <p:cNvSpPr/>
          <p:nvPr/>
        </p:nvSpPr>
        <p:spPr>
          <a:xfrm>
            <a:off x="6455664" y="4892040"/>
            <a:ext cx="1231391"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2" name="TextBox 31"/>
          <p:cNvSpPr txBox="1"/>
          <p:nvPr/>
        </p:nvSpPr>
        <p:spPr>
          <a:xfrm>
            <a:off x="7796783"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6,666</a:t>
            </a:r>
          </a:p>
        </p:txBody>
      </p:sp>
      <p:sp>
        <p:nvSpPr>
          <p:cNvPr id="33" name="TextBox 32"/>
          <p:cNvSpPr txBox="1"/>
          <p:nvPr/>
        </p:nvSpPr>
        <p:spPr>
          <a:xfrm>
            <a:off x="6455664" y="5276088"/>
            <a:ext cx="5120640"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34" name="Rounded Rectangle 33"/>
          <p:cNvSpPr/>
          <p:nvPr/>
        </p:nvSpPr>
        <p:spPr>
          <a:xfrm>
            <a:off x="6455664" y="5568696"/>
            <a:ext cx="638786"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35" name="TextBox 34"/>
          <p:cNvSpPr txBox="1"/>
          <p:nvPr/>
        </p:nvSpPr>
        <p:spPr>
          <a:xfrm>
            <a:off x="7204178"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3,458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Answers kept</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1" i="0">
                <a:solidFill>
                  <a:srgbClr val="004791"/>
                </a:solidFill>
                <a:latin typeface="Figtree"/>
              </a:rPr>
              <a:t>The findings</a:t>
            </a:r>
            <a:r>
              <a:rPr sz="1600" b="0" i="0">
                <a:solidFill>
                  <a:srgbClr val="C9CDD6"/>
                </a:solidFill>
                <a:latin typeface="Figtree"/>
              </a:rPr>
              <a:t>   ›   </a:t>
            </a:r>
            <a:r>
              <a:rPr sz="1600" b="0" i="0">
                <a:solidFill>
                  <a:srgbClr val="98A0AE"/>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47088"/>
            <a:ext cx="10991088" cy="457200"/>
          </a:xfrm>
          <a:prstGeom prst="rect">
            <a:avLst/>
          </a:prstGeom>
          <a:noFill/>
        </p:spPr>
        <p:txBody>
          <a:bodyPr wrap="square" anchor="t" lIns="0" rIns="0" tIns="0" bIns="0">
            <a:spAutoFit/>
          </a:bodyPr>
          <a:lstStyle/>
          <a:p>
            <a:pPr algn="l">
              <a:lnSpc>
                <a:spcPct val="105000"/>
              </a:lnSpc>
              <a:spcAft>
                <a:spcPts val="600"/>
              </a:spcAft>
            </a:pPr>
            <a:r>
              <a:rPr sz="2200" b="0" i="0">
                <a:solidFill>
                  <a:srgbClr val="323232"/>
                </a:solidFill>
                <a:latin typeface="Figtree"/>
              </a:rPr>
              <a:t>About </a:t>
            </a:r>
            <a:r>
              <a:rPr sz="2200" b="1" i="0">
                <a:solidFill>
                  <a:srgbClr val="004791"/>
                </a:solidFill>
                <a:latin typeface="Figtree"/>
              </a:rPr>
              <a:t>92% of the correct answers</a:t>
            </a:r>
            <a:r>
              <a:rPr sz="2200" b="0" i="0">
                <a:solidFill>
                  <a:srgbClr val="323232"/>
                </a:solidFill>
                <a:latin typeface="Figtree"/>
              </a:rPr>
              <a:t>, at 37% of the token cost.</a:t>
            </a:r>
          </a:p>
        </p:txBody>
      </p:sp>
      <p:sp>
        <p:nvSpPr>
          <p:cNvPr id="7" name="TextBox 6"/>
          <p:cNvSpPr txBox="1"/>
          <p:nvPr/>
        </p:nvSpPr>
        <p:spPr>
          <a:xfrm>
            <a:off x="603504" y="2377440"/>
            <a:ext cx="7498079" cy="384048"/>
          </a:xfrm>
          <a:prstGeom prst="rect">
            <a:avLst/>
          </a:prstGeom>
          <a:noFill/>
        </p:spPr>
        <p:txBody>
          <a:bodyPr wrap="square" anchor="t" lIns="0" rIns="0" tIns="0" bIns="0">
            <a:spAutoFit/>
          </a:bodyPr>
          <a:lstStyle/>
          <a:p>
            <a:pPr algn="l">
              <a:lnSpc>
                <a:spcPct val="105000"/>
              </a:lnSpc>
              <a:spcAft>
                <a:spcPts val="600"/>
              </a:spcAft>
            </a:pPr>
            <a:r>
              <a:rPr sz="2200" b="1" i="0">
                <a:solidFill>
                  <a:srgbClr val="004791"/>
                </a:solidFill>
                <a:latin typeface="Figtree"/>
              </a:rPr>
              <a:t>Share of always-Mix's correct answers kept</a:t>
            </a:r>
          </a:p>
        </p:txBody>
      </p:sp>
      <p:sp>
        <p:nvSpPr>
          <p:cNvPr id="8" name="TextBox 7"/>
          <p:cNvSpPr txBox="1"/>
          <p:nvPr/>
        </p:nvSpPr>
        <p:spPr>
          <a:xfrm>
            <a:off x="603504" y="2761488"/>
            <a:ext cx="7498079" cy="292608"/>
          </a:xfrm>
          <a:prstGeom prst="rect">
            <a:avLst/>
          </a:prstGeom>
          <a:noFill/>
        </p:spPr>
        <p:txBody>
          <a:bodyPr wrap="square" anchor="t" lIns="0" rIns="0" tIns="0" bIns="0">
            <a:spAutoFit/>
          </a:bodyPr>
          <a:lstStyle/>
          <a:p>
            <a:pPr algn="l">
              <a:lnSpc>
                <a:spcPct val="105000"/>
              </a:lnSpc>
              <a:spcAft>
                <a:spcPts val="600"/>
              </a:spcAft>
            </a:pPr>
            <a:r>
              <a:rPr sz="1500" b="0" i="0">
                <a:solidFill>
                  <a:srgbClr val="6B7280"/>
                </a:solidFill>
                <a:latin typeface="Figtree"/>
              </a:rPr>
              <a:t>assuming Mix is correct wherever Naive was</a:t>
            </a:r>
          </a:p>
        </p:txBody>
      </p:sp>
      <p:sp>
        <p:nvSpPr>
          <p:cNvPr id="9" name="TextBox 8"/>
          <p:cNvSpPr txBox="1"/>
          <p:nvPr/>
        </p:nvSpPr>
        <p:spPr>
          <a:xfrm>
            <a:off x="603504" y="3246120"/>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Mix</a:t>
            </a:r>
          </a:p>
        </p:txBody>
      </p:sp>
      <p:sp>
        <p:nvSpPr>
          <p:cNvPr id="10" name="Rounded Rectangle 9"/>
          <p:cNvSpPr/>
          <p:nvPr/>
        </p:nvSpPr>
        <p:spPr>
          <a:xfrm>
            <a:off x="603504" y="3538727"/>
            <a:ext cx="5588000"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1" name="TextBox 10"/>
          <p:cNvSpPr txBox="1"/>
          <p:nvPr/>
        </p:nvSpPr>
        <p:spPr>
          <a:xfrm>
            <a:off x="6301232" y="3502152"/>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100.0%</a:t>
            </a:r>
          </a:p>
        </p:txBody>
      </p:sp>
      <p:sp>
        <p:nvSpPr>
          <p:cNvPr id="12" name="TextBox 11"/>
          <p:cNvSpPr txBox="1"/>
          <p:nvPr/>
        </p:nvSpPr>
        <p:spPr>
          <a:xfrm>
            <a:off x="603504" y="3922776"/>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TF-IDF routing</a:t>
            </a:r>
          </a:p>
        </p:txBody>
      </p:sp>
      <p:sp>
        <p:nvSpPr>
          <p:cNvPr id="13" name="Rounded Rectangle 12"/>
          <p:cNvSpPr/>
          <p:nvPr/>
        </p:nvSpPr>
        <p:spPr>
          <a:xfrm>
            <a:off x="603504" y="4215384"/>
            <a:ext cx="5269512" cy="256032"/>
          </a:xfrm>
          <a:prstGeom prst="roundRect">
            <a:avLst>
              <a:gd name="adj" fmla="val 15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4" name="TextBox 13"/>
          <p:cNvSpPr txBox="1"/>
          <p:nvPr/>
        </p:nvSpPr>
        <p:spPr>
          <a:xfrm>
            <a:off x="5982744" y="4178808"/>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94.3%</a:t>
            </a:r>
          </a:p>
        </p:txBody>
      </p:sp>
      <p:sp>
        <p:nvSpPr>
          <p:cNvPr id="15" name="TextBox 14"/>
          <p:cNvSpPr txBox="1"/>
          <p:nvPr/>
        </p:nvSpPr>
        <p:spPr>
          <a:xfrm>
            <a:off x="603504" y="4599432"/>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ModernBERT routing</a:t>
            </a:r>
          </a:p>
        </p:txBody>
      </p:sp>
      <p:sp>
        <p:nvSpPr>
          <p:cNvPr id="16" name="Rounded Rectangle 15"/>
          <p:cNvSpPr/>
          <p:nvPr/>
        </p:nvSpPr>
        <p:spPr>
          <a:xfrm>
            <a:off x="603504" y="4892040"/>
            <a:ext cx="5124746" cy="256032"/>
          </a:xfrm>
          <a:prstGeom prst="roundRect">
            <a:avLst>
              <a:gd name="adj" fmla="val 15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7" name="TextBox 16"/>
          <p:cNvSpPr txBox="1"/>
          <p:nvPr/>
        </p:nvSpPr>
        <p:spPr>
          <a:xfrm>
            <a:off x="5837978" y="4855464"/>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91.7%</a:t>
            </a:r>
          </a:p>
        </p:txBody>
      </p:sp>
      <p:sp>
        <p:nvSpPr>
          <p:cNvPr id="18" name="TextBox 17"/>
          <p:cNvSpPr txBox="1"/>
          <p:nvPr/>
        </p:nvSpPr>
        <p:spPr>
          <a:xfrm>
            <a:off x="603504" y="5276088"/>
            <a:ext cx="7498079" cy="274320"/>
          </a:xfrm>
          <a:prstGeom prst="rect">
            <a:avLst/>
          </a:prstGeom>
          <a:noFill/>
        </p:spPr>
        <p:txBody>
          <a:bodyPr wrap="square" anchor="t" lIns="0" rIns="0" tIns="0" bIns="0">
            <a:spAutoFit/>
          </a:bodyPr>
          <a:lstStyle/>
          <a:p>
            <a:pPr algn="l">
              <a:lnSpc>
                <a:spcPct val="105000"/>
              </a:lnSpc>
              <a:spcAft>
                <a:spcPts val="600"/>
              </a:spcAft>
            </a:pPr>
            <a:r>
              <a:rPr sz="1700" b="0" i="0">
                <a:solidFill>
                  <a:srgbClr val="333333"/>
                </a:solidFill>
                <a:latin typeface="Figtree"/>
              </a:rPr>
              <a:t>Always Naive</a:t>
            </a:r>
          </a:p>
        </p:txBody>
      </p:sp>
      <p:sp>
        <p:nvSpPr>
          <p:cNvPr id="19" name="Rounded Rectangle 18"/>
          <p:cNvSpPr/>
          <p:nvPr/>
        </p:nvSpPr>
        <p:spPr>
          <a:xfrm>
            <a:off x="603504" y="5568696"/>
            <a:ext cx="4169284" cy="256032"/>
          </a:xfrm>
          <a:prstGeom prst="roundRect">
            <a:avLst>
              <a:gd name="adj" fmla="val 15000"/>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20" name="TextBox 19"/>
          <p:cNvSpPr txBox="1"/>
          <p:nvPr/>
        </p:nvSpPr>
        <p:spPr>
          <a:xfrm>
            <a:off x="4882516" y="5532120"/>
            <a:ext cx="1371600" cy="310896"/>
          </a:xfrm>
          <a:prstGeom prst="rect">
            <a:avLst/>
          </a:prstGeom>
          <a:noFill/>
        </p:spPr>
        <p:txBody>
          <a:bodyPr wrap="square" anchor="t" lIns="0" rIns="0" tIns="0" bIns="0">
            <a:spAutoFit/>
          </a:bodyPr>
          <a:lstStyle/>
          <a:p>
            <a:pPr algn="l">
              <a:lnSpc>
                <a:spcPct val="105000"/>
              </a:lnSpc>
              <a:spcAft>
                <a:spcPts val="600"/>
              </a:spcAft>
            </a:pPr>
            <a:r>
              <a:rPr sz="1700" b="1" i="0">
                <a:solidFill>
                  <a:srgbClr val="1F2A44"/>
                </a:solidFill>
                <a:latin typeface="Figtree"/>
              </a:rPr>
              <a:t>74.6%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In practice</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Rounded Rectangle 5"/>
          <p:cNvSpPr/>
          <p:nvPr/>
        </p:nvSpPr>
        <p:spPr>
          <a:xfrm>
            <a:off x="603504" y="2103120"/>
            <a:ext cx="3480816" cy="3108960"/>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Prior work</a:t>
            </a:r>
          </a:p>
          <a:p>
            <a:pPr algn="l">
              <a:lnSpc>
                <a:spcPct val="110000"/>
              </a:lnSpc>
              <a:spcAft>
                <a:spcPts val="600"/>
              </a:spcAft>
            </a:pPr>
            <a:r>
              <a:rPr sz="2000" b="0" i="0">
                <a:solidFill>
                  <a:srgbClr val="333333"/>
                </a:solidFill>
                <a:latin typeface="Figtree"/>
              </a:rPr>
              <a:t>Extends Adaptive-RAG to vector vs graph retrieval. As in RouterBench: most of the quality, a fraction of the cost.</a:t>
            </a:r>
          </a:p>
        </p:txBody>
      </p:sp>
      <p:sp>
        <p:nvSpPr>
          <p:cNvPr id="7" name="Rounded Rectangle 6"/>
          <p:cNvSpPr/>
          <p:nvPr/>
        </p:nvSpPr>
        <p:spPr>
          <a:xfrm>
            <a:off x="4358640" y="2103120"/>
            <a:ext cx="3480816" cy="3108960"/>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Deployment</a:t>
            </a:r>
          </a:p>
          <a:p>
            <a:pPr algn="l">
              <a:lnSpc>
                <a:spcPct val="110000"/>
              </a:lnSpc>
              <a:spcAft>
                <a:spcPts val="600"/>
              </a:spcAft>
            </a:pPr>
            <a:r>
              <a:rPr sz="2000" b="0" i="0">
                <a:solidFill>
                  <a:srgbClr val="333333"/>
                </a:solidFill>
                <a:latin typeface="Figtree"/>
              </a:rPr>
              <a:t>No language-model call per question. The set-up cost is the labels. Needs a small labelled set from the target workload first.</a:t>
            </a:r>
          </a:p>
        </p:txBody>
      </p:sp>
      <p:sp>
        <p:nvSpPr>
          <p:cNvPr id="8" name="Rounded Rectangle 7"/>
          <p:cNvSpPr/>
          <p:nvPr/>
        </p:nvSpPr>
        <p:spPr>
          <a:xfrm>
            <a:off x="8113776" y="2103120"/>
            <a:ext cx="3480816" cy="3108960"/>
          </a:xfrm>
          <a:prstGeom prst="roundRect">
            <a:avLst>
              <a:gd name="adj" fmla="val 5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800"/>
              </a:spcAft>
            </a:pPr>
            <a:r>
              <a:rPr sz="2400" b="1" i="0">
                <a:solidFill>
                  <a:srgbClr val="004791"/>
                </a:solidFill>
                <a:latin typeface="Figtree"/>
              </a:rPr>
              <a:t>A cost dial</a:t>
            </a:r>
          </a:p>
          <a:p>
            <a:pPr algn="l">
              <a:lnSpc>
                <a:spcPct val="110000"/>
              </a:lnSpc>
              <a:spcAft>
                <a:spcPts val="600"/>
              </a:spcAft>
            </a:pPr>
            <a:r>
              <a:rPr sz="2000" b="0" i="0">
                <a:solidFill>
                  <a:srgbClr val="333333"/>
                </a:solidFill>
                <a:latin typeface="Figtree"/>
              </a:rPr>
              <a:t>The threshold trades wasted Mix calls against missed ones. Each deployment sets its 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Limitations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103120"/>
            <a:ext cx="10991088" cy="4023360"/>
          </a:xfrm>
          <a:prstGeom prst="rect">
            <a:avLst/>
          </a:prstGeom>
          <a:noFill/>
        </p:spPr>
        <p:txBody>
          <a:bodyPr wrap="square" anchor="t" lIns="0" rIns="0" tIns="0" bIns="0">
            <a:spAutoFit/>
          </a:bodyPr>
          <a:lstStyle/>
          <a:p>
            <a:pPr algn="l" marL="329184" indent="-329184">
              <a:lnSpc>
                <a:spcPct val="110000"/>
              </a:lnSpc>
              <a:spcAft>
                <a:spcPts val="2600"/>
              </a:spcAft>
              <a:buClr>
                <a:srgbClr val="004791"/>
              </a:buClr>
              <a:buFont typeface="Arial"/>
              <a:buChar char="■"/>
            </a:pPr>
            <a:r>
              <a:rPr sz="2400" b="1" i="0">
                <a:solidFill>
                  <a:srgbClr val="004791"/>
                </a:solidFill>
                <a:latin typeface="Figtree"/>
              </a:rPr>
              <a:t>Labels.  </a:t>
            </a:r>
            <a:r>
              <a:rPr sz="2400" b="0" i="0">
                <a:solidFill>
                  <a:srgbClr val="323232"/>
                </a:solidFill>
                <a:latin typeface="Figtree"/>
              </a:rPr>
              <a:t>An LLM judge decided which mode was enough, using the same Gemini model that wrote the answers, without a human check.</a:t>
            </a:r>
          </a:p>
          <a:p>
            <a:pPr algn="l" marL="329184" indent="-329184">
              <a:lnSpc>
                <a:spcPct val="110000"/>
              </a:lnSpc>
              <a:spcAft>
                <a:spcPts val="2600"/>
              </a:spcAft>
              <a:buClr>
                <a:srgbClr val="004791"/>
              </a:buClr>
              <a:buFont typeface="Arial"/>
              <a:buChar char="■"/>
            </a:pPr>
            <a:r>
              <a:rPr sz="2400" b="1" i="0">
                <a:solidFill>
                  <a:srgbClr val="004791"/>
                </a:solidFill>
                <a:latin typeface="Figtree"/>
              </a:rPr>
              <a:t>Estimates.  </a:t>
            </a:r>
            <a:r>
              <a:rPr sz="2400" b="0" i="0">
                <a:solidFill>
                  <a:srgbClr val="323232"/>
                </a:solidFill>
                <a:latin typeface="Figtree"/>
              </a:rPr>
              <a:t>Tokens come from 15 instrumented questions, answers kept assume Mix is right wherever Naive was, and router time was not measured.</a:t>
            </a:r>
          </a:p>
          <a:p>
            <a:pPr algn="l" marL="329184" indent="-329184">
              <a:lnSpc>
                <a:spcPct val="110000"/>
              </a:lnSpc>
              <a:spcAft>
                <a:spcPts val="2600"/>
              </a:spcAft>
              <a:buClr>
                <a:srgbClr val="004791"/>
              </a:buClr>
              <a:buFont typeface="Arial"/>
              <a:buChar char="■"/>
            </a:pPr>
            <a:r>
              <a:rPr sz="2400" b="1" i="0">
                <a:solidFill>
                  <a:srgbClr val="004791"/>
                </a:solidFill>
                <a:latin typeface="Figtree"/>
              </a:rPr>
              <a:t>Scope.  </a:t>
            </a:r>
            <a:r>
              <a:rPr sz="2400" b="0" i="0">
                <a:solidFill>
                  <a:srgbClr val="323232"/>
                </a:solidFill>
                <a:latin typeface="Figtree"/>
              </a:rPr>
              <a:t>One benchmark and one framework, a random split that can share question templates, and only 193 test questions.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Future work</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2103120"/>
            <a:ext cx="10991088" cy="4023360"/>
          </a:xfrm>
          <a:prstGeom prst="rect">
            <a:avLst/>
          </a:prstGeom>
          <a:noFill/>
        </p:spPr>
        <p:txBody>
          <a:bodyPr wrap="square" anchor="t" lIns="0" rIns="0" tIns="0" bIns="0">
            <a:spAutoFit/>
          </a:bodyPr>
          <a:lstStyle/>
          <a:p>
            <a:pPr algn="l" marL="329184" indent="-329184">
              <a:lnSpc>
                <a:spcPct val="110000"/>
              </a:lnSpc>
              <a:spcAft>
                <a:spcPts val="2600"/>
              </a:spcAft>
              <a:buClr>
                <a:srgbClr val="004791"/>
              </a:buClr>
              <a:buFont typeface="Arial"/>
              <a:buChar char="■"/>
            </a:pPr>
            <a:r>
              <a:rPr sz="2400" b="1" i="0">
                <a:solidFill>
                  <a:srgbClr val="004791"/>
                </a:solidFill>
                <a:latin typeface="Figtree"/>
              </a:rPr>
              <a:t>Check the labels.  </a:t>
            </a:r>
            <a:r>
              <a:rPr sz="2400" b="0" i="0">
                <a:solidFill>
                  <a:srgbClr val="323232"/>
                </a:solidFill>
                <a:latin typeface="Figtree"/>
              </a:rPr>
              <a:t>Validate a sample of judge decisions by hand, and judge again with a model from another family.</a:t>
            </a:r>
          </a:p>
          <a:p>
            <a:pPr algn="l" marL="329184" indent="-329184">
              <a:lnSpc>
                <a:spcPct val="110000"/>
              </a:lnSpc>
              <a:spcAft>
                <a:spcPts val="2600"/>
              </a:spcAft>
              <a:buClr>
                <a:srgbClr val="004791"/>
              </a:buClr>
              <a:buFont typeface="Arial"/>
              <a:buChar char="■"/>
            </a:pPr>
            <a:r>
              <a:rPr sz="2400" b="1" i="0">
                <a:solidFill>
                  <a:srgbClr val="004791"/>
                </a:solidFill>
                <a:latin typeface="Figtree"/>
              </a:rPr>
              <a:t>Measure everything.  </a:t>
            </a:r>
            <a:r>
              <a:rPr sz="2400" b="0" i="0">
                <a:solidFill>
                  <a:srgbClr val="323232"/>
                </a:solidFill>
                <a:latin typeface="Figtree"/>
              </a:rPr>
              <a:t>Log tokens for every question, time the router itself, and re-judge the answers each routing policy picks.</a:t>
            </a:r>
          </a:p>
          <a:p>
            <a:pPr algn="l" marL="329184" indent="-329184">
              <a:lnSpc>
                <a:spcPct val="110000"/>
              </a:lnSpc>
              <a:spcAft>
                <a:spcPts val="2600"/>
              </a:spcAft>
              <a:buClr>
                <a:srgbClr val="004791"/>
              </a:buClr>
              <a:buFont typeface="Arial"/>
              <a:buChar char="■"/>
            </a:pPr>
            <a:r>
              <a:rPr sz="2400" b="1" i="0">
                <a:solidFill>
                  <a:srgbClr val="004791"/>
                </a:solidFill>
                <a:latin typeface="Figtree"/>
              </a:rPr>
              <a:t>Go further.  </a:t>
            </a:r>
            <a:r>
              <a:rPr sz="2400" b="0" i="0">
                <a:solidFill>
                  <a:srgbClr val="323232"/>
                </a:solidFill>
                <a:latin typeface="Figtree"/>
              </a:rPr>
              <a:t>Other benchmarks and frameworks, a larger test set, and a second stage that escalates to Mix when Naive's retrieval looks weak.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Figtree"/>
              </a:rPr>
              <a:t>Conclusions</a:t>
            </a:r>
          </a:p>
        </p:txBody>
      </p:sp>
      <p:sp>
        <p:nvSpPr>
          <p:cNvPr id="3" name="TextBox 2"/>
          <p:cNvSpPr txBox="1"/>
          <p:nvPr/>
        </p:nvSpPr>
        <p:spPr>
          <a:xfrm>
            <a:off x="1005840" y="365760"/>
            <a:ext cx="10058400" cy="347472"/>
          </a:xfrm>
          <a:prstGeom prst="rect">
            <a:avLst/>
          </a:prstGeom>
          <a:noFill/>
        </p:spPr>
        <p:txBody>
          <a:bodyPr wrap="square" anchor="t" lIns="0" rIns="0" tIns="0" bIns="0">
            <a:spAutoFit/>
          </a:bodyPr>
          <a:lstStyle/>
          <a:p>
            <a:pPr algn="l">
              <a:lnSpc>
                <a:spcPct val="105000"/>
              </a:lnSpc>
              <a:spcAft>
                <a:spcPts val="600"/>
              </a:spcAft>
            </a:pPr>
            <a:r>
              <a:rPr sz="1600" b="0" i="0">
                <a:solidFill>
                  <a:srgbClr val="98A0AE"/>
                </a:solidFill>
                <a:latin typeface="Figtree"/>
              </a:rPr>
              <a:t>The problem</a:t>
            </a:r>
            <a:r>
              <a:rPr sz="1600" b="0" i="0">
                <a:solidFill>
                  <a:srgbClr val="C9CDD6"/>
                </a:solidFill>
                <a:latin typeface="Figtree"/>
              </a:rPr>
              <a:t>   ›   </a:t>
            </a:r>
            <a:r>
              <a:rPr sz="1600" b="0" i="0">
                <a:solidFill>
                  <a:srgbClr val="98A0AE"/>
                </a:solidFill>
                <a:latin typeface="Figtree"/>
              </a:rPr>
              <a:t>The method</a:t>
            </a:r>
            <a:r>
              <a:rPr sz="1600" b="0" i="0">
                <a:solidFill>
                  <a:srgbClr val="C9CDD6"/>
                </a:solidFill>
                <a:latin typeface="Figtree"/>
              </a:rPr>
              <a:t>   ›   </a:t>
            </a:r>
            <a:r>
              <a:rPr sz="1600" b="0" i="0">
                <a:solidFill>
                  <a:srgbClr val="98A0AE"/>
                </a:solidFill>
                <a:latin typeface="Figtree"/>
              </a:rPr>
              <a:t>The findings</a:t>
            </a:r>
            <a:r>
              <a:rPr sz="1600" b="0" i="0">
                <a:solidFill>
                  <a:srgbClr val="C9CDD6"/>
                </a:solidFill>
                <a:latin typeface="Figtree"/>
              </a:rPr>
              <a:t>   ›   </a:t>
            </a:r>
            <a:r>
              <a:rPr sz="1600" b="1" i="0">
                <a:solidFill>
                  <a:srgbClr val="004791"/>
                </a:solidFill>
                <a:latin typeface="Figtree"/>
              </a:rPr>
              <a:t>What it means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a:latin typeface="Figtree"/>
              </a:rPr>
              <a:t>2026-10-22</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latin typeface="Figtree"/>
              </a:rPr>
              <a:pPr/>
              <a:t>‹#›</a:t>
            </a:fld>
            <a:endParaRPr lang="sv-SE" dirty="0"/>
          </a:p>
        </p:txBody>
      </p:sp>
      <p:sp>
        <p:nvSpPr>
          <p:cNvPr id="6" name="TextBox 5"/>
          <p:cNvSpPr txBox="1"/>
          <p:nvPr/>
        </p:nvSpPr>
        <p:spPr>
          <a:xfrm>
            <a:off x="603504" y="1874519"/>
            <a:ext cx="10607040" cy="1005840"/>
          </a:xfrm>
          <a:prstGeom prst="rect">
            <a:avLst/>
          </a:prstGeom>
          <a:noFill/>
        </p:spPr>
        <p:txBody>
          <a:bodyPr wrap="square" anchor="t" lIns="0" rIns="0" tIns="0" bIns="0">
            <a:spAutoFit/>
          </a:bodyPr>
          <a:lstStyle/>
          <a:p>
            <a:pPr algn="l">
              <a:lnSpc>
                <a:spcPct val="110000"/>
              </a:lnSpc>
              <a:spcAft>
                <a:spcPts val="600"/>
              </a:spcAft>
            </a:pPr>
            <a:r>
              <a:rPr sz="2800" b="1" i="0">
                <a:solidFill>
                  <a:srgbClr val="004791"/>
                </a:solidFill>
                <a:latin typeface="Figtree"/>
              </a:rPr>
              <a:t>Route before you retrieve. </a:t>
            </a:r>
            <a:r>
              <a:rPr sz="2800" b="0" i="0">
                <a:solidFill>
                  <a:srgbClr val="1F2A44"/>
                </a:solidFill>
                <a:latin typeface="Figtree"/>
              </a:rPr>
              <a:t>The question alone often tells you whether the expensive retrieval is needed.</a:t>
            </a:r>
          </a:p>
        </p:txBody>
      </p:sp>
      <p:sp>
        <p:nvSpPr>
          <p:cNvPr id="7" name="TextBox 6"/>
          <p:cNvSpPr txBox="1"/>
          <p:nvPr/>
        </p:nvSpPr>
        <p:spPr>
          <a:xfrm>
            <a:off x="603504" y="3108960"/>
            <a:ext cx="10991088" cy="3108960"/>
          </a:xfrm>
          <a:prstGeom prst="rect">
            <a:avLst/>
          </a:prstGeom>
          <a:noFill/>
        </p:spPr>
        <p:txBody>
          <a:bodyPr wrap="square" anchor="t" lIns="0" rIns="0" tIns="0" bIns="0">
            <a:spAutoFit/>
          </a:bodyPr>
          <a:lstStyle/>
          <a:p>
            <a:pPr algn="l" marL="329184" indent="-329184">
              <a:lnSpc>
                <a:spcPct val="110000"/>
              </a:lnSpc>
              <a:spcAft>
                <a:spcPts val="1400"/>
              </a:spcAft>
              <a:buClr>
                <a:srgbClr val="004791"/>
              </a:buClr>
              <a:buFont typeface="Arial"/>
              <a:buChar char="■"/>
            </a:pPr>
            <a:r>
              <a:rPr sz="2200" b="1" i="0">
                <a:solidFill>
                  <a:srgbClr val="004791"/>
                </a:solidFill>
                <a:latin typeface="Figtree"/>
              </a:rPr>
              <a:t>Prediction.  </a:t>
            </a:r>
            <a:r>
              <a:rPr sz="2200" b="0" i="0">
                <a:solidFill>
                  <a:srgbClr val="323232"/>
                </a:solidFill>
                <a:latin typeface="Figtree"/>
              </a:rPr>
              <a:t>Both routers find Mix-needing questions far above chance. At its chosen threshold, ModernBERT is significantly more precise than TF-IDF and the type rule.</a:t>
            </a:r>
          </a:p>
          <a:p>
            <a:pPr algn="l" marL="329184" indent="-329184">
              <a:lnSpc>
                <a:spcPct val="110000"/>
              </a:lnSpc>
              <a:spcAft>
                <a:spcPts val="1400"/>
              </a:spcAft>
              <a:buClr>
                <a:srgbClr val="004791"/>
              </a:buClr>
              <a:buFont typeface="Arial"/>
              <a:buChar char="■"/>
            </a:pPr>
            <a:r>
              <a:rPr sz="2200" b="1" i="0">
                <a:solidFill>
                  <a:srgbClr val="004791"/>
                </a:solidFill>
                <a:latin typeface="Figtree"/>
              </a:rPr>
              <a:t>Cost.  </a:t>
            </a:r>
            <a:r>
              <a:rPr sz="2200" b="0" i="0">
                <a:solidFill>
                  <a:srgbClr val="323232"/>
                </a:solidFill>
                <a:latin typeface="Figtree"/>
              </a:rPr>
              <a:t>42% less time and an estimated 63% fewer tokens than always using Mix, keeping about 92% of correct answers, under an assumption.</a:t>
            </a:r>
          </a:p>
          <a:p>
            <a:pPr algn="l" marL="329184" indent="-329184">
              <a:lnSpc>
                <a:spcPct val="110000"/>
              </a:lnSpc>
              <a:spcAft>
                <a:spcPts val="1400"/>
              </a:spcAft>
              <a:buClr>
                <a:srgbClr val="004791"/>
              </a:buClr>
              <a:buFont typeface="Arial"/>
              <a:buChar char="■"/>
            </a:pPr>
            <a:r>
              <a:rPr sz="2200" b="1" i="0">
                <a:solidFill>
                  <a:srgbClr val="004791"/>
                </a:solidFill>
                <a:latin typeface="Figtree"/>
              </a:rPr>
              <a:t>Scope.  </a:t>
            </a:r>
            <a:r>
              <a:rPr sz="2200" b="0" i="0">
                <a:solidFill>
                  <a:srgbClr val="323232"/>
                </a:solidFill>
                <a:latin typeface="Figtree"/>
              </a:rPr>
              <a:t>One benchmark and judged labels. Validate on real queries before deploying.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latin typeface="Figtree"/>
              </a:rPr>
              <a:t>Thank you</a:t>
            </a:r>
          </a:p>
        </p:txBody>
      </p:sp>
      <p:sp>
        <p:nvSpPr>
          <p:cNvPr id="3" name="Subtitle 2"/>
          <p:cNvSpPr>
            <a:spLocks noGrp="1"/>
          </p:cNvSpPr>
          <p:nvPr>
            <p:ph type="subTitle" idx="1"/>
          </p:nvPr>
        </p:nvSpPr>
        <p:spPr/>
        <p:txBody>
          <a:bodyPr/>
          <a:lstStyle/>
          <a:p>
            <a:r>
              <a:rPr>
                <a:latin typeface="Figtree"/>
              </a:rPr>
              <a:t>Questions?</a:t>
            </a:r>
          </a:p>
        </p:txBody>
      </p:sp>
      <p:sp>
        <p:nvSpPr>
          <p:cNvPr id="4" name="TextBox 3"/>
          <p:cNvSpPr txBox="1"/>
          <p:nvPr/>
        </p:nvSpPr>
        <p:spPr>
          <a:xfrm>
            <a:off x="2194560" y="6199632"/>
            <a:ext cx="7799831" cy="365760"/>
          </a:xfrm>
          <a:prstGeom prst="rect">
            <a:avLst/>
          </a:prstGeom>
          <a:noFill/>
        </p:spPr>
        <p:txBody>
          <a:bodyPr wrap="square" anchor="t" lIns="0" rIns="0" tIns="0" bIns="0">
            <a:spAutoFit/>
          </a:bodyPr>
          <a:lstStyle/>
          <a:p>
            <a:pPr algn="ctr">
              <a:lnSpc>
                <a:spcPct val="105000"/>
              </a:lnSpc>
              <a:spcAft>
                <a:spcPts val="600"/>
              </a:spcAft>
            </a:pPr>
            <a:r>
              <a:rPr sz="1800" b="0" i="0">
                <a:solidFill>
                  <a:srgbClr val="DEF0FF"/>
                </a:solidFill>
                <a:latin typeface="Figtree"/>
              </a:rPr>
              <a:t>github.com/Dantecool02/Thesis_ericsson</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latin typeface="Figtree"/>
              </a:rPr>
              <a:pPr/>
              <a:t>‹#›</a:t>
            </a:fld>
            <a:endParaRPr lang="sv-SE"/>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