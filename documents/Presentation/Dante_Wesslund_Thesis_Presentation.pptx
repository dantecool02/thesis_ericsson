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5.svg" ContentType="image/svg+xml"/>
  <Override PartName="/ppt/media/image17.svg" ContentType="image/svg+xml"/>
  <Override PartName="/ppt/media/image19.svg" ContentType="image/svg+xml"/>
  <Override PartName="/ppt/media/image2.svg" ContentType="image/svg+xml"/>
  <Override PartName="/ppt/media/image21.svg" ContentType="image/svg+xml"/>
  <Override PartName="/ppt/media/image23.svg" ContentType="image/svg+xml"/>
  <Override PartName="/ppt/media/image4.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5"/>
  </p:notesMasterIdLst>
  <p:sldIdLst>
    <p:sldId id="256" r:id="rId4"/>
    <p:sldId id="257" r:id="rId3"/>
    <p:sldId id="258" r:id="rId2"/>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 id="288" r:id="rId43"/>
    <p:sldId id="289" r:id="rId44"/>
  </p:sldIdLst>
  <p:sldSz cx="12192000" cy="6858000"/>
  <p:notesSz cx="6858000" cy="9144000"/>
  <p:embeddedFontLst>
    <p:embeddedFont>
      <p:font typeface="Figtree" pitchFamily="2" charset="0"/>
      <p:regular r:id="rId6"/>
      <p:bold r:id="rId7"/>
      <p:italic r:id="rId8"/>
      <p:boldItalic r:id="rId9"/>
    </p:embeddedFont>
  </p:embeddedFontLst>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74" autoAdjust="0"/>
    <p:restoredTop sz="96327"/>
  </p:normalViewPr>
  <p:slideViewPr>
    <p:cSldViewPr snapToGrid="0">
      <p:cViewPr varScale="1">
        <p:scale>
          <a:sx n="78" d="100"/>
          <a:sy n="78" d="100"/>
        </p:scale>
        <p:origin x="52" y="1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3.xml"/><Relationship Id="rId3" Type="http://schemas.openxmlformats.org/officeDocument/2006/relationships/slide" Target="slides/slide2.xml"/><Relationship Id="rId4" Type="http://schemas.openxmlformats.org/officeDocument/2006/relationships/slide" Target="slides/slide1.xml"/><Relationship Id="rId5" Type="http://schemas.openxmlformats.org/officeDocument/2006/relationships/notesMaster" Target="notesMasters/notesMaster1.xml"/><Relationship Id="rId6" Type="http://schemas.openxmlformats.org/officeDocument/2006/relationships/font" Target="fonts/font1.fntdata"/><Relationship Id="rId7" Type="http://schemas.openxmlformats.org/officeDocument/2006/relationships/font" Target="fonts/font2.fntdata"/><Relationship Id="rId8" Type="http://schemas.openxmlformats.org/officeDocument/2006/relationships/font" Target="fonts/font3.fntdata"/><Relationship Id="rId9" Type="http://schemas.openxmlformats.org/officeDocument/2006/relationships/font" Target="fonts/font4.fntdata"/><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5.xml"/><Relationship Id="rId36" Type="http://schemas.openxmlformats.org/officeDocument/2006/relationships/slide" Target="slides/slide26.xml"/><Relationship Id="rId37" Type="http://schemas.openxmlformats.org/officeDocument/2006/relationships/slide" Target="slides/slide27.xml"/><Relationship Id="rId38" Type="http://schemas.openxmlformats.org/officeDocument/2006/relationships/slide" Target="slides/slide28.xml"/><Relationship Id="rId39" Type="http://schemas.openxmlformats.org/officeDocument/2006/relationships/slide" Target="slides/slide29.xml"/><Relationship Id="rId40" Type="http://schemas.openxmlformats.org/officeDocument/2006/relationships/slide" Target="slides/slide30.xml"/><Relationship Id="rId41" Type="http://schemas.openxmlformats.org/officeDocument/2006/relationships/slide" Target="slides/slide31.xml"/><Relationship Id="rId42" Type="http://schemas.openxmlformats.org/officeDocument/2006/relationships/slide" Target="slides/slide32.xml"/><Relationship Id="rId43" Type="http://schemas.openxmlformats.org/officeDocument/2006/relationships/slide" Target="slides/slide33.xml"/><Relationship Id="rId44"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BACA97-DCC5-D741-8303-D68B06D997A0}" type="datetimeFigureOut">
              <a:rPr lang="sv-SE" smtClean="0"/>
              <a:t>2025-12-03</a:t>
            </a:fld>
            <a:endParaRPr lang="sv-SE"/>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702129-24FE-4746-9897-C7E55345F5DD}" type="slidenum">
              <a:rPr lang="sv-SE" smtClean="0"/>
              <a:t>‹#›</a:t>
            </a:fld>
            <a:endParaRPr lang="sv-SE"/>
          </a:p>
        </p:txBody>
      </p:sp>
    </p:spTree>
    <p:extLst>
      <p:ext uri="{BB962C8B-B14F-4D97-AF65-F5344CB8AC3E}">
        <p14:creationId xmlns:p14="http://schemas.microsoft.com/office/powerpoint/2010/main" val="4061700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 to 0:30]</a:t>
            </a:r>
          </a:p>
          <a:p>
            <a:r>
              <a:t>Hello everyone. Before I start, can everyone see the title slide?</a:t>
            </a:r>
          </a:p>
          <a:p>
            <a:r>
              <a:t>My name is Dante Wesslund, and this is my master's thesis, Adaptive Hybrid Retrieval-Augmented Generation, done at Ericsson. Thank you to my supervisors, Arvid Eriksson at KTH and Peng Zhang at Ericsson, and to my examiner Pawel Herman.</a:t>
            </a:r>
          </a:p>
          <a:p>
            <a:r>
              <a:t>In one sentence: can a small, cheap classifier look at a question and decide, before any retrieval runs, whether the cheap or the expensive retrieval mode is needed, and does that save real cost?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[0:30 to 1:30]</a:t>
            </a:r>
          </a:p>
          <a:p>
            <a:r>
              <a:t>Retrieval-augmented generation grounds a language model in documents. The cheapest form is vector search: embed the question and fetch the most similar chunks. In LightRAG that is the Naive mode.</a:t>
            </a:r>
          </a:p>
          <a:p>
            <a:r>
              <a:t>Graph-enhanced retrieval adds an entity-relation graph, so the system can connect facts that live in different documents. That is LightRAG's Mix mode, and it helps on multi-hop questions.</a:t>
            </a:r>
          </a:p>
          <a:p>
            <a:r>
              <a:t>But it is expensive. In my runs Mix takes 24.4 seconds per query against 10.9 for Naive, about 2.2 times longer, and it uses roughly 5 times as many model tokens.</a:t>
            </a:r>
          </a:p>
          <a:p>
            <a:r>
              <a:t>And here is the key observation: of the 2,000 questions I judged, Mix was needed on only 327, about one in six. On almost half, 959, Naive was already enough. So a system that always runs Mix pays the graph premium on every question, but it changes the outcome on only about one in six.</a:t>
            </a:r>
          </a:p>
          <a:p>
            <a:r>
              <a:t>(The token numbers come from a 15-query instrumented subset. I return to that at the end.)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[1:30 to 2:40]</a:t>
            </a:r>
          </a:p>
          <a:p>
            <a:r>
              <a:t>Two real examples from my runs make the difference concrete.</a:t>
            </a:r>
          </a:p>
          <a:p>
            <a:r>
              <a:t>On the left: which film came out first, The Love Route or Engal Aasan? Each film has its own document with a release date, vector search fetches both, and both modes answer correctly. Mix adds nothing here, so the label is naive_enough and the right decision is the cheap mode.</a:t>
            </a:r>
          </a:p>
          <a:p>
            <a:r>
              <a:t>On the right: when was the director of Private Hell 36 born? This is a two-hop question. Vector search finds the film's page and even names the director, Don Siegel, but his birth date is in a different document that does not look similar to the question. Naive gives up. Mix's graph context links the film to the director entity, and it answers correctly: October 26, 1912. Here the expensive mode is needed.</a:t>
            </a:r>
          </a:p>
          <a:p>
            <a:r>
              <a:t>The whole thesis is about telling these two situations apart from the question alone.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[2:40 to 3:40]</a:t>
            </a:r>
          </a:p>
          <a:p>
            <a:r>
              <a:t>So the idea is to put a router in front of retrieval. It reads only the question, no retrieved text and no language-model call, and sends it to Naive or Mix.</a:t>
            </a:r>
          </a:p>
          <a:p>
            <a:r>
              <a:t>The router is trained on labels that record, for every question, which mode was actually enough. I will show how those labels are made in a moment.</a:t>
            </a:r>
          </a:p>
          <a:p>
            <a:r>
              <a:t>Here is where we end up, so you know what to listen for. My best router, a fine-tuned ModernBERT, cuts mean time per query by 42 percent compared with always running Mix, cuts estimated model tokens by 63 percent, and keeps about 92 percent of the answers that always-Mix gets right, under an assumption I will make explicit.</a:t>
            </a:r>
          </a:p>
          <a:p>
            <a:r>
              <a:t>The rest of the talk is about how solid those numbers are.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[3:40 to 4:25]</a:t>
            </a:r>
          </a:p>
          <a:p>
            <a:r>
              <a:t>Formally, the research question is: within one fixed Hybrid RAG setting, how well can a lightweight query-only classifier predict the minimum sufficient retrieval mode, and what does routing with it save?</a:t>
            </a:r>
          </a:p>
          <a:p>
            <a:r>
              <a:t>Why only the question? Because the point is to decide before any retrieval cost is paid. Anything that inspects retrieved text has already paid for at least one retrieval run.</a:t>
            </a:r>
          </a:p>
          <a:p>
            <a:r>
              <a:t>I split it into two sub-questions. First, prediction: how does a fine-tuned encoder, ModernBERT, compare to a simple TF-IDF baseline, and to a heuristic that uses the benchmark's question type? Second, cost: how much time and model-token cost does routing save relative to always running Mix, and what does it risk in answer quality?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[4:25 to 5:10]  (shorten to one sentence if running long)</a:t>
            </a:r>
          </a:p>
          <a:p>
            <a:r>
              <a:t>Where does this sit? Adaptive-RAG is the closest precedent: a small classifier estimates question complexity and picks how much retrieval to do. RouterBench frames routing between language models as a cost-quality trade-off. GraphRAG and LightRAG show that graph retrieval helps on multi-hop questions, and also document its cost.</a:t>
            </a:r>
          </a:p>
          <a:p>
            <a:r>
              <a:t>What none of them asks is how to choose between a vector mode and a graph-enhanced mode inside one framework, from the question alone. That is the gap I study, with labels derived by an LLM judge and paired statistical tests on the results.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[5:10]  Moving on to the method: how I turned benchmark questions into training labels, which routers I trained, and how I evaluated them.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[5:10 to 6:25]</a:t>
            </a:r>
          </a:p>
          <a:p>
            <a:r>
              <a:t>This is the whole pipeline. I took 2,000 questions from 2WikiMultihopQA, a public benchmark whose questions need several documents by construction. Their documents are indexed once in LightRAG, which builds both the vector index and the entity-relation graph.</a:t>
            </a:r>
          </a:p>
          <a:p>
            <a:r>
              <a:t>Every question is then run through both Naive and Mix, so for each question I have two answers and two execution times.</a:t>
            </a:r>
          </a:p>
          <a:p>
            <a:r>
              <a:t>Then an LLM judge, Gemini, gets the question, the gold answer from the benchmark, and both candidate answers, and decides which mode was enough. Giving it the gold answer turns judging into a constrained comparison rather than open-ended scoring.</a:t>
            </a:r>
          </a:p>
          <a:p>
            <a:r>
              <a:t>This labelling is done once, offline. The bottom row is the learning part: build a binary dataset, train the routers, and evaluate them both as classifiers and as routing policies.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[6:25 to 7:25]</a:t>
            </a:r>
          </a:p>
          <a:p>
            <a:r>
              <a:t>The judge assigns one of three classes. If Naive's answer is correct, the question is naive_enough. If Naive is not enough but Mix is correct, it is mix_required. If neither is correct, none_enough.</a:t>
            </a:r>
          </a:p>
          <a:p>
            <a:r>
              <a:t>Importantly, when both modes are correct the judge is instructed to choose Naive, so the label is the cheapest mode that was sufficient.</a:t>
            </a:r>
          </a:p>
          <a:p>
            <a:r>
              <a:t>Out of 2000 judged questions, 959 are naive_enough, 327 mix_required, and 714, about a third, are none_enough. Those are excluded from training, because when both modes fail, choosing between them cannot improve the answer. I come back to what that third means at the end.</a:t>
            </a:r>
          </a:p>
          <a:p>
            <a:r>
              <a:t>That leaves 1286 questions, about a quarter of them Mix-required, split into train, validation and test, stratified by question type and label.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[7:25 to 8:25]</a:t>
            </a:r>
          </a:p>
          <a:p>
            <a:r>
              <a:t>I compare two routers that both see only the question text.</a:t>
            </a:r>
          </a:p>
          <a:p>
            <a:r>
              <a:t>The baseline is TF-IDF with logistic regression: it represents a question by its words and word pairs, weighted by how rare they are. It trains in seconds and tells us how much of the routing signal is purely lexical.</a:t>
            </a:r>
          </a:p>
          <a:p>
            <a:r>
              <a:t>The second is ModernBERT, a recent pretrained encoder, fine-tuned with a class-balanced loss and early stopping. I trained it with three random seeds and average their scores into one ensemble, so the result does not hinge on one lucky seed.</a:t>
            </a:r>
          </a:p>
          <a:p>
            <a:r>
              <a:t>For both, the decision threshold is chosen on the validation split and then frozen before touching the test set.</a:t>
            </a:r>
          </a:p>
          <a:p>
            <a:r>
              <a:t>As a reference I also include a rule that sends a question to Mix whenever the benchmark calls it compositional. It cannot be deployed, because real questions have no such label, but it shows how much of the signal is simply question structure.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[8:25 to 9:25]</a:t>
            </a:r>
          </a:p>
          <a:p>
            <a:r>
              <a:t>Evaluation has two sides. As classifiers, the main metric is AUPRC on the minority class, mix_required, because the classes are imbalanced; a random router would score 0.254, the share of Mix-required questions. I also report precision, recall, F1 and accuracy.</a:t>
            </a:r>
          </a:p>
          <a:p>
            <a:r>
              <a:t>As routing policies, I simulate what each router would have cost on the test set, using the precomputed answers and times: mean routed time, which is measured for every query, and model tokens, which are estimated from per-mode means. I separate the two kinds of mistakes: under-routing, sending a Mix-needing question to Naive, which risks the answer, and over-routing, sending a Naive-sufficient question to Mix, which only wastes cost.</a:t>
            </a:r>
          </a:p>
          <a:p>
            <a:r>
              <a:t>Because all routers are scored on the same 193 questions, the comparisons are paired: paired bootstrap intervals for differences, permutation tests, McNemar's test on individual routing decisions, and Holm correction for testing seven metrics.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[9:25]  Now the results: first how well the routers predict the label, which is sub-question one; then what routing costs and risks, which is sub-question two; then where the signal comes from.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[9:25 to 10:40]</a:t>
            </a:r>
          </a:p>
          <a:p>
            <a:r>
              <a:t>Here are both routers on the 193 test questions. TF-IDF is light blue, ModernBERT dark blue.</a:t>
            </a:r>
          </a:p>
          <a:p>
            <a:r>
              <a:t>First the good news: both find Mix-needing questions far above chance. AUPRC is 0.74 for TF-IDF and 0.77 for ModernBERT, about three times the chance level of 0.254 shown by the dashed line, and AUROC is around 0.9. So the routing decision is partly predictable from the question alone. That is the first half of the answer to sub-question one.</a:t>
            </a:r>
          </a:p>
          <a:p>
            <a:r>
              <a:t>ModernBERT has the higher point estimate on five of the six metrics. The clearest difference is precision: 0.77 against 0.56. When ModernBERT says Mix, it is usually right.</a:t>
            </a:r>
          </a:p>
          <a:p>
            <a:r>
              <a:t>The exception is recall: TF-IDF catches more of the Mix-needing questions, 0.78 against 0.67, because it sends more questions to Mix.</a:t>
            </a:r>
          </a:p>
          <a:p>
            <a:r>
              <a:t>Which of these differences are real, and which could be noise on 193 questions? That is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[10:40 to 12:10]</a:t>
            </a:r>
          </a:p>
          <a:p>
            <a:r>
              <a:t>This slide is the statistical core, so let me say how to read it. Each row is one metric. The dot is the difference, ModernBERT minus TF-IDF, and the bar is its 95 percent paired-bootstrap interval. The dashed line is zero: if a bar crosses it, the data cannot tell the two routers apart on that metric. Blue rows are significant after Holm correction for testing seven metrics; grey rows are not.</a:t>
            </a:r>
          </a:p>
          <a:p>
            <a:r>
              <a:t>Precision: plus 0.21, with the whole interval well to the right of zero, Holm-adjusted p below 0.001. Accuracy: plus 0.078, adjusted p 0.035. McNemar's test agrees: ModernBERT gets 21 questions right that TF-IDF gets wrong, and the reverse happens 6 times.</a:t>
            </a:r>
          </a:p>
          <a:p>
            <a:r>
              <a:t>Everything else, F1, AUPRC, AUROC, balanced accuracy, and the lower recall, has an interval that includes zero. I read that as undecided, not as equal: with only 49 Mix-required test questions, differences of a few hundredths in AUPRC cannot be resolved.</a:t>
            </a:r>
          </a:p>
          <a:p>
            <a:r>
              <a:t>So the honest answer to sub-question one is: both routers predict the label well above chance, and ModernBERT is significantly more selective than TF-IDF. I cannot claim it ranks questions better overall.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[12:10 to 13:10]</a:t>
            </a:r>
          </a:p>
          <a:p>
            <a:r>
              <a:t>Translating that into routing decisions. On the left, unnecessary Mix calls: questions where Naive was enough but the router chose Mix. TF-IDF makes 30 of them, ModernBERT 10. That difference is clear: ModernBERT avoids 20 of TF-IDF's mistakes and makes no new ones, McNemar p well below 0.001.</a:t>
            </a:r>
          </a:p>
          <a:p>
            <a:r>
              <a:t>On the right, missed Mix calls, which are the dangerous error because the cheap mode then fails. ModernBERT misses 16, TF-IDF 11. That gap rests on 6 versus 1 questions and is not significant.</a:t>
            </a:r>
          </a:p>
          <a:p>
            <a:r>
              <a:t>So the trade is: far less wasted compute, for a small and statistically unresolved increase in risk. Which side you prefer depends on what a wasted Mix call costs compared with a degraded answer in a given deployment.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[13:10 to 14:25]</a:t>
            </a:r>
          </a:p>
          <a:p>
            <a:r>
              <a:t>Now sub-question two, cost. Left: mean time per query, measured on every test question. Always-Naive takes 10.9 seconds, always-Mix 24.4. TF-IDF routing gets 17.0, ModernBERT 14.1: a 42 percent reduction relative to always-Mix. And the difference between the two routers, about 2.9 seconds per query, is itself significant, p = 0.003.</a:t>
            </a:r>
          </a:p>
          <a:p>
            <a:r>
              <a:t>Right: model tokens per query. ModernBERT routes at about 6,666 tokens against 17,857 for always-Mix, a 63 percent reduction; TF-IDF saves 52 percent. The saving is larger in tokens than in time because Mix adds an extra language-model call and a much larger context, while wall-clock time also includes network latency.</a:t>
            </a:r>
          </a:p>
          <a:p>
            <a:r>
              <a:t>Two caveats I want to be upfront about. The token figures are estimates, from per-mode means measured on 15 queries; the time figures are measured for every query. And the router's own inference time, three encoder passes for the ensemble, is not included. I expect it to be small next to retrieval calls of 11 to 24 seconds, but I did not measure 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[14:25 to 15:25]</a:t>
            </a:r>
          </a:p>
          <a:p>
            <a:r>
              <a:t>What does the saving cost in answers? I did not re-judge the answers each policy would pick, so this uses one explicit assumption: that Mix is correct whenever Naive was. Then the only way a policy can lose an answer is by under-routing, and the share of always-Mix's correct answers it keeps is one minus the under-routing rate.</a:t>
            </a:r>
          </a:p>
          <a:p>
            <a:r>
              <a:t>Plotted against estimated tokens: always-Naive is cheapest but keeps only 74.6 percent. ModernBERT keeps 91.7 percent at 37 percent of always-Mix's token cost. TF-IDF and the type-only rule keep 94.3 percent at about half the cost.</a:t>
            </a:r>
          </a:p>
          <a:p>
            <a:r>
              <a:t>So ModernBERT gives up about eight points of answers, 91.7 against 100, in exchange for cutting almost two thirds of the estimated token cost. And remember from slide 15 that the difference between the two routers in missed Mix calls is not significant, whereas the difference in time is.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[15:25 to 16:25]  (shorten to one sentence if running long)</a:t>
            </a:r>
          </a:p>
          <a:p>
            <a:r>
              <a:t>Routing is not one fixed point. Each router has a threshold, and sweeping it from 0 to 1 traces a curve from always-Mix on the right to always-Naive on the left. The y-axis is F1 on the Mix-required class, the x-axis mean routed time.</a:t>
            </a:r>
          </a:p>
          <a:p>
            <a:r>
              <a:t>Over a broad middle range both routers sit well above always-Mix: higher routing F1 at much lower time. At the low-time end, below about 13 seconds, F1 falls under always-Mix's, because the router then sends almost everything to Naive.</a:t>
            </a:r>
          </a:p>
          <a:p>
            <a:r>
              <a:t>The diamonds are the thresholds chosen on validation. ModernBERT's, 0.44, sits near its peak. TF-IDF's, 0.48, is a few hundredths below the best point on its own curve. The plateau is broad, so the choice is not brittle.</a:t>
            </a:r>
          </a:p>
          <a:p>
            <a:r>
              <a:t>Practically, the threshold is a dial a deployment can turn to match its own cost of a wasted Mix call against a missed one.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[16:25 to 17:40]</a:t>
            </a:r>
          </a:p>
          <a:p>
            <a:r>
              <a:t>Where does the signal come from? This chart shows how often each benchmark question type needs Mix. Comparison questions almost never do, 12 of 594. Compositional questions, like the Private Hell 36 example, need it 58 percent of the time, and they make up 254 of the 327 Mix-required questions.</a:t>
            </a:r>
          </a:p>
          <a:p>
            <a:r>
              <a:t>That is why the type-only rule is strong: Mix for compositional, Naive otherwise, reaches F1 0.67. But it uses a label that real queries do not have.</a:t>
            </a:r>
          </a:p>
          <a:p>
            <a:r>
              <a:t>ModernBERT, reading only the text, is significantly more precise than that rule. Its accuracy advantage holds only before multiple-testing correction, and TF-IDF does not beat the rule on anything. Within compositional questions, ModernBERT's precision advantage over TF-IDF is also significant, as an exploratory test.</a:t>
            </a:r>
          </a:p>
          <a:p>
            <a:r>
              <a:t>And there is a clear weak spot: on bridge-comparison questions ModernBERT finds only 1 of 8 Mix-required ones.</a:t>
            </a:r>
          </a:p>
          <a:p>
            <a:r>
              <a:t>So I read the router as learning question structure from phrasing, plus some precision on top. Useful, but part of the signal is benchmark-specific, which matters for transfer.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[17:40 to 18:40]  (shorten to one sentence if running long)</a:t>
            </a:r>
          </a:p>
          <a:p>
            <a:r>
              <a:t>What does this mean in practice, for example at Ericsson where the corpus is internal technical documentation?</a:t>
            </a:r>
          </a:p>
          <a:p>
            <a:r>
              <a:t>First, the router is cheap to run and tunable: no language-model call at query time, and the threshold sets where you sit on the cost curve. It is not free to set up, though: every training label requires running both modes and the judge once.</a:t>
            </a:r>
          </a:p>
          <a:p>
            <a:r>
              <a:t>Second, it must be validated on the target workload. Part of what it learned is the structure of this benchmark. Internal documentation has no gold answers, so labelling would need a small human-labelled set or a different judging protocol.</a:t>
            </a:r>
          </a:p>
          <a:p>
            <a:r>
              <a:t>Third, routing has a ceiling: 36 percent of the questions failed in both modes. For those, choosing between Naive and Mix cannot help; they need a better end-to-end pipeline.</a:t>
            </a:r>
          </a:p>
          <a:p>
            <a:r>
              <a:t>One ethical point: a router can serve some kinds of question systematically worse. Here ModernBERT sent 7 of the 8 Mix-required bridge-comparison questions to Naive, so a deployment should monitor quality per question segment, not only on average. On sustainability: fewer Mix calls mean fewer tokens and less time, which should lower energy use, although I did not measure energy.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[18:40 to 19:40]</a:t>
            </a:r>
          </a:p>
          <a:p>
            <a:r>
              <a:t>I want to be explicit about the limits.</a:t>
            </a:r>
          </a:p>
          <a:p>
            <a:r>
              <a:t>The labels come from an LLM judge, and the same Gemini model both wrote and judged the answers, with no human check. Giving the judge the gold answer reduces the risk, but shared bias is possible; the fix is a hand-validated sample and a second judge from another model family.</a:t>
            </a:r>
          </a:p>
          <a:p>
            <a:r>
              <a:t>Token costs come from 15 instrumented queries, so they are preliminary; the fix is logging tokens for every query.</a:t>
            </a:r>
          </a:p>
          <a:p>
            <a:r>
              <a:t>It is one benchmark, chosen partly because it gave a balanced label split, one framework, and a split that is random by row, so similar question templates appear on both sides.</a:t>
            </a:r>
          </a:p>
          <a:p>
            <a:r>
              <a:t>193 test questions with 49 positives cannot resolve small ranking differences.</a:t>
            </a:r>
          </a:p>
          <a:p>
            <a:r>
              <a:t>And the kept-answers figure rests on an assumption that re-judging each policy's answers would remove.</a:t>
            </a:r>
          </a:p>
          <a:p>
            <a:r>
              <a:t>What these do not change: the time saving is measured on every test query, and the precision gain is significant on the labels as defined. What they limit is how far the numbers transfer.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[19:40 to 20:40]  Leave this slide up during the questions.</a:t>
            </a:r>
          </a:p>
          <a:p>
            <a:r>
              <a:t>To conclude, and to answer the two sub-questions directly.</a:t>
            </a:r>
          </a:p>
          <a:p>
            <a:r>
              <a:t>One, prediction: from the question alone, both routers find Mix-needing questions at about three times chance. ModernBERT is significantly more precise than TF-IDF and than the type-only rule; whether it ranks questions better is unresolved at this test size.</a:t>
            </a:r>
          </a:p>
          <a:p>
            <a:r>
              <a:t>Two, cost: routing with ModernBERT cuts mean time by 42 percent and estimated tokens by 63 percent compared with always running Mix, while keeping about 92 percent of judged-correct answers under the stated assumption.</a:t>
            </a:r>
          </a:p>
          <a:p>
            <a:r>
              <a:t>Concretely, my part of the work was to design the labelling protocol, run both modes on all 2,000 questions, build the dataset, train both routers and do the statistical analysis; Ericsson provided the problem setting and supervision. [Check this sentence is accurate before the talk.]</a:t>
            </a:r>
          </a:p>
          <a:p>
            <a:r>
              <a:t>The contributions are the study itself, a judge-labelled routing dataset with an open and reproducible pipeline, and the evidence that the encoder's advantage lies in precision, which is exactly what translates into cost.</a:t>
            </a:r>
          </a:p>
          <a:p>
            <a:r>
              <a:t>Thank you, I am happy to take questions.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section. Jump here by slide number when a question needs the detail (type the number and press Return in Keynote).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for: 'Is ModernBERT actually better?' / 'Show me the statistics.' Thesis Table 4.2.</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for: 'Why an ensemble?' / 'Is it a lucky seed?' Thesis Table 4.5.</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for: 'Is the router just learning the question type?' / per-slice questions / bridge-comparison weakness. Thesis Table 4.4.</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for: token-estimate questions, under/over-routing, answer-retention assumption. Thesis Table 4.3.</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for: 'Why exclude none_enough?' / 'How were questions selected?' Thesis Tables 3.1-3.2.</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for: 'Can you trust the labels?' Answer: judged supervision, not ground truth; the gold answer makes it a constrained comparison; same-model bias not measured; next step is human validation and a second judge family.</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for: ranking quality questions. AUPRC 0.742 vs 0.769; AUROC 0.892 vs 0.910; neither difference significant.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for: 'Is 193 test queries enough?' / 'Why not cross-validation?' (the fixed split kept threshold selection clean; CV is a fair suggestion for future work). Thesis Section 5.6.5.</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for: 'Why not run Naive first and escalate when it fails?' Answer: even a perfect cascade averages 19.5 s per query vs 14.1 s for the query-only router, and the Mix-needing questions wait about 59 s because they pay for both modes. A cascade would recover answers the router misses, so it is a different point on the trade-off, and combining both (route first, escalate on admitted failure) is natural future work. Clearly say this is a back-of-the-envelope estimate, not a thesis result.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for configuration questions. Thesis Appendix B.</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for: questions about AI assistance. Keep it factual and brief.</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5.png"/><Relationship Id="rId5" Type="http://schemas.openxmlformats.org/officeDocument/2006/relationships/image" Target="../media/image6.svg"/><Relationship Id="rId6" Type="http://schemas.openxmlformats.org/officeDocument/2006/relationships/image" Target="../media/image7.png"/><Relationship Id="rId7" Type="http://schemas.openxmlformats.org/officeDocument/2006/relationships/image" Target="../media/image8.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image" Target="../media/image11.png"/><Relationship Id="rId5" Type="http://schemas.openxmlformats.org/officeDocument/2006/relationships/image" Target="../media/image12.svg"/><Relationship Id="rId6" Type="http://schemas.openxmlformats.org/officeDocument/2006/relationships/image" Target="../media/image7.png"/><Relationship Id="rId7" Type="http://schemas.openxmlformats.org/officeDocument/2006/relationships/image" Target="../media/image8.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g"/><Relationship Id="rId3" Type="http://schemas.openxmlformats.org/officeDocument/2006/relationships/image" Target="../media/image7.png"/><Relationship Id="rId4" Type="http://schemas.openxmlformats.org/officeDocument/2006/relationships/image" Target="../media/image8.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15.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17.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image" Target="../media/image14.png"/><Relationship Id="rId5" Type="http://schemas.openxmlformats.org/officeDocument/2006/relationships/image" Target="../media/image15.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8.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17.svg"/><Relationship Id="rId4" Type="http://schemas.openxmlformats.org/officeDocument/2006/relationships/image" Target="../media/image7.png"/><Relationship Id="rId5" Type="http://schemas.openxmlformats.org/officeDocument/2006/relationships/image" Target="../media/image8.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8.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19.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 Id="rId3" Type="http://schemas.openxmlformats.org/officeDocument/2006/relationships/image" Target="../media/image21.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19.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 Id="rId3" Type="http://schemas.openxmlformats.org/officeDocument/2006/relationships/image" Target="../media/image23.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19.sv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 Id="rId3" Type="http://schemas.openxmlformats.org/officeDocument/2006/relationships/image" Target="../media/image21.sv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19.sv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 Id="rId3" Type="http://schemas.openxmlformats.org/officeDocument/2006/relationships/image" Target="../media/image23.sv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image" Target="../media/image3.png"/><Relationship Id="rId5" Type="http://schemas.openxmlformats.org/officeDocument/2006/relationships/image" Target="../media/image4.svg"/><Relationship Id="rId6" Type="http://schemas.openxmlformats.org/officeDocument/2006/relationships/image" Target="../media/image5.png"/><Relationship Id="rId7" Type="http://schemas.openxmlformats.org/officeDocument/2006/relationships/image" Target="../media/image6.sv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image" Target="../media/image9.png"/><Relationship Id="rId5" Type="http://schemas.openxmlformats.org/officeDocument/2006/relationships/image" Target="../media/image10.svg"/><Relationship Id="rId6" Type="http://schemas.openxmlformats.org/officeDocument/2006/relationships/image" Target="../media/image11.png"/><Relationship Id="rId7" Type="http://schemas.openxmlformats.org/officeDocument/2006/relationships/image" Target="../media/image12.sv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 Id="rId6" Type="http://schemas.openxmlformats.org/officeDocument/2006/relationships/image" Target="../media/image28.png"/><Relationship Id="rId7" Type="http://schemas.openxmlformats.org/officeDocument/2006/relationships/image" Target="../media/image29.png"/><Relationship Id="rId8" Type="http://schemas.openxmlformats.org/officeDocument/2006/relationships/image" Target="../media/image30.png"/><Relationship Id="rId9" Type="http://schemas.openxmlformats.org/officeDocument/2006/relationships/image" Target="../media/image31.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KTH blue">
    <p:bg>
      <p:bgPr>
        <a:solidFill>
          <a:schemeClr val="accent1"/>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6D38D80F-8198-3D50-0CAB-FB287588B37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3936" b="32409"/>
          <a:stretch/>
        </p:blipFill>
        <p:spPr>
          <a:xfrm>
            <a:off x="-1" y="1"/>
            <a:ext cx="3177767" cy="4635374"/>
          </a:xfrm>
          <a:prstGeom prst="rect">
            <a:avLst/>
          </a:prstGeom>
        </p:spPr>
      </p:pic>
      <p:pic>
        <p:nvPicPr>
          <p:cNvPr id="8" name="Bild 7">
            <a:extLst>
              <a:ext uri="{FF2B5EF4-FFF2-40B4-BE49-F238E27FC236}">
                <a16:creationId xmlns:a16="http://schemas.microsoft.com/office/drawing/2014/main" id="{70792B10-D270-C2C6-5B88-13B9E3D50A01}"/>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369C0258-E083-684F-B81E-2491FB4EFBD1}" type="datetime1">
              <a:rPr lang="sv-SE" smtClean="0"/>
              <a:t>2025-12-03</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2478540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063A90AC-AA0F-4983-942B-962F71B301C4}"/>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3936" b="32409"/>
          <a:stretch/>
        </p:blipFill>
        <p:spPr>
          <a:xfrm>
            <a:off x="-1" y="1"/>
            <a:ext cx="3177767" cy="4635374"/>
          </a:xfrm>
          <a:prstGeom prst="rect">
            <a:avLst/>
          </a:prstGeom>
        </p:spPr>
      </p:pic>
      <p:pic>
        <p:nvPicPr>
          <p:cNvPr id="10" name="Bild 9">
            <a:extLst>
              <a:ext uri="{FF2B5EF4-FFF2-40B4-BE49-F238E27FC236}">
                <a16:creationId xmlns:a16="http://schemas.microsoft.com/office/drawing/2014/main" id="{73BDFF50-BF25-9A02-09D1-C21E45C0BA8F}"/>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D7F93862-881E-DF46-AD81-FDB1501BAD48}" type="datetime1">
              <a:rPr lang="sv-SE" smtClean="0"/>
              <a:t>2025-12-03</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966584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ktangel 6">
            <a:extLst>
              <a:ext uri="{FF2B5EF4-FFF2-40B4-BE49-F238E27FC236}">
                <a16:creationId xmlns:a16="http://schemas.microsoft.com/office/drawing/2014/main" id="{E4E20116-AB17-4A1A-F8AD-05FA68213302}"/>
              </a:ext>
            </a:extLst>
          </p:cNvPr>
          <p:cNvSpPr/>
          <p:nvPr userDrawn="1"/>
        </p:nvSpPr>
        <p:spPr>
          <a:xfrm>
            <a:off x="0" y="0"/>
            <a:ext cx="12192000" cy="6858000"/>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A1A0D637-CC39-0F47-97F1-76AAE59A5700}" type="datetime1">
              <a:rPr lang="sv-SE" smtClean="0"/>
              <a:t>2025-12-03</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algn="l">
              <a:spcAft>
                <a:spcPts val="800"/>
              </a:spcAft>
            </a:pPr>
            <a:r>
              <a:rPr lang="en-US" sz="1100" noProof="0" dirty="0">
                <a:latin typeface="+mj-lt"/>
              </a:rPr>
              <a:t>Change background image</a:t>
            </a:r>
          </a:p>
          <a:p>
            <a:pPr marL="162900" indent="-162900" algn="l">
              <a:spcAft>
                <a:spcPts val="600"/>
              </a:spcAft>
              <a:buFont typeface="+mj-lt"/>
              <a:buAutoNum type="arabicPeriod"/>
            </a:pPr>
            <a:r>
              <a:rPr lang="en-US" sz="1000" noProof="0" dirty="0"/>
              <a:t>Select Design &gt; Format Background.</a:t>
            </a:r>
          </a:p>
          <a:p>
            <a:pPr marL="162900" indent="-162900" algn="l">
              <a:spcAft>
                <a:spcPts val="600"/>
              </a:spcAft>
              <a:buFont typeface="+mj-lt"/>
              <a:buAutoNum type="arabicPeriod"/>
            </a:pPr>
            <a:r>
              <a:rPr lang="en-US" sz="1000" noProof="0" dirty="0"/>
              <a:t>In the Format Background pane, select Picture or texture fill.</a:t>
            </a:r>
          </a:p>
          <a:p>
            <a:pPr marL="162900" indent="-162900" algn="l">
              <a:spcAft>
                <a:spcPts val="600"/>
              </a:spcAft>
              <a:buFont typeface="+mj-lt"/>
              <a:buAutoNum type="arabicPeriod"/>
            </a:pPr>
            <a:r>
              <a:rPr lang="en-US" sz="1000" noProof="0" dirty="0"/>
              <a:t>Select File.</a:t>
            </a:r>
          </a:p>
          <a:p>
            <a:pPr marL="162900" indent="-162900" algn="l">
              <a:spcAft>
                <a:spcPts val="600"/>
              </a:spcAft>
              <a:buFont typeface="+mj-lt"/>
              <a:buAutoNum type="arabicPeriod"/>
            </a:pPr>
            <a:r>
              <a:rPr lang="en-US" sz="1000" noProof="0" dirty="0"/>
              <a:t>In the Insert Picture dialog box, choose the picture you want to use and then select Insert.</a:t>
            </a:r>
          </a:p>
        </p:txBody>
      </p:sp>
    </p:spTree>
    <p:extLst>
      <p:ext uri="{BB962C8B-B14F-4D97-AF65-F5344CB8AC3E}">
        <p14:creationId xmlns:p14="http://schemas.microsoft.com/office/powerpoint/2010/main" val="1939952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Title/chapter, light blue">
    <p:bg>
      <p:bgPr>
        <a:solidFill>
          <a:schemeClr val="accent4"/>
        </a:solidFill>
        <a:effectLst/>
      </p:bgPr>
    </p:bg>
    <p:spTree>
      <p:nvGrpSpPr>
        <p:cNvPr id="1" name=""/>
        <p:cNvGrpSpPr/>
        <p:nvPr/>
      </p:nvGrpSpPr>
      <p:grpSpPr>
        <a:xfrm>
          <a:off x="0" y="0"/>
          <a:ext cx="0" cy="0"/>
          <a:chOff x="0" y="0"/>
          <a:chExt cx="0" cy="0"/>
        </a:xfrm>
      </p:grpSpPr>
      <p:pic>
        <p:nvPicPr>
          <p:cNvPr id="13" name="Bild 12">
            <a:extLst>
              <a:ext uri="{FF2B5EF4-FFF2-40B4-BE49-F238E27FC236}">
                <a16:creationId xmlns:a16="http://schemas.microsoft.com/office/drawing/2014/main" id="{90C470E2-DC28-87C0-F617-C04E8F72383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FC84D86F-77A2-B649-9DAB-4D28280CD96F}" type="datetime1">
              <a:rPr lang="sv-SE" smtClean="0"/>
              <a:t>2025-12-03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3308359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chapter, image,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75DBF22-A5DA-3B43-92C3-F6BCD51A4216}" type="datetime1">
              <a:rPr lang="sv-SE" smtClean="0"/>
              <a:t>2025-12-03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195098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Title/chapter, sand">
    <p:bg>
      <p:bgPr>
        <a:solidFill>
          <a:schemeClr val="bg2"/>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3B3563A2-9CD9-4FFB-4072-1AE98552F2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0F5ACA-7455-4642-BFE0-35A3360E2D3F}" type="datetime1">
              <a:rPr lang="sv-SE" smtClean="0"/>
              <a:t>2025-12-03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6899389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chapter, image,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7029E1-9B44-DE43-98B9-EBAFD8B9E3F1}" type="datetime1">
              <a:rPr lang="sv-SE" smtClean="0"/>
              <a:t>2025-12-03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Tree>
    <p:extLst>
      <p:ext uri="{BB962C8B-B14F-4D97-AF65-F5344CB8AC3E}">
        <p14:creationId xmlns:p14="http://schemas.microsoft.com/office/powerpoint/2010/main" val="3734903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p:cSld name="Title/chapter, KTH blue">
    <p:bg>
      <p:bgPr>
        <a:solidFill>
          <a:schemeClr val="accent1"/>
        </a:solidFill>
        <a:effectLst/>
      </p:bgPr>
    </p:bg>
    <p:spTree>
      <p:nvGrpSpPr>
        <p:cNvPr id="1" name=""/>
        <p:cNvGrpSpPr/>
        <p:nvPr/>
      </p:nvGrpSpPr>
      <p:grpSpPr>
        <a:xfrm>
          <a:off x="0" y="0"/>
          <a:ext cx="0" cy="0"/>
          <a:chOff x="0" y="0"/>
          <a:chExt cx="0" cy="0"/>
        </a:xfrm>
      </p:grpSpPr>
      <p:pic>
        <p:nvPicPr>
          <p:cNvPr id="9" name="Bild 8">
            <a:extLst>
              <a:ext uri="{FF2B5EF4-FFF2-40B4-BE49-F238E27FC236}">
                <a16:creationId xmlns:a16="http://schemas.microsoft.com/office/drawing/2014/main" id="{BD7C2495-EEC2-B0B4-E314-5E0AAC7DA05C}"/>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pic>
        <p:nvPicPr>
          <p:cNvPr id="8" name="Bild 7">
            <a:extLst>
              <a:ext uri="{FF2B5EF4-FFF2-40B4-BE49-F238E27FC236}">
                <a16:creationId xmlns:a16="http://schemas.microsoft.com/office/drawing/2014/main" id="{2A6CC77B-C027-6CAF-7D4C-2E3A15A51698}"/>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EECCBBAF-5C49-D145-9814-61A8103632A9}" type="datetime1">
              <a:rPr lang="sv-SE" smtClean="0"/>
              <a:t>2025-12-03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1096779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KTH blue">
    <p:bg>
      <p:bgPr>
        <a:solidFill>
          <a:schemeClr val="accent1"/>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823D8581-A4D9-BE4A-AEA5-9282CF05EB42}" type="datetime1">
              <a:rPr lang="sv-SE" smtClean="0"/>
              <a:t>2025-12-03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pic>
        <p:nvPicPr>
          <p:cNvPr id="9" name="Bild 8">
            <a:extLst>
              <a:ext uri="{FF2B5EF4-FFF2-40B4-BE49-F238E27FC236}">
                <a16:creationId xmlns:a16="http://schemas.microsoft.com/office/drawing/2014/main" id="{B9CCB106-B724-D4FC-9180-F2081684D467}"/>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3070710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Title/chapter,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E5884329-1698-379E-55B0-296699708BB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08C894E9-0885-714C-A367-BDC2DC59BB91}" type="datetime1">
              <a:rPr lang="sv-SE" smtClean="0"/>
              <a:t>2025-12-03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pic>
        <p:nvPicPr>
          <p:cNvPr id="9" name="Bild 8">
            <a:extLst>
              <a:ext uri="{FF2B5EF4-FFF2-40B4-BE49-F238E27FC236}">
                <a16:creationId xmlns:a16="http://schemas.microsoft.com/office/drawing/2014/main" id="{E3DA9A33-1CAA-3164-6E44-47421CD08E03}"/>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650629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navy blue">
    <p:bg>
      <p:bgPr>
        <a:solidFill>
          <a:schemeClr val="accent3"/>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E926FF3D-704F-D246-9E92-4739AF4BF32C}" type="datetime1">
              <a:rPr lang="sv-SE" smtClean="0"/>
              <a:t>2025-12-03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pic>
        <p:nvPicPr>
          <p:cNvPr id="9" name="Bild 8">
            <a:extLst>
              <a:ext uri="{FF2B5EF4-FFF2-40B4-BE49-F238E27FC236}">
                <a16:creationId xmlns:a16="http://schemas.microsoft.com/office/drawing/2014/main" id="{EACB4A23-3C87-4C5A-07DC-8116B46C6C7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5929940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Headline and conten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2025-12-03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787806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Headline and content, blue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795850"/>
            <a:ext cx="8805181" cy="453030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E2AD36EE-D7EC-624A-BB6C-F8DADCB0E6B6}" type="datetime1">
              <a:rPr lang="sv-SE" smtClean="0"/>
              <a:t>2025-12-03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0272297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Headline and content, sand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CEEB1428-F34F-9743-B7C9-0212F6B23615}" type="datetime1">
              <a:rPr lang="sv-SE" smtClean="0"/>
              <a:t>2025-12-03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108309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Headline and content, light blue ">
    <p:bg>
      <p:bgPr>
        <a:solidFill>
          <a:schemeClr val="accent4"/>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805182" cy="453030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117AD585-73D1-4C4C-9D7C-030D27625895}" type="datetime1">
              <a:rPr lang="sv-SE" smtClean="0"/>
              <a:t>2025-12-03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5269847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Headline and content, sand">
    <p:bg>
      <p:bgPr>
        <a:solidFill>
          <a:schemeClr val="bg2"/>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750754" cy="453030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07E8514D-D455-9E46-BC18-4265F6A85EC5}" type="datetime1">
              <a:rPr lang="sv-SE" smtClean="0"/>
              <a:t>2025-12-03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8508522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part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14959C9-2F76-B9B0-59E8-58FE65006E5D}"/>
              </a:ext>
            </a:extLst>
          </p:cNvPr>
          <p:cNvSpPr>
            <a:spLocks noGrp="1"/>
          </p:cNvSpPr>
          <p:nvPr>
            <p:ph type="title"/>
          </p:nvPr>
        </p:nvSpPr>
        <p:spPr/>
        <p:txBody>
          <a:bodyPr/>
          <a:lstStyle/>
          <a:p>
            <a:r>
              <a:rPr lang="en-US"/>
              <a:t>Click to edit Master title style</a:t>
            </a:r>
            <a:endParaRPr lang="sv-SE" dirty="0"/>
          </a:p>
        </p:txBody>
      </p:sp>
      <p:sp>
        <p:nvSpPr>
          <p:cNvPr id="3" name="Platshållare för innehåll 2">
            <a:extLst>
              <a:ext uri="{FF2B5EF4-FFF2-40B4-BE49-F238E27FC236}">
                <a16:creationId xmlns:a16="http://schemas.microsoft.com/office/drawing/2014/main" id="{902AE670-4D80-39DE-5AAA-236D68C5E4FE}"/>
              </a:ext>
            </a:extLst>
          </p:cNvPr>
          <p:cNvSpPr>
            <a:spLocks noGrp="1"/>
          </p:cNvSpPr>
          <p:nvPr>
            <p:ph sz="half" idx="1"/>
          </p:nvPr>
        </p:nvSpPr>
        <p:spPr>
          <a:xfrm>
            <a:off x="600075" y="1795850"/>
            <a:ext cx="5314950" cy="453192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4" name="Platshållare för innehåll 3">
            <a:extLst>
              <a:ext uri="{FF2B5EF4-FFF2-40B4-BE49-F238E27FC236}">
                <a16:creationId xmlns:a16="http://schemas.microsoft.com/office/drawing/2014/main" id="{540C6723-9D57-3BE7-0314-142789CF9371}"/>
              </a:ext>
            </a:extLst>
          </p:cNvPr>
          <p:cNvSpPr>
            <a:spLocks noGrp="1"/>
          </p:cNvSpPr>
          <p:nvPr>
            <p:ph sz="half" idx="2"/>
          </p:nvPr>
        </p:nvSpPr>
        <p:spPr>
          <a:xfrm>
            <a:off x="6275388" y="1795851"/>
            <a:ext cx="5314950" cy="45319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5" name="Platshållare för datum 4">
            <a:extLst>
              <a:ext uri="{FF2B5EF4-FFF2-40B4-BE49-F238E27FC236}">
                <a16:creationId xmlns:a16="http://schemas.microsoft.com/office/drawing/2014/main" id="{E2533F65-F144-E57C-127B-9A8D7ABE671A}"/>
              </a:ext>
            </a:extLst>
          </p:cNvPr>
          <p:cNvSpPr>
            <a:spLocks noGrp="1"/>
          </p:cNvSpPr>
          <p:nvPr>
            <p:ph type="dt" sz="half" idx="10"/>
          </p:nvPr>
        </p:nvSpPr>
        <p:spPr/>
        <p:txBody>
          <a:bodyPr/>
          <a:lstStyle/>
          <a:p>
            <a:fld id="{A67A58AE-A0B6-FF4E-B30B-64917FEAC316}" type="datetime1">
              <a:rPr lang="sv-SE" smtClean="0"/>
              <a:t>2025-12-03</a:t>
            </a:fld>
            <a:endParaRPr lang="sv-SE"/>
          </a:p>
        </p:txBody>
      </p:sp>
      <p:sp>
        <p:nvSpPr>
          <p:cNvPr id="6" name="Platshållare för sidfot 5">
            <a:extLst>
              <a:ext uri="{FF2B5EF4-FFF2-40B4-BE49-F238E27FC236}">
                <a16:creationId xmlns:a16="http://schemas.microsoft.com/office/drawing/2014/main" id="{F6C0DB15-F374-5A00-4880-4AA76C675F94}"/>
              </a:ext>
            </a:extLst>
          </p:cNvPr>
          <p:cNvSpPr>
            <a:spLocks noGrp="1"/>
          </p:cNvSpPr>
          <p:nvPr>
            <p:ph type="ftr" sz="quarter" idx="11"/>
          </p:nvPr>
        </p:nvSpPr>
        <p:spPr/>
        <p:txBody>
          <a:bodyPr/>
          <a:lstStyle/>
          <a:p>
            <a:r>
              <a:rPr lang="sv-SE"/>
              <a:t>Presentation footer</a:t>
            </a:r>
          </a:p>
        </p:txBody>
      </p:sp>
      <p:sp>
        <p:nvSpPr>
          <p:cNvPr id="7" name="Platshållare för bildnummer 6">
            <a:extLst>
              <a:ext uri="{FF2B5EF4-FFF2-40B4-BE49-F238E27FC236}">
                <a16:creationId xmlns:a16="http://schemas.microsoft.com/office/drawing/2014/main" id="{12539EF3-2889-FC04-31FC-8AF48EAFC002}"/>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5487051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parts, subheader">
    <p:spTree>
      <p:nvGrpSpPr>
        <p:cNvPr id="1" name=""/>
        <p:cNvGrpSpPr/>
        <p:nvPr/>
      </p:nvGrpSpPr>
      <p:grpSpPr>
        <a:xfrm>
          <a:off x="0" y="0"/>
          <a:ext cx="0" cy="0"/>
          <a:chOff x="0" y="0"/>
          <a:chExt cx="0" cy="0"/>
        </a:xfrm>
      </p:grpSpPr>
      <p:sp>
        <p:nvSpPr>
          <p:cNvPr id="10" name="Rubrik 9">
            <a:extLst>
              <a:ext uri="{FF2B5EF4-FFF2-40B4-BE49-F238E27FC236}">
                <a16:creationId xmlns:a16="http://schemas.microsoft.com/office/drawing/2014/main" id="{C63C1EB8-E569-DA98-4D95-5FC12FB4C459}"/>
              </a:ext>
            </a:extLst>
          </p:cNvPr>
          <p:cNvSpPr>
            <a:spLocks noGrp="1"/>
          </p:cNvSpPr>
          <p:nvPr>
            <p:ph type="title"/>
          </p:nvPr>
        </p:nvSpPr>
        <p:spPr/>
        <p:txBody>
          <a:body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8DE1978A-D59D-BEB3-3574-B37CA68E4323}"/>
              </a:ext>
            </a:extLst>
          </p:cNvPr>
          <p:cNvSpPr>
            <a:spLocks noGrp="1"/>
          </p:cNvSpPr>
          <p:nvPr>
            <p:ph type="body" idx="1"/>
          </p:nvPr>
        </p:nvSpPr>
        <p:spPr>
          <a:xfrm>
            <a:off x="600075"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Platshållare för innehåll 3">
            <a:extLst>
              <a:ext uri="{FF2B5EF4-FFF2-40B4-BE49-F238E27FC236}">
                <a16:creationId xmlns:a16="http://schemas.microsoft.com/office/drawing/2014/main" id="{3FDE66B4-4491-C676-4004-9327D92F0111}"/>
              </a:ext>
            </a:extLst>
          </p:cNvPr>
          <p:cNvSpPr>
            <a:spLocks noGrp="1"/>
          </p:cNvSpPr>
          <p:nvPr>
            <p:ph sz="half" idx="2"/>
          </p:nvPr>
        </p:nvSpPr>
        <p:spPr>
          <a:xfrm>
            <a:off x="600075" y="2179165"/>
            <a:ext cx="5314950" cy="414861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5" name="Platshållare för text 4">
            <a:extLst>
              <a:ext uri="{FF2B5EF4-FFF2-40B4-BE49-F238E27FC236}">
                <a16:creationId xmlns:a16="http://schemas.microsoft.com/office/drawing/2014/main" id="{F55884CC-21E7-90D7-61AB-0459599D097A}"/>
              </a:ext>
            </a:extLst>
          </p:cNvPr>
          <p:cNvSpPr>
            <a:spLocks noGrp="1"/>
          </p:cNvSpPr>
          <p:nvPr>
            <p:ph type="body" sz="quarter" idx="3"/>
          </p:nvPr>
        </p:nvSpPr>
        <p:spPr>
          <a:xfrm>
            <a:off x="6275388"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Platshållare för innehåll 5">
            <a:extLst>
              <a:ext uri="{FF2B5EF4-FFF2-40B4-BE49-F238E27FC236}">
                <a16:creationId xmlns:a16="http://schemas.microsoft.com/office/drawing/2014/main" id="{C9A9E6FC-CBB8-1BD8-F388-D4BAEC7E1F13}"/>
              </a:ext>
            </a:extLst>
          </p:cNvPr>
          <p:cNvSpPr>
            <a:spLocks noGrp="1"/>
          </p:cNvSpPr>
          <p:nvPr>
            <p:ph sz="quarter" idx="4"/>
          </p:nvPr>
        </p:nvSpPr>
        <p:spPr>
          <a:xfrm>
            <a:off x="6275388" y="2179163"/>
            <a:ext cx="5314950" cy="414861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datum 6">
            <a:extLst>
              <a:ext uri="{FF2B5EF4-FFF2-40B4-BE49-F238E27FC236}">
                <a16:creationId xmlns:a16="http://schemas.microsoft.com/office/drawing/2014/main" id="{CAFDD56A-1297-3792-8143-D555882FE2CA}"/>
              </a:ext>
            </a:extLst>
          </p:cNvPr>
          <p:cNvSpPr>
            <a:spLocks noGrp="1"/>
          </p:cNvSpPr>
          <p:nvPr>
            <p:ph type="dt" sz="half" idx="10"/>
          </p:nvPr>
        </p:nvSpPr>
        <p:spPr/>
        <p:txBody>
          <a:bodyPr/>
          <a:lstStyle/>
          <a:p>
            <a:fld id="{3626A2DA-BD88-784C-A132-57FFB928491A}" type="datetime1">
              <a:rPr lang="sv-SE" smtClean="0"/>
              <a:t>2025-12-03</a:t>
            </a:fld>
            <a:endParaRPr lang="sv-SE"/>
          </a:p>
        </p:txBody>
      </p:sp>
      <p:sp>
        <p:nvSpPr>
          <p:cNvPr id="8" name="Platshållare för sidfot 7">
            <a:extLst>
              <a:ext uri="{FF2B5EF4-FFF2-40B4-BE49-F238E27FC236}">
                <a16:creationId xmlns:a16="http://schemas.microsoft.com/office/drawing/2014/main" id="{A57BD6EF-A167-CE86-7A77-2162641605FD}"/>
              </a:ext>
            </a:extLst>
          </p:cNvPr>
          <p:cNvSpPr>
            <a:spLocks noGrp="1"/>
          </p:cNvSpPr>
          <p:nvPr>
            <p:ph type="ftr" sz="quarter" idx="11"/>
          </p:nvPr>
        </p:nvSpPr>
        <p:spPr/>
        <p:txBody>
          <a:bodyPr/>
          <a:lstStyle/>
          <a:p>
            <a:r>
              <a:rPr lang="sv-SE"/>
              <a:t>Presentation footer</a:t>
            </a:r>
          </a:p>
        </p:txBody>
      </p:sp>
      <p:sp>
        <p:nvSpPr>
          <p:cNvPr id="9" name="Platshållare för bildnummer 8">
            <a:extLst>
              <a:ext uri="{FF2B5EF4-FFF2-40B4-BE49-F238E27FC236}">
                <a16:creationId xmlns:a16="http://schemas.microsoft.com/office/drawing/2014/main" id="{CDB4B22B-EE55-F7F6-4734-928F7B66EC5D}"/>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197619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7" name="Rubrik 6">
            <a:extLst>
              <a:ext uri="{FF2B5EF4-FFF2-40B4-BE49-F238E27FC236}">
                <a16:creationId xmlns:a16="http://schemas.microsoft.com/office/drawing/2014/main" id="{9B9D78B8-14EA-7C8B-0F6E-5FC0A61A7676}"/>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6" name="Platshållare för innehåll 2">
            <a:extLst>
              <a:ext uri="{FF2B5EF4-FFF2-40B4-BE49-F238E27FC236}">
                <a16:creationId xmlns:a16="http://schemas.microsoft.com/office/drawing/2014/main" id="{C8E71948-DDFC-93D6-07D4-FA5E9923A9C4}"/>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Platshållare för bild 2">
            <a:extLst>
              <a:ext uri="{FF2B5EF4-FFF2-40B4-BE49-F238E27FC236}">
                <a16:creationId xmlns:a16="http://schemas.microsoft.com/office/drawing/2014/main" id="{A51C4AA9-7CC2-70C9-89B3-A18AC9ECAA3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AC15C714-122B-4048-9D2D-1F5A3BEA504A}" type="datetime1">
              <a:rPr lang="sv-SE" smtClean="0"/>
              <a:t>2025-12-03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6226858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light blue">
    <p:bg>
      <p:bgPr>
        <a:solidFill>
          <a:schemeClr val="accent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E53B21-3BB0-7776-1C8F-14570934732F}"/>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0" name="Rubrik 1">
            <a:extLst>
              <a:ext uri="{FF2B5EF4-FFF2-40B4-BE49-F238E27FC236}">
                <a16:creationId xmlns:a16="http://schemas.microsoft.com/office/drawing/2014/main" id="{70BAD773-C5A8-1DD6-DAEF-296346C1E1B4}"/>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8" name="Platshållare för innehåll 1">
            <a:extLst>
              <a:ext uri="{FF2B5EF4-FFF2-40B4-BE49-F238E27FC236}">
                <a16:creationId xmlns:a16="http://schemas.microsoft.com/office/drawing/2014/main" id="{9E21FC13-6345-3248-A947-DE8A8903EE8D}"/>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11" name="Rubrik 2">
            <a:extLst>
              <a:ext uri="{FF2B5EF4-FFF2-40B4-BE49-F238E27FC236}">
                <a16:creationId xmlns:a16="http://schemas.microsoft.com/office/drawing/2014/main" id="{45E054D9-4635-C7AD-5248-012C9290BBA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9" name="Platshållare för innehåll 2">
            <a:extLst>
              <a:ext uri="{FF2B5EF4-FFF2-40B4-BE49-F238E27FC236}">
                <a16:creationId xmlns:a16="http://schemas.microsoft.com/office/drawing/2014/main" id="{08973148-6FE0-2E5B-CDAC-B5A8EFA5DCAF}"/>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EE5E874D-60F8-8B45-B36B-3029A6FA7FCB}" type="datetime1">
              <a:rPr lang="sv-SE" smtClean="0"/>
              <a:t>2025-12-03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1794251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sand">
    <p:bg>
      <p:bgPr>
        <a:solidFill>
          <a:schemeClr val="bg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D98A3471-E78E-5A25-CDCD-A70A1BA88DD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A2A70668-AB85-7E63-22C0-B9431D72BC07}"/>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65773533-9418-9BC8-07BE-DE1982D8EE15}"/>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592051F6-14B7-8364-56E9-FC036767257B}"/>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BF2B79C1-A27F-5DA9-D1F0-FC96C9A68BC7}"/>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7FE3A002-8AA0-194E-81B1-1ADE5B52840E}" type="datetime1">
              <a:rPr lang="sv-SE" smtClean="0"/>
              <a:t>2025-12-03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6169482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KTH blue">
    <p:bg>
      <p:bgPr>
        <a:solidFill>
          <a:schemeClr val="accent1"/>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83C6AD54-EED3-3960-39F1-6C44C49ED29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3B85E6DD-F8DF-4BBD-E46A-52EC6D703C63}"/>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3" name="Platshållare för innehåll 1">
            <a:extLst>
              <a:ext uri="{FF2B5EF4-FFF2-40B4-BE49-F238E27FC236}">
                <a16:creationId xmlns:a16="http://schemas.microsoft.com/office/drawing/2014/main" id="{DD1CE06C-E8A4-9360-B155-3B7D11D411EA}"/>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CC32D746-BC2A-D4E0-4FDE-8026A3339744}"/>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0B6CAC2E-851A-9B60-91F5-AEEA25AB753E}"/>
              </a:ext>
            </a:extLst>
          </p:cNvPr>
          <p:cNvSpPr>
            <a:spLocks noGrp="1"/>
          </p:cNvSpPr>
          <p:nvPr>
            <p:ph sz="half" idx="13"/>
          </p:nvPr>
        </p:nvSpPr>
        <p:spPr>
          <a:xfrm>
            <a:off x="6661947" y="2281473"/>
            <a:ext cx="4928391" cy="4046300"/>
          </a:xfrm>
        </p:spPr>
        <p:txBody>
          <a:bodyPr/>
          <a:lstStyle>
            <a:lvl1pPr>
              <a:buClr>
                <a:schemeClr val="accent2"/>
              </a:buClr>
              <a:defRPr>
                <a:solidFill>
                  <a:schemeClr val="bg1"/>
                </a:solidFill>
              </a:defRPr>
            </a:lvl1pPr>
            <a:lvl2pPr>
              <a:buClr>
                <a:schemeClr val="accent2"/>
              </a:buClr>
              <a:defRPr>
                <a:solidFill>
                  <a:schemeClr val="bg1"/>
                </a:solidFill>
              </a:defRPr>
            </a:lvl2pPr>
            <a:lvl3pPr>
              <a:buClr>
                <a:schemeClr val="accent2"/>
              </a:buClr>
              <a:defRPr>
                <a:solidFill>
                  <a:schemeClr val="bg1"/>
                </a:solidFill>
              </a:defRPr>
            </a:lvl3pPr>
            <a:lvl4pPr>
              <a:buClr>
                <a:schemeClr val="accent2"/>
              </a:buClr>
              <a:defRPr>
                <a:solidFill>
                  <a:schemeClr val="bg1"/>
                </a:solidFill>
              </a:defRPr>
            </a:lvl4pPr>
            <a:lvl5pPr>
              <a:buClr>
                <a:schemeClr val="accent2"/>
              </a:buCl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B003E109-5503-A446-83DE-4F0349794E27}" type="datetime1">
              <a:rPr lang="sv-SE" smtClean="0"/>
              <a:t>2025-12-03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3715672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navy blue">
    <p:bg>
      <p:bgPr>
        <a:solidFill>
          <a:schemeClr val="tx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4BFF3707-BCF8-3B40-4A6E-BB485A3058DD}"/>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7E30C4E1-FD13-FB51-43E8-4F36CF652781}"/>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3" name="Platshållare för innehåll 1">
            <a:extLst>
              <a:ext uri="{FF2B5EF4-FFF2-40B4-BE49-F238E27FC236}">
                <a16:creationId xmlns:a16="http://schemas.microsoft.com/office/drawing/2014/main" id="{E649F8F8-B8DB-7C5C-A600-75F519BA5D5A}"/>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D24132AE-47F1-716B-6975-B6DE84BD7143}"/>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C2860E0A-4616-275E-6EEB-5B0EBBD9F7E3}"/>
              </a:ext>
            </a:extLst>
          </p:cNvPr>
          <p:cNvSpPr>
            <a:spLocks noGrp="1"/>
          </p:cNvSpPr>
          <p:nvPr>
            <p:ph sz="half" idx="13"/>
          </p:nvPr>
        </p:nvSpPr>
        <p:spPr>
          <a:xfrm>
            <a:off x="6661947" y="2281473"/>
            <a:ext cx="4928391" cy="40463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1F9706F9-3770-3C47-9C0E-E405B1F87DBD}" type="datetime1">
              <a:rPr lang="sv-SE" smtClean="0"/>
              <a:t>2025-12-03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34309726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green">
    <p:bg>
      <p:bgPr>
        <a:solidFill>
          <a:srgbClr val="C7EBBA"/>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498978-27A1-BC36-D1C0-F12E64FC5C0E}"/>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58CDF499-9790-E8A2-3B44-8DDFA267A94F}"/>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86430320-1A4F-412F-300A-456151767E30}"/>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9B510906-94F4-6B14-FDC7-76CDBAF81A1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334025BC-079F-EA86-F798-CAD6618E645E}"/>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8E503FC7-D8F6-4243-8CCB-9A739180F56A}" type="datetime1">
              <a:rPr lang="sv-SE" smtClean="0"/>
              <a:t>2025-12-03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12125025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mparison, teal">
    <p:bg>
      <p:bgPr>
        <a:solidFill>
          <a:srgbClr val="B2E0E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925A3E22-BA62-7F69-450C-20B52F594B7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E1E07B9C-02BD-AC56-ABC5-455CEBB24ACF}"/>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22D67319-CD30-B99B-C636-4905BD0CE9D9}"/>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FE151B58-3B63-330E-7BE5-9A36F8D82000}"/>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1BA7EFEF-D6C1-C9F7-8504-107188FC0566}"/>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9719EDF7-C24A-7E4C-9EBB-98C778ECC35A}" type="datetime1">
              <a:rPr lang="sv-SE" smtClean="0"/>
              <a:t>2025-12-03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9062174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mparison, red">
    <p:bg>
      <p:bgPr>
        <a:solidFill>
          <a:srgbClr val="FFCCC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0A12FA56-217E-78A9-0201-C28109AB8E9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214F56B9-DEF6-409D-736C-E96172170452}"/>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C0ECC4A3-C076-B625-7E77-9DE3F047B9BB}"/>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0A9AF8D0-B58B-0439-D162-96136F7DA0C7}"/>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BC163C54-5959-5606-C36B-9E364C931E73}"/>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DB96772-CADE-B345-804B-3DF93A11AE0A}" type="datetime1">
              <a:rPr lang="sv-SE" smtClean="0"/>
              <a:t>2025-12-03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4178440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mparison, yellow">
    <p:bg>
      <p:bgPr>
        <a:solidFill>
          <a:srgbClr val="FFF0B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A5D08FD5-CEDA-760E-6063-D0EA59B0D676}"/>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F9485CCE-1723-48F8-36F7-B271C8911C85}"/>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020AD7BA-30E7-614D-F529-872AA9BB7A1A}"/>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976FF026-F97C-9444-5B6A-C4AF50690ADD}"/>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93803107-D46C-D12D-AAD7-E84641384E1F}"/>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69F8B43-28B6-0949-93DC-6B291391CFD4}" type="datetime1">
              <a:rPr lang="sv-SE" smtClean="0"/>
              <a:t>2025-12-03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65025926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Headline and 1 image">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4" y="1919288"/>
            <a:ext cx="10990263"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450A6BD-1EFB-BD42-9DC0-F0A6BEB4C27D}" type="datetime1">
              <a:rPr lang="sv-SE" smtClean="0"/>
              <a:t>2025-12-03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566691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Headline and 2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ADBDFCF2-2839-8D4F-B5E5-9B488CE2E4EE}" type="datetime1">
              <a:rPr lang="sv-SE" smtClean="0"/>
              <a:t>2025-12-03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0698180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Headline and 2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text 2">
            <a:extLst>
              <a:ext uri="{FF2B5EF4-FFF2-40B4-BE49-F238E27FC236}">
                <a16:creationId xmlns:a16="http://schemas.microsoft.com/office/drawing/2014/main" id="{BC674729-23CB-CE55-418D-9B4DA58EC148}"/>
              </a:ext>
            </a:extLst>
          </p:cNvPr>
          <p:cNvSpPr>
            <a:spLocks noGrp="1"/>
          </p:cNvSpPr>
          <p:nvPr>
            <p:ph type="body" sz="quarter" idx="16"/>
          </p:nvPr>
        </p:nvSpPr>
        <p:spPr>
          <a:xfrm>
            <a:off x="600075"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3">
            <a:extLst>
              <a:ext uri="{FF2B5EF4-FFF2-40B4-BE49-F238E27FC236}">
                <a16:creationId xmlns:a16="http://schemas.microsoft.com/office/drawing/2014/main" id="{4E2E81CD-B9BA-4D4B-D687-9453DEF10687}"/>
              </a:ext>
            </a:extLst>
          </p:cNvPr>
          <p:cNvSpPr>
            <a:spLocks noGrp="1"/>
          </p:cNvSpPr>
          <p:nvPr>
            <p:ph type="body" sz="quarter" idx="17"/>
          </p:nvPr>
        </p:nvSpPr>
        <p:spPr>
          <a:xfrm>
            <a:off x="6275388"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47A9746E-62D8-944D-99B0-D98695592DCF}" type="datetime1">
              <a:rPr lang="sv-SE" smtClean="0"/>
              <a:t>2025-12-03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4697270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Headline and 3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EC42A3C6-0141-7544-8502-44E44E5AD51F}" type="datetime1">
              <a:rPr lang="sv-SE" smtClean="0"/>
              <a:t>2025-12-03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219712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Headline and 3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E8F9620A-7B37-2787-0C61-0CB4A6519E3C}"/>
              </a:ext>
            </a:extLst>
          </p:cNvPr>
          <p:cNvSpPr>
            <a:spLocks noGrp="1"/>
          </p:cNvSpPr>
          <p:nvPr>
            <p:ph type="body" sz="quarter" idx="16"/>
          </p:nvPr>
        </p:nvSpPr>
        <p:spPr>
          <a:xfrm>
            <a:off x="600075"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1" name="Platshållare för text 3">
            <a:extLst>
              <a:ext uri="{FF2B5EF4-FFF2-40B4-BE49-F238E27FC236}">
                <a16:creationId xmlns:a16="http://schemas.microsoft.com/office/drawing/2014/main" id="{81E59C72-4325-9697-1B8F-6876044359F2}"/>
              </a:ext>
            </a:extLst>
          </p:cNvPr>
          <p:cNvSpPr>
            <a:spLocks noGrp="1"/>
          </p:cNvSpPr>
          <p:nvPr>
            <p:ph type="body" sz="quarter" idx="17"/>
          </p:nvPr>
        </p:nvSpPr>
        <p:spPr>
          <a:xfrm>
            <a:off x="4383881"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2" name="Platshållare för text 4">
            <a:extLst>
              <a:ext uri="{FF2B5EF4-FFF2-40B4-BE49-F238E27FC236}">
                <a16:creationId xmlns:a16="http://schemas.microsoft.com/office/drawing/2014/main" id="{04B71E10-09CE-4F1F-5969-3DD959F0102C}"/>
              </a:ext>
            </a:extLst>
          </p:cNvPr>
          <p:cNvSpPr>
            <a:spLocks noGrp="1"/>
          </p:cNvSpPr>
          <p:nvPr>
            <p:ph type="body" sz="quarter" idx="18"/>
          </p:nvPr>
        </p:nvSpPr>
        <p:spPr>
          <a:xfrm>
            <a:off x="8167687"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5A8E03F6-2D99-9C4F-8DF5-D169CFDD1A0C}" type="datetime1">
              <a:rPr lang="sv-SE" smtClean="0"/>
              <a:t>2025-12-03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70295718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Headline and 4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8AF63115-71BE-3E46-BB5A-A4600F1506C7}" type="datetime1">
              <a:rPr lang="sv-SE" smtClean="0"/>
              <a:t>2025-12-03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3571204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eadline and 4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D90C2B5D-CFFA-002C-8403-A5BA4FD6C513}"/>
              </a:ext>
            </a:extLst>
          </p:cNvPr>
          <p:cNvSpPr>
            <a:spLocks noGrp="1"/>
          </p:cNvSpPr>
          <p:nvPr>
            <p:ph type="body" sz="quarter" idx="17"/>
          </p:nvPr>
        </p:nvSpPr>
        <p:spPr>
          <a:xfrm>
            <a:off x="600075"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4" name="Platshållare för text 3">
            <a:extLst>
              <a:ext uri="{FF2B5EF4-FFF2-40B4-BE49-F238E27FC236}">
                <a16:creationId xmlns:a16="http://schemas.microsoft.com/office/drawing/2014/main" id="{F4E32133-1B05-00E9-FC72-16105F20E5D8}"/>
              </a:ext>
            </a:extLst>
          </p:cNvPr>
          <p:cNvSpPr>
            <a:spLocks noGrp="1"/>
          </p:cNvSpPr>
          <p:nvPr>
            <p:ph type="body" sz="quarter" idx="18"/>
          </p:nvPr>
        </p:nvSpPr>
        <p:spPr>
          <a:xfrm>
            <a:off x="3446727"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5" name="Platshållare för text 4">
            <a:extLst>
              <a:ext uri="{FF2B5EF4-FFF2-40B4-BE49-F238E27FC236}">
                <a16:creationId xmlns:a16="http://schemas.microsoft.com/office/drawing/2014/main" id="{9FBEA034-4378-57AD-9BAA-D23952A616CE}"/>
              </a:ext>
            </a:extLst>
          </p:cNvPr>
          <p:cNvSpPr>
            <a:spLocks noGrp="1"/>
          </p:cNvSpPr>
          <p:nvPr>
            <p:ph type="body" sz="quarter" idx="19"/>
          </p:nvPr>
        </p:nvSpPr>
        <p:spPr>
          <a:xfrm>
            <a:off x="6293379"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6" name="Platshållare för text 5">
            <a:extLst>
              <a:ext uri="{FF2B5EF4-FFF2-40B4-BE49-F238E27FC236}">
                <a16:creationId xmlns:a16="http://schemas.microsoft.com/office/drawing/2014/main" id="{06D592E5-8C13-50D1-1CCC-8F6917A28780}"/>
              </a:ext>
            </a:extLst>
          </p:cNvPr>
          <p:cNvSpPr>
            <a:spLocks noGrp="1"/>
          </p:cNvSpPr>
          <p:nvPr>
            <p:ph type="body" sz="quarter" idx="20"/>
          </p:nvPr>
        </p:nvSpPr>
        <p:spPr>
          <a:xfrm>
            <a:off x="9140030"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09FED66-59CE-6445-BA05-B37954B8CE47}" type="datetime1">
              <a:rPr lang="sv-SE" smtClean="0"/>
              <a:t>2025-12-03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4838669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eadline only">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8C332B6B-9A86-944B-B689-8453757791DF}" type="datetime1">
              <a:rPr lang="sv-SE" smtClean="0"/>
              <a:t>2025-12-03</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spTree>
    <p:extLst>
      <p:ext uri="{BB962C8B-B14F-4D97-AF65-F5344CB8AC3E}">
        <p14:creationId xmlns:p14="http://schemas.microsoft.com/office/powerpoint/2010/main" val="40127707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Headline only, light blue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957E16A-1246-F744-BDA8-D5896FB385F8}" type="datetime1">
              <a:rPr lang="sv-SE" smtClean="0"/>
              <a:t>2025-12-03</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2CD49F62-B17F-4256-87E8-B48CEC1AECF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428514932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Headline only, sand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68888E78-A3E8-2E47-A37C-B0DACC4AC38C}" type="datetime1">
              <a:rPr lang="sv-SE" smtClean="0"/>
              <a:t>2025-12-03</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70BC9548-E26C-77A2-1994-5B2D723366A9}"/>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56752721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Headline only,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AC1801B8-2ABD-E645-B0F3-2F4D3FFFF5AE}" type="datetime1">
              <a:rPr lang="sv-SE" smtClean="0"/>
              <a:t>2025-12-03</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C21FC7DD-9D09-44CA-0597-9DEB74E2004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377687905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Headline only,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64FA935-6078-184F-946C-D8B2130A7BC4}" type="datetime1">
              <a:rPr lang="sv-SE" smtClean="0"/>
              <a:t>2025-12-03</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B0E08DE0-7713-2F89-9CAE-718563F453A7}"/>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229315274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Platshållare för datum 1">
            <a:extLst>
              <a:ext uri="{FF2B5EF4-FFF2-40B4-BE49-F238E27FC236}">
                <a16:creationId xmlns:a16="http://schemas.microsoft.com/office/drawing/2014/main" id="{CB35DBFB-5CDF-E32D-0562-6D92213809A1}"/>
              </a:ext>
            </a:extLst>
          </p:cNvPr>
          <p:cNvSpPr>
            <a:spLocks noGrp="1"/>
          </p:cNvSpPr>
          <p:nvPr>
            <p:ph type="dt" sz="half" idx="10"/>
          </p:nvPr>
        </p:nvSpPr>
        <p:spPr/>
        <p:txBody>
          <a:bodyPr/>
          <a:lstStyle/>
          <a:p>
            <a:fld id="{878DDE6C-6786-8C48-9317-AF0776715ACF}" type="datetime1">
              <a:rPr lang="sv-SE" smtClean="0"/>
              <a:t>2025-12-03</a:t>
            </a:fld>
            <a:endParaRPr lang="sv-SE"/>
          </a:p>
        </p:txBody>
      </p:sp>
      <p:sp>
        <p:nvSpPr>
          <p:cNvPr id="3" name="Platshållare för sidfot 2">
            <a:extLst>
              <a:ext uri="{FF2B5EF4-FFF2-40B4-BE49-F238E27FC236}">
                <a16:creationId xmlns:a16="http://schemas.microsoft.com/office/drawing/2014/main" id="{9757DD51-31A9-0B97-878B-DC725BEF456D}"/>
              </a:ext>
            </a:extLst>
          </p:cNvPr>
          <p:cNvSpPr>
            <a:spLocks noGrp="1"/>
          </p:cNvSpPr>
          <p:nvPr>
            <p:ph type="ftr" sz="quarter" idx="11"/>
          </p:nvPr>
        </p:nvSpPr>
        <p:spPr/>
        <p:txBody>
          <a:bodyPr/>
          <a:lstStyle/>
          <a:p>
            <a:r>
              <a:rPr lang="sv-SE"/>
              <a:t>Presentation footer</a:t>
            </a:r>
          </a:p>
        </p:txBody>
      </p:sp>
      <p:sp>
        <p:nvSpPr>
          <p:cNvPr id="4" name="Platshållare för bildnummer 3">
            <a:extLst>
              <a:ext uri="{FF2B5EF4-FFF2-40B4-BE49-F238E27FC236}">
                <a16:creationId xmlns:a16="http://schemas.microsoft.com/office/drawing/2014/main" id="{49810C51-F518-224E-FB91-8421FD7D6879}"/>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13494009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Headline and content,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a:t>Click to edit Master title style</a:t>
            </a:r>
            <a:endParaRPr lang="sv-SE" dirty="0"/>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366838"/>
            <a:ext cx="10990263" cy="49593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2025-12-03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6058086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Headline only,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a:t>Click to edit Master title style</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2025-12-03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28333641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Logo">
    <p:bg>
      <p:bgPr>
        <a:solidFill>
          <a:schemeClr val="accent1"/>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A3328FD-6257-AC43-9CE4-2903A4D2BB9D}" type="datetime1">
              <a:rPr lang="sv-SE" smtClean="0"/>
              <a:t>2025-12-03</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B31C6E16-A8C5-A850-CB5B-D4A530D7DE27}"/>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4EDED1D2-CC81-27E6-259D-AC4805594BE1}"/>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232605936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Logo, navy blue">
    <p:bg>
      <p:bgPr>
        <a:solidFill>
          <a:schemeClr val="tx2"/>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2BABC24-2A82-014C-9256-A51302708EE4}" type="datetime1">
              <a:rPr lang="sv-SE" smtClean="0"/>
              <a:t>2025-12-03</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0D27DED8-EA09-1EA2-8C8D-DCB1C9F0377C}"/>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004E1202-DA06-9B02-2B87-6713C953C357}"/>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415031168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How to use template">
    <p:spTree>
      <p:nvGrpSpPr>
        <p:cNvPr id="1" name=""/>
        <p:cNvGrpSpPr/>
        <p:nvPr/>
      </p:nvGrpSpPr>
      <p:grpSpPr>
        <a:xfrm>
          <a:off x="0" y="0"/>
          <a:ext cx="0" cy="0"/>
          <a:chOff x="0" y="0"/>
          <a:chExt cx="0" cy="0"/>
        </a:xfrm>
      </p:grpSpPr>
      <p:grpSp>
        <p:nvGrpSpPr>
          <p:cNvPr id="16" name="Grupp 15">
            <a:extLst>
              <a:ext uri="{FF2B5EF4-FFF2-40B4-BE49-F238E27FC236}">
                <a16:creationId xmlns:a16="http://schemas.microsoft.com/office/drawing/2014/main" id="{CE19B76B-69BE-2CE8-2691-D7F57CA2A986}"/>
              </a:ext>
            </a:extLst>
          </p:cNvPr>
          <p:cNvGrpSpPr>
            <a:grpSpLocks noChangeAspect="1"/>
          </p:cNvGrpSpPr>
          <p:nvPr userDrawn="1"/>
        </p:nvGrpSpPr>
        <p:grpSpPr>
          <a:xfrm>
            <a:off x="2347236" y="2028884"/>
            <a:ext cx="1806522" cy="3150398"/>
            <a:chOff x="3971925" y="-1798194"/>
            <a:chExt cx="6248400" cy="10896600"/>
          </a:xfrm>
        </p:grpSpPr>
        <p:pic>
          <p:nvPicPr>
            <p:cNvPr id="13" name="Bildobjekt 12" descr="En bild som visar text, skärmbild, programvara, diagram&#10;&#10;Automatiskt genererad beskrivning">
              <a:extLst>
                <a:ext uri="{FF2B5EF4-FFF2-40B4-BE49-F238E27FC236}">
                  <a16:creationId xmlns:a16="http://schemas.microsoft.com/office/drawing/2014/main" id="{77182B8F-9D5B-E130-993A-698BFACD821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971925" y="3650106"/>
              <a:ext cx="6248400" cy="5448300"/>
            </a:xfrm>
            <a:prstGeom prst="rect">
              <a:avLst/>
            </a:prstGeom>
          </p:spPr>
        </p:pic>
        <p:pic>
          <p:nvPicPr>
            <p:cNvPr id="15" name="Bildobjekt 14" descr="En bild som visar text, skärmbild, programvara, Datorikon&#10;&#10;Automatiskt genererad beskrivning">
              <a:extLst>
                <a:ext uri="{FF2B5EF4-FFF2-40B4-BE49-F238E27FC236}">
                  <a16:creationId xmlns:a16="http://schemas.microsoft.com/office/drawing/2014/main" id="{7DA50AB1-F7A2-EBC7-FB82-E0BBB147318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3971925" y="-1798194"/>
              <a:ext cx="6248400" cy="5448300"/>
            </a:xfrm>
            <a:prstGeom prst="rect">
              <a:avLst/>
            </a:prstGeom>
          </p:spPr>
        </p:pic>
      </p:grpSp>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77AA192B-9140-F746-B429-ACF197DC5439}" type="datetime1">
              <a:rPr lang="sv-SE" smtClean="0"/>
              <a:t>2025-12-03</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46036"/>
            <a:ext cx="10991850" cy="796252"/>
          </a:xfrm>
          <a:prstGeom prst="rect">
            <a:avLst/>
          </a:prstGeom>
          <a:noFill/>
        </p:spPr>
        <p:txBody>
          <a:bodyPr wrap="square" anchor="t">
            <a:noAutofit/>
          </a:bodyPr>
          <a:lstStyle/>
          <a:p>
            <a:r>
              <a:rPr lang="en-US" sz="3600" b="1" noProof="0" dirty="0">
                <a:solidFill>
                  <a:schemeClr val="tx2"/>
                </a:solidFill>
                <a:latin typeface="+mj-lt"/>
              </a:rPr>
              <a:t>How to use this template</a:t>
            </a:r>
          </a:p>
        </p:txBody>
      </p:sp>
      <p:sp>
        <p:nvSpPr>
          <p:cNvPr id="6" name="textruta 5">
            <a:extLst>
              <a:ext uri="{FF2B5EF4-FFF2-40B4-BE49-F238E27FC236}">
                <a16:creationId xmlns:a16="http://schemas.microsoft.com/office/drawing/2014/main" id="{A169F84A-F3A8-EFE5-7C9A-F2537DED6605}"/>
              </a:ext>
            </a:extLst>
          </p:cNvPr>
          <p:cNvSpPr txBox="1"/>
          <p:nvPr userDrawn="1"/>
        </p:nvSpPr>
        <p:spPr>
          <a:xfrm>
            <a:off x="716536" y="2472816"/>
            <a:ext cx="1469735" cy="723275"/>
          </a:xfrm>
          <a:prstGeom prst="rect">
            <a:avLst/>
          </a:prstGeom>
          <a:noFill/>
        </p:spPr>
        <p:txBody>
          <a:bodyPr wrap="square" lIns="0" tIns="0" rIns="0" bIns="0" rtlCol="0">
            <a:spAutoFit/>
          </a:bodyPr>
          <a:lstStyle/>
          <a:p>
            <a:pPr>
              <a:spcAft>
                <a:spcPts val="600"/>
              </a:spcAft>
            </a:pPr>
            <a:r>
              <a:rPr lang="en-US" sz="1000" b="1" noProof="0" dirty="0">
                <a:solidFill>
                  <a:schemeClr val="tx2"/>
                </a:solidFill>
              </a:rPr>
              <a:t>Slide templates</a:t>
            </a:r>
          </a:p>
          <a:p>
            <a:pPr>
              <a:spcAft>
                <a:spcPts val="600"/>
              </a:spcAft>
            </a:pPr>
            <a:r>
              <a:rPr lang="en-US" sz="800" noProof="0" dirty="0"/>
              <a:t>Click on </a:t>
            </a:r>
            <a:r>
              <a:rPr lang="en-US" sz="800" i="1" noProof="0" dirty="0"/>
              <a:t>New slide</a:t>
            </a:r>
            <a:r>
              <a:rPr lang="en-US" sz="800" noProof="0" dirty="0"/>
              <a:t> to see the templates various template slide. Choose one to suite </a:t>
            </a:r>
            <a:br>
              <a:rPr lang="en-US" sz="800" noProof="0" dirty="0"/>
            </a:br>
            <a:r>
              <a:rPr lang="en-US" sz="800" noProof="0" dirty="0"/>
              <a:t>your content.</a:t>
            </a:r>
          </a:p>
        </p:txBody>
      </p:sp>
      <p:sp>
        <p:nvSpPr>
          <p:cNvPr id="8" name="textruta 7">
            <a:extLst>
              <a:ext uri="{FF2B5EF4-FFF2-40B4-BE49-F238E27FC236}">
                <a16:creationId xmlns:a16="http://schemas.microsoft.com/office/drawing/2014/main" id="{768BCC39-F9DA-DF60-4025-17B6E0131556}"/>
              </a:ext>
            </a:extLst>
          </p:cNvPr>
          <p:cNvSpPr txBox="1"/>
          <p:nvPr userDrawn="1"/>
        </p:nvSpPr>
        <p:spPr>
          <a:xfrm>
            <a:off x="716537" y="3685917"/>
            <a:ext cx="1469735" cy="692497"/>
          </a:xfrm>
          <a:prstGeom prst="rect">
            <a:avLst/>
          </a:prstGeom>
          <a:noFill/>
        </p:spPr>
        <p:txBody>
          <a:bodyPr wrap="square" lIns="0" tIns="0" rIns="0" bIns="0" rtlCol="0">
            <a:spAutoFit/>
          </a:bodyPr>
          <a:lstStyle/>
          <a:p>
            <a:pPr>
              <a:spcAft>
                <a:spcPts val="600"/>
              </a:spcAft>
            </a:pPr>
            <a:r>
              <a:rPr lang="en-US" sz="800" b="1" noProof="0" dirty="0">
                <a:solidFill>
                  <a:schemeClr val="tx2"/>
                </a:solidFill>
              </a:rPr>
              <a:t>Layout</a:t>
            </a:r>
          </a:p>
          <a:p>
            <a:pPr>
              <a:spcAft>
                <a:spcPts val="600"/>
              </a:spcAft>
            </a:pPr>
            <a:r>
              <a:rPr lang="en-US" sz="800" noProof="0" dirty="0"/>
              <a:t>If you’d like to change slide template on an existing slide, click on </a:t>
            </a:r>
            <a:r>
              <a:rPr lang="en-US" sz="800" i="1" noProof="0" dirty="0"/>
              <a:t>Layout</a:t>
            </a:r>
            <a:r>
              <a:rPr lang="en-US" sz="800" noProof="0" dirty="0"/>
              <a:t> and select a new template. </a:t>
            </a:r>
          </a:p>
        </p:txBody>
      </p:sp>
      <p:sp>
        <p:nvSpPr>
          <p:cNvPr id="9" name="textruta 8">
            <a:extLst>
              <a:ext uri="{FF2B5EF4-FFF2-40B4-BE49-F238E27FC236}">
                <a16:creationId xmlns:a16="http://schemas.microsoft.com/office/drawing/2014/main" id="{F266C024-6842-2553-28D2-931168DE2970}"/>
              </a:ext>
            </a:extLst>
          </p:cNvPr>
          <p:cNvSpPr txBox="1"/>
          <p:nvPr userDrawn="1"/>
        </p:nvSpPr>
        <p:spPr>
          <a:xfrm>
            <a:off x="716536" y="4881301"/>
            <a:ext cx="1469735" cy="569387"/>
          </a:xfrm>
          <a:prstGeom prst="rect">
            <a:avLst/>
          </a:prstGeom>
          <a:noFill/>
        </p:spPr>
        <p:txBody>
          <a:bodyPr wrap="square" lIns="0" tIns="0" rIns="0" bIns="0" rtlCol="0">
            <a:spAutoFit/>
          </a:bodyPr>
          <a:lstStyle/>
          <a:p>
            <a:pPr>
              <a:spcAft>
                <a:spcPts val="600"/>
              </a:spcAft>
            </a:pPr>
            <a:r>
              <a:rPr lang="en-US" sz="800" b="1" noProof="0" dirty="0">
                <a:solidFill>
                  <a:schemeClr val="tx2"/>
                </a:solidFill>
              </a:rPr>
              <a:t>Reset</a:t>
            </a:r>
          </a:p>
          <a:p>
            <a:pPr>
              <a:spcAft>
                <a:spcPts val="600"/>
              </a:spcAft>
            </a:pPr>
            <a:r>
              <a:rPr lang="en-US" sz="800" noProof="0" dirty="0"/>
              <a:t>Reset a slide to the slide templates design by </a:t>
            </a:r>
            <a:br>
              <a:rPr lang="en-US" sz="800" noProof="0" dirty="0"/>
            </a:br>
            <a:r>
              <a:rPr lang="en-US" sz="800" noProof="0" dirty="0"/>
              <a:t>clicking on </a:t>
            </a:r>
            <a:r>
              <a:rPr lang="en-US" sz="800" i="1" noProof="0" dirty="0"/>
              <a:t>Reset</a:t>
            </a:r>
            <a:r>
              <a:rPr lang="en-US" sz="800" noProof="0" dirty="0"/>
              <a:t>. </a:t>
            </a:r>
          </a:p>
        </p:txBody>
      </p:sp>
      <p:sp>
        <p:nvSpPr>
          <p:cNvPr id="10" name="textruta 9">
            <a:extLst>
              <a:ext uri="{FF2B5EF4-FFF2-40B4-BE49-F238E27FC236}">
                <a16:creationId xmlns:a16="http://schemas.microsoft.com/office/drawing/2014/main" id="{C49C5967-B80A-E7A8-432B-804EA96184DA}"/>
              </a:ext>
            </a:extLst>
          </p:cNvPr>
          <p:cNvSpPr txBox="1"/>
          <p:nvPr userDrawn="1"/>
        </p:nvSpPr>
        <p:spPr>
          <a:xfrm>
            <a:off x="4586575" y="2066955"/>
            <a:ext cx="1361445" cy="1092607"/>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Colors</a:t>
            </a:r>
          </a:p>
          <a:p>
            <a:pPr>
              <a:spcAft>
                <a:spcPts val="600"/>
              </a:spcAft>
            </a:pPr>
            <a:r>
              <a:rPr lang="en-US" sz="800" noProof="0" dirty="0"/>
              <a:t>This template is programmed with the KTH color palette. The correct colors are the in top row under </a:t>
            </a:r>
            <a:r>
              <a:rPr lang="en-US" sz="800" i="1" noProof="0" dirty="0"/>
              <a:t>Theme Colors</a:t>
            </a:r>
            <a:r>
              <a:rPr lang="en-US" sz="800" noProof="0" dirty="0"/>
              <a:t> and all colors under </a:t>
            </a:r>
            <a:r>
              <a:rPr lang="en-US" sz="800" i="1" noProof="0" dirty="0"/>
              <a:t>Custom Colors</a:t>
            </a:r>
            <a:r>
              <a:rPr lang="en-US" sz="800" noProof="0" dirty="0"/>
              <a:t>. Only use the correct colors.</a:t>
            </a:r>
          </a:p>
        </p:txBody>
      </p:sp>
      <p:sp>
        <p:nvSpPr>
          <p:cNvPr id="17" name="textruta 16">
            <a:extLst>
              <a:ext uri="{FF2B5EF4-FFF2-40B4-BE49-F238E27FC236}">
                <a16:creationId xmlns:a16="http://schemas.microsoft.com/office/drawing/2014/main" id="{5077E03A-6420-92EB-FBAB-1A11484F6E1E}"/>
              </a:ext>
            </a:extLst>
          </p:cNvPr>
          <p:cNvSpPr txBox="1"/>
          <p:nvPr userDrawn="1"/>
        </p:nvSpPr>
        <p:spPr>
          <a:xfrm>
            <a:off x="6938221" y="2303726"/>
            <a:ext cx="598588" cy="307777"/>
          </a:xfrm>
          <a:prstGeom prst="rect">
            <a:avLst/>
          </a:prstGeom>
          <a:noFill/>
        </p:spPr>
        <p:txBody>
          <a:bodyPr wrap="square" lIns="0" tIns="0" rIns="0" bIns="0" rtlCol="0">
            <a:spAutoFit/>
          </a:bodyPr>
          <a:lstStyle/>
          <a:p>
            <a:r>
              <a:rPr lang="en-US" sz="500" noProof="0" dirty="0">
                <a:solidFill>
                  <a:srgbClr val="F9535C"/>
                </a:solidFill>
              </a:rPr>
              <a:t>Do </a:t>
            </a:r>
            <a:r>
              <a:rPr lang="en-US" sz="500" u="sng" noProof="0" dirty="0">
                <a:solidFill>
                  <a:srgbClr val="F9535C"/>
                </a:solidFill>
              </a:rPr>
              <a:t>NOT</a:t>
            </a:r>
            <a:r>
              <a:rPr lang="en-US" sz="500" noProof="0" dirty="0">
                <a:solidFill>
                  <a:srgbClr val="F9535C"/>
                </a:solidFill>
              </a:rPr>
              <a:t> use the colors PowerPoint auto generates. They are not on brand. </a:t>
            </a:r>
          </a:p>
        </p:txBody>
      </p:sp>
      <p:sp>
        <p:nvSpPr>
          <p:cNvPr id="21" name="textruta 20">
            <a:extLst>
              <a:ext uri="{FF2B5EF4-FFF2-40B4-BE49-F238E27FC236}">
                <a16:creationId xmlns:a16="http://schemas.microsoft.com/office/drawing/2014/main" id="{8926CA3B-DA70-E9B7-6DA6-A695DCFB4726}"/>
              </a:ext>
            </a:extLst>
          </p:cNvPr>
          <p:cNvSpPr txBox="1"/>
          <p:nvPr userDrawn="1"/>
        </p:nvSpPr>
        <p:spPr>
          <a:xfrm>
            <a:off x="8095279" y="2061013"/>
            <a:ext cx="1588210" cy="2185214"/>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Change the image crop</a:t>
            </a:r>
          </a:p>
          <a:p>
            <a:pPr>
              <a:spcAft>
                <a:spcPts val="600"/>
              </a:spcAft>
            </a:pPr>
            <a:r>
              <a:rPr lang="en-US" sz="800" noProof="0" dirty="0"/>
              <a:t>When an image is placed in an image place holder, PowerPoint automatically crops the image to fit the placeholder. To alter what part of the image is shown:</a:t>
            </a:r>
          </a:p>
          <a:p>
            <a:pPr marL="120600" indent="-120600">
              <a:spcAft>
                <a:spcPts val="600"/>
              </a:spcAft>
              <a:buClr>
                <a:schemeClr val="accent1"/>
              </a:buClr>
              <a:buFont typeface="+mj-lt"/>
              <a:buAutoNum type="arabicPeriod"/>
            </a:pPr>
            <a:r>
              <a:rPr lang="en-US" sz="800" noProof="0" dirty="0"/>
              <a:t>Select the image and go to </a:t>
            </a:r>
            <a:br>
              <a:rPr lang="en-US" sz="800" noProof="0" dirty="0"/>
            </a:br>
            <a:r>
              <a:rPr lang="en-US" sz="800" noProof="0" dirty="0"/>
              <a:t>the </a:t>
            </a:r>
            <a:r>
              <a:rPr lang="en-US" sz="800" i="1" noProof="0" dirty="0"/>
              <a:t>Picture Format </a:t>
            </a:r>
            <a:r>
              <a:rPr lang="en-US" sz="800" noProof="0" dirty="0"/>
              <a:t>tab. </a:t>
            </a:r>
          </a:p>
          <a:p>
            <a:pPr marL="120600" indent="-120600">
              <a:spcAft>
                <a:spcPts val="600"/>
              </a:spcAft>
              <a:buClr>
                <a:schemeClr val="accent1"/>
              </a:buClr>
              <a:buFont typeface="+mj-lt"/>
              <a:buAutoNum type="arabicPeriod"/>
            </a:pPr>
            <a:r>
              <a:rPr lang="en-US" sz="800" noProof="0" dirty="0"/>
              <a:t>Choose </a:t>
            </a:r>
            <a:r>
              <a:rPr lang="en-US" sz="800" i="1" noProof="0" dirty="0"/>
              <a:t>Crop</a:t>
            </a:r>
            <a:r>
              <a:rPr lang="en-US" sz="800" noProof="0" dirty="0"/>
              <a:t>. Now, the entire image is visible, the cropped out parts are darker. </a:t>
            </a:r>
          </a:p>
          <a:p>
            <a:pPr marL="120600" indent="-120600">
              <a:spcAft>
                <a:spcPts val="600"/>
              </a:spcAft>
              <a:buClr>
                <a:schemeClr val="accent1"/>
              </a:buClr>
              <a:buFont typeface="+mj-lt"/>
              <a:buAutoNum type="arabicPeriod"/>
            </a:pPr>
            <a:r>
              <a:rPr lang="en-US" sz="800" noProof="0" dirty="0"/>
              <a:t>Now you can move the image around within the placeholder and/or zoom in by pulling the corners of the image. </a:t>
            </a:r>
          </a:p>
        </p:txBody>
      </p:sp>
      <p:sp>
        <p:nvSpPr>
          <p:cNvPr id="23" name="textruta 22">
            <a:extLst>
              <a:ext uri="{FF2B5EF4-FFF2-40B4-BE49-F238E27FC236}">
                <a16:creationId xmlns:a16="http://schemas.microsoft.com/office/drawing/2014/main" id="{4FF18537-A6AC-E08C-1D06-F4EFDB0287B8}"/>
              </a:ext>
            </a:extLst>
          </p:cNvPr>
          <p:cNvSpPr txBox="1"/>
          <p:nvPr userDrawn="1"/>
        </p:nvSpPr>
        <p:spPr>
          <a:xfrm>
            <a:off x="10058400" y="2061013"/>
            <a:ext cx="1486590" cy="1692771"/>
          </a:xfrm>
          <a:prstGeom prst="rect">
            <a:avLst/>
          </a:prstGeom>
          <a:noFill/>
        </p:spPr>
        <p:txBody>
          <a:bodyPr wrap="square" lIns="0" tIns="0" rIns="0" bIns="0" rtlCol="0">
            <a:spAutoFit/>
          </a:bodyPr>
          <a:lstStyle/>
          <a:p>
            <a:pPr>
              <a:spcAft>
                <a:spcPts val="600"/>
              </a:spcAft>
            </a:pPr>
            <a:r>
              <a:rPr lang="en-US" sz="1000" b="1" noProof="0" dirty="0">
                <a:solidFill>
                  <a:schemeClr val="tx2"/>
                </a:solidFill>
              </a:rPr>
              <a:t>Edit image background</a:t>
            </a:r>
          </a:p>
          <a:p>
            <a:pPr marL="120600" indent="-120600">
              <a:spcAft>
                <a:spcPts val="600"/>
              </a:spcAft>
              <a:buClr>
                <a:schemeClr val="accent1"/>
              </a:buClr>
              <a:buAutoNum type="arabicPeriod"/>
            </a:pPr>
            <a:r>
              <a:rPr lang="en-US" sz="800" noProof="0" dirty="0"/>
              <a:t>Select </a:t>
            </a:r>
            <a:r>
              <a:rPr lang="en-US" sz="800" i="1" noProof="0" dirty="0"/>
              <a:t>Design</a:t>
            </a:r>
            <a:r>
              <a:rPr lang="en-US" sz="800" noProof="0" dirty="0"/>
              <a:t> &gt; </a:t>
            </a:r>
            <a:r>
              <a:rPr lang="en-US" sz="800" i="1" noProof="0" dirty="0"/>
              <a:t>Format Background</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Format Background pane</a:t>
            </a:r>
            <a:r>
              <a:rPr lang="en-US" sz="800" noProof="0" dirty="0"/>
              <a:t>, select </a:t>
            </a:r>
            <a:r>
              <a:rPr lang="en-US" sz="800" i="1" noProof="0" dirty="0"/>
              <a:t>Picture or texture fill</a:t>
            </a:r>
            <a:r>
              <a:rPr lang="en-US" sz="800" noProof="0" dirty="0"/>
              <a:t>.</a:t>
            </a:r>
          </a:p>
          <a:p>
            <a:pPr marL="120600" indent="-120600">
              <a:spcAft>
                <a:spcPts val="600"/>
              </a:spcAft>
              <a:buClr>
                <a:schemeClr val="accent1"/>
              </a:buClr>
              <a:buAutoNum type="arabicPeriod"/>
            </a:pPr>
            <a:r>
              <a:rPr lang="en-US" sz="800" noProof="0" dirty="0"/>
              <a:t>Select </a:t>
            </a:r>
            <a:r>
              <a:rPr lang="en-US" sz="800" i="1" noProof="0" dirty="0"/>
              <a:t>File</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Insert Picture</a:t>
            </a:r>
            <a:r>
              <a:rPr lang="en-US" sz="800" noProof="0" dirty="0"/>
              <a:t> dialog box, choose the picture </a:t>
            </a:r>
            <a:br>
              <a:rPr lang="en-US" sz="800" noProof="0" dirty="0"/>
            </a:br>
            <a:r>
              <a:rPr lang="en-US" sz="800" noProof="0" dirty="0"/>
              <a:t>you want to use and then select </a:t>
            </a:r>
            <a:r>
              <a:rPr lang="en-US" sz="800" i="1" noProof="0" dirty="0"/>
              <a:t>Insert</a:t>
            </a:r>
            <a:r>
              <a:rPr lang="en-US" sz="800" noProof="0" dirty="0"/>
              <a:t>.</a:t>
            </a:r>
          </a:p>
        </p:txBody>
      </p:sp>
      <p:sp>
        <p:nvSpPr>
          <p:cNvPr id="24" name="textruta 23">
            <a:extLst>
              <a:ext uri="{FF2B5EF4-FFF2-40B4-BE49-F238E27FC236}">
                <a16:creationId xmlns:a16="http://schemas.microsoft.com/office/drawing/2014/main" id="{49208D86-4998-5146-37DE-48F0F8DCB7BC}"/>
              </a:ext>
            </a:extLst>
          </p:cNvPr>
          <p:cNvSpPr txBox="1"/>
          <p:nvPr userDrawn="1"/>
        </p:nvSpPr>
        <p:spPr>
          <a:xfrm>
            <a:off x="4586575" y="4075714"/>
            <a:ext cx="1295401" cy="1569660"/>
          </a:xfrm>
          <a:prstGeom prst="rect">
            <a:avLst/>
          </a:prstGeom>
          <a:noFill/>
        </p:spPr>
        <p:txBody>
          <a:bodyPr wrap="square" lIns="0" tIns="0" rIns="0" bIns="0" rtlCol="0">
            <a:spAutoFit/>
          </a:bodyPr>
          <a:lstStyle/>
          <a:p>
            <a:pPr>
              <a:spcAft>
                <a:spcPts val="600"/>
              </a:spcAft>
            </a:pPr>
            <a:r>
              <a:rPr lang="en-US" sz="1000" b="1" noProof="0" dirty="0">
                <a:solidFill>
                  <a:schemeClr val="tx2"/>
                </a:solidFill>
              </a:rPr>
              <a:t>Header and footer</a:t>
            </a:r>
          </a:p>
          <a:p>
            <a:pPr>
              <a:spcAft>
                <a:spcPts val="600"/>
              </a:spcAft>
            </a:pPr>
            <a:r>
              <a:rPr lang="en-US" sz="800" noProof="0" dirty="0"/>
              <a:t>Insert header/footer, </a:t>
            </a:r>
            <a:br>
              <a:rPr lang="en-US" sz="800" noProof="0" dirty="0"/>
            </a:br>
            <a:r>
              <a:rPr lang="en-US" sz="800" noProof="0" dirty="0"/>
              <a:t>date and page numbers:</a:t>
            </a:r>
          </a:p>
          <a:p>
            <a:pPr marL="120600" indent="-120600">
              <a:spcAft>
                <a:spcPts val="600"/>
              </a:spcAft>
              <a:buClr>
                <a:schemeClr val="accent1"/>
              </a:buClr>
              <a:buFont typeface="+mj-lt"/>
              <a:buAutoNum type="arabicPeriod"/>
            </a:pPr>
            <a:r>
              <a:rPr lang="en-US" sz="800" noProof="0" dirty="0"/>
              <a:t>On the </a:t>
            </a:r>
            <a:r>
              <a:rPr lang="en-US" sz="800" i="1" noProof="0" dirty="0"/>
              <a:t>Insert</a:t>
            </a:r>
            <a:r>
              <a:rPr lang="en-US" sz="800" noProof="0" dirty="0"/>
              <a:t> tab, </a:t>
            </a:r>
            <a:br>
              <a:rPr lang="en-US" sz="800" noProof="0" dirty="0"/>
            </a:br>
            <a:r>
              <a:rPr lang="en-US" sz="800" noProof="0" dirty="0"/>
              <a:t>click </a:t>
            </a:r>
            <a:r>
              <a:rPr lang="en-US" sz="800" i="1" noProof="0" dirty="0"/>
              <a:t>Header &amp; Footer</a:t>
            </a:r>
            <a:r>
              <a:rPr lang="en-US" sz="800" noProof="0" dirty="0"/>
              <a:t>.</a:t>
            </a:r>
          </a:p>
          <a:p>
            <a:pPr marL="120600" indent="-120600">
              <a:spcAft>
                <a:spcPts val="600"/>
              </a:spcAft>
              <a:buClr>
                <a:schemeClr val="accent1"/>
              </a:buClr>
              <a:buFont typeface="+mj-lt"/>
              <a:buAutoNum type="arabicPeriod"/>
            </a:pPr>
            <a:r>
              <a:rPr lang="en-US" sz="800" noProof="0" dirty="0"/>
              <a:t>In the Header and Footer box, on the Slide tab, select the information you want.</a:t>
            </a:r>
          </a:p>
          <a:p>
            <a:pPr marL="120600" indent="-120600">
              <a:spcAft>
                <a:spcPts val="600"/>
              </a:spcAft>
              <a:buClr>
                <a:schemeClr val="accent1"/>
              </a:buClr>
              <a:buFont typeface="+mj-lt"/>
              <a:buAutoNum type="arabicPeriod"/>
            </a:pPr>
            <a:r>
              <a:rPr lang="en-US" sz="800" noProof="0" dirty="0"/>
              <a:t>Click </a:t>
            </a:r>
            <a:r>
              <a:rPr lang="en-US" sz="800" i="1" noProof="0" dirty="0"/>
              <a:t>Apply to All</a:t>
            </a:r>
            <a:r>
              <a:rPr lang="en-US" sz="800" noProof="0" dirty="0"/>
              <a:t>.</a:t>
            </a:r>
          </a:p>
        </p:txBody>
      </p:sp>
      <p:pic>
        <p:nvPicPr>
          <p:cNvPr id="32" name="Bildobjekt 31" descr="En bild som visar moln, utomhus, himmel, byggnad&#10;&#10;Automatiskt genererad beskrivning">
            <a:extLst>
              <a:ext uri="{FF2B5EF4-FFF2-40B4-BE49-F238E27FC236}">
                <a16:creationId xmlns:a16="http://schemas.microsoft.com/office/drawing/2014/main" id="{94D13EAB-F856-BC62-1623-0235CE917A48}"/>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8066200" y="4318565"/>
            <a:ext cx="1493231" cy="1981989"/>
          </a:xfrm>
          <a:prstGeom prst="rect">
            <a:avLst/>
          </a:prstGeom>
        </p:spPr>
      </p:pic>
      <p:pic>
        <p:nvPicPr>
          <p:cNvPr id="34" name="Picture 4" descr="Microsoft PowerPoint 365 Overview and Supported File Types">
            <a:extLst>
              <a:ext uri="{FF2B5EF4-FFF2-40B4-BE49-F238E27FC236}">
                <a16:creationId xmlns:a16="http://schemas.microsoft.com/office/drawing/2014/main" id="{6B95C2D0-3101-BE06-9875-AF2510CF817D}"/>
              </a:ext>
            </a:extLst>
          </p:cNvPr>
          <p:cNvPicPr>
            <a:picLocks noChangeAspect="1" noChangeArrowheads="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721644" y="2028884"/>
            <a:ext cx="208587" cy="33433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4" descr="Microsoft PowerPoint 365 Overview and Supported File Types">
            <a:extLst>
              <a:ext uri="{FF2B5EF4-FFF2-40B4-BE49-F238E27FC236}">
                <a16:creationId xmlns:a16="http://schemas.microsoft.com/office/drawing/2014/main" id="{D259F975-3B73-BC3A-B353-F3B57056CAFE}"/>
              </a:ext>
            </a:extLst>
          </p:cNvPr>
          <p:cNvPicPr>
            <a:picLocks noChangeAspect="1" noChangeArrowheads="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716536" y="3527233"/>
            <a:ext cx="328130" cy="105310"/>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4" descr="Microsoft PowerPoint 365 Overview and Supported File Types">
            <a:extLst>
              <a:ext uri="{FF2B5EF4-FFF2-40B4-BE49-F238E27FC236}">
                <a16:creationId xmlns:a16="http://schemas.microsoft.com/office/drawing/2014/main" id="{C0490137-5992-062D-6D6B-7856F08EDE8C}"/>
              </a:ext>
            </a:extLst>
          </p:cNvPr>
          <p:cNvPicPr>
            <a:picLocks noChangeAspect="1" noChangeArrowheads="1"/>
          </p:cNvPicPr>
          <p:nvPr userDrawn="1"/>
        </p:nvPicPr>
        <p:blipFill rotWithShape="1">
          <a:blip r:embed="rId7" cstate="print">
            <a:extLst>
              <a:ext uri="{28A0092B-C50C-407E-A947-70E740481C1C}">
                <a14:useLocalDpi xmlns:a14="http://schemas.microsoft.com/office/drawing/2010/main"/>
              </a:ext>
            </a:extLst>
          </a:blip>
          <a:srcRect/>
          <a:stretch/>
        </p:blipFill>
        <p:spPr bwMode="auto">
          <a:xfrm>
            <a:off x="716536" y="4708556"/>
            <a:ext cx="256300" cy="10531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eader and Footer on slides - Microsoft PowerPoint 365">
            <a:extLst>
              <a:ext uri="{FF2B5EF4-FFF2-40B4-BE49-F238E27FC236}">
                <a16:creationId xmlns:a16="http://schemas.microsoft.com/office/drawing/2014/main" id="{514F44FF-F14B-3D48-E9D1-E7E8BB20F671}"/>
              </a:ext>
            </a:extLst>
          </p:cNvPr>
          <p:cNvPicPr>
            <a:picLocks noChangeAspect="1" noChangeArrowheads="1"/>
          </p:cNvPicPr>
          <p:nvPr userDrawn="1"/>
        </p:nvPicPr>
        <p:blipFill>
          <a:blip r:embed="rId8" cstate="print">
            <a:extLst>
              <a:ext uri="{28A0092B-C50C-407E-A947-70E740481C1C}">
                <a14:useLocalDpi xmlns:a14="http://schemas.microsoft.com/office/drawing/2010/main"/>
              </a:ext>
            </a:extLst>
          </a:blip>
          <a:srcRect/>
          <a:stretch>
            <a:fillRect/>
          </a:stretch>
        </p:blipFill>
        <p:spPr bwMode="auto">
          <a:xfrm>
            <a:off x="6062042" y="4075714"/>
            <a:ext cx="1493231" cy="1103568"/>
          </a:xfrm>
          <a:prstGeom prst="rect">
            <a:avLst/>
          </a:prstGeom>
          <a:noFill/>
          <a:extLst>
            <a:ext uri="{909E8E84-426E-40DD-AFC4-6F175D3DCCD1}">
              <a14:hiddenFill xmlns:a14="http://schemas.microsoft.com/office/drawing/2010/main">
                <a:solidFill>
                  <a:srgbClr val="FFFFFF"/>
                </a:solidFill>
              </a14:hiddenFill>
            </a:ext>
          </a:extLst>
        </p:spPr>
      </p:pic>
      <p:grpSp>
        <p:nvGrpSpPr>
          <p:cNvPr id="1125" name="Grupp 1124">
            <a:extLst>
              <a:ext uri="{FF2B5EF4-FFF2-40B4-BE49-F238E27FC236}">
                <a16:creationId xmlns:a16="http://schemas.microsoft.com/office/drawing/2014/main" id="{918579BF-BDEF-7B25-9DCA-62CC6D39793B}"/>
              </a:ext>
            </a:extLst>
          </p:cNvPr>
          <p:cNvGrpSpPr/>
          <p:nvPr userDrawn="1"/>
        </p:nvGrpSpPr>
        <p:grpSpPr>
          <a:xfrm>
            <a:off x="6063783" y="2031850"/>
            <a:ext cx="800155" cy="1688467"/>
            <a:chOff x="6063783" y="2031850"/>
            <a:chExt cx="1800691" cy="3799773"/>
          </a:xfrm>
        </p:grpSpPr>
        <p:pic>
          <p:nvPicPr>
            <p:cNvPr id="1030" name="Picture 6" descr="Hacking PowerPoint to create custom colors | BrightCarbon">
              <a:extLst>
                <a:ext uri="{FF2B5EF4-FFF2-40B4-BE49-F238E27FC236}">
                  <a16:creationId xmlns:a16="http://schemas.microsoft.com/office/drawing/2014/main" id="{1E944A0E-9B5A-F599-847C-0737479E7BC1}"/>
                </a:ext>
              </a:extLst>
            </p:cNvPr>
            <p:cNvPicPr>
              <a:picLocks noChangeAspect="1" noChangeArrowheads="1"/>
            </p:cNvPicPr>
            <p:nvPr userDrawn="1"/>
          </p:nvPicPr>
          <p:blipFill rotWithShape="1">
            <a:blip r:embed="rId9" cstate="print">
              <a:extLst>
                <a:ext uri="{28A0092B-C50C-407E-A947-70E740481C1C}">
                  <a14:useLocalDpi xmlns:a14="http://schemas.microsoft.com/office/drawing/2010/main"/>
                </a:ext>
              </a:extLst>
            </a:blip>
            <a:srcRect l="36641" r="36664"/>
            <a:stretch/>
          </p:blipFill>
          <p:spPr bwMode="auto">
            <a:xfrm>
              <a:off x="6063783" y="2031850"/>
              <a:ext cx="1800691" cy="3799773"/>
            </a:xfrm>
            <a:prstGeom prst="rect">
              <a:avLst/>
            </a:prstGeom>
            <a:noFill/>
            <a:extLst>
              <a:ext uri="{909E8E84-426E-40DD-AFC4-6F175D3DCCD1}">
                <a14:hiddenFill xmlns:a14="http://schemas.microsoft.com/office/drawing/2010/main">
                  <a:solidFill>
                    <a:srgbClr val="FFFFFF"/>
                  </a:solidFill>
                </a14:hiddenFill>
              </a:ext>
            </a:extLst>
          </p:spPr>
        </p:pic>
        <p:sp>
          <p:nvSpPr>
            <p:cNvPr id="1123" name="Rektangel 1122">
              <a:extLst>
                <a:ext uri="{FF2B5EF4-FFF2-40B4-BE49-F238E27FC236}">
                  <a16:creationId xmlns:a16="http://schemas.microsoft.com/office/drawing/2014/main" id="{1ED61660-0DB3-CEA4-C27E-195D3290C063}"/>
                </a:ext>
              </a:extLst>
            </p:cNvPr>
            <p:cNvSpPr/>
            <p:nvPr userDrawn="1"/>
          </p:nvSpPr>
          <p:spPr>
            <a:xfrm>
              <a:off x="6095206" y="3789106"/>
              <a:ext cx="1743870" cy="7370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4" name="Rektangel 1123">
              <a:extLst>
                <a:ext uri="{FF2B5EF4-FFF2-40B4-BE49-F238E27FC236}">
                  <a16:creationId xmlns:a16="http://schemas.microsoft.com/office/drawing/2014/main" id="{97E61731-FF1C-C73E-9B81-82B5C53D7931}"/>
                </a:ext>
              </a:extLst>
            </p:cNvPr>
            <p:cNvSpPr/>
            <p:nvPr userDrawn="1"/>
          </p:nvSpPr>
          <p:spPr>
            <a:xfrm>
              <a:off x="6451542" y="2363219"/>
              <a:ext cx="1378008" cy="9832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9" name="Rektangel 18">
              <a:extLst>
                <a:ext uri="{FF2B5EF4-FFF2-40B4-BE49-F238E27FC236}">
                  <a16:creationId xmlns:a16="http://schemas.microsoft.com/office/drawing/2014/main" id="{71A7971D-8FD8-6FAF-FBCA-543DAC638849}"/>
                </a:ext>
              </a:extLst>
            </p:cNvPr>
            <p:cNvSpPr/>
            <p:nvPr userDrawn="1"/>
          </p:nvSpPr>
          <p:spPr>
            <a:xfrm>
              <a:off x="6637090" y="2388295"/>
              <a:ext cx="126305" cy="12630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0" name="Rektangel 19">
              <a:extLst>
                <a:ext uri="{FF2B5EF4-FFF2-40B4-BE49-F238E27FC236}">
                  <a16:creationId xmlns:a16="http://schemas.microsoft.com/office/drawing/2014/main" id="{C9DDD11C-85E2-44BE-6A91-D72279994B26}"/>
                </a:ext>
              </a:extLst>
            </p:cNvPr>
            <p:cNvSpPr/>
            <p:nvPr userDrawn="1"/>
          </p:nvSpPr>
          <p:spPr>
            <a:xfrm>
              <a:off x="6812622" y="2388295"/>
              <a:ext cx="126305" cy="12630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2" name="Rektangel 21">
              <a:extLst>
                <a:ext uri="{FF2B5EF4-FFF2-40B4-BE49-F238E27FC236}">
                  <a16:creationId xmlns:a16="http://schemas.microsoft.com/office/drawing/2014/main" id="{A5F72BB2-8D37-F99C-624D-D6B83AEDB706}"/>
                </a:ext>
              </a:extLst>
            </p:cNvPr>
            <p:cNvSpPr/>
            <p:nvPr userDrawn="1"/>
          </p:nvSpPr>
          <p:spPr>
            <a:xfrm>
              <a:off x="6988154" y="23882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5" name="Rektangel 24">
              <a:extLst>
                <a:ext uri="{FF2B5EF4-FFF2-40B4-BE49-F238E27FC236}">
                  <a16:creationId xmlns:a16="http://schemas.microsoft.com/office/drawing/2014/main" id="{84DFF5F4-D1BE-880D-87D8-99BD8D5986B4}"/>
                </a:ext>
              </a:extLst>
            </p:cNvPr>
            <p:cNvSpPr/>
            <p:nvPr userDrawn="1"/>
          </p:nvSpPr>
          <p:spPr>
            <a:xfrm>
              <a:off x="7163686" y="23882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6" name="Rektangel 25">
              <a:extLst>
                <a:ext uri="{FF2B5EF4-FFF2-40B4-BE49-F238E27FC236}">
                  <a16:creationId xmlns:a16="http://schemas.microsoft.com/office/drawing/2014/main" id="{57799422-9E37-147F-C5EF-BD69600A0259}"/>
                </a:ext>
              </a:extLst>
            </p:cNvPr>
            <p:cNvSpPr/>
            <p:nvPr userDrawn="1"/>
          </p:nvSpPr>
          <p:spPr>
            <a:xfrm>
              <a:off x="7339218" y="23882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7" name="Rektangel 26">
              <a:extLst>
                <a:ext uri="{FF2B5EF4-FFF2-40B4-BE49-F238E27FC236}">
                  <a16:creationId xmlns:a16="http://schemas.microsoft.com/office/drawing/2014/main" id="{CF0BD3BD-CA59-5181-6A7D-85BA481CF469}"/>
                </a:ext>
              </a:extLst>
            </p:cNvPr>
            <p:cNvSpPr/>
            <p:nvPr userDrawn="1"/>
          </p:nvSpPr>
          <p:spPr>
            <a:xfrm>
              <a:off x="7514750" y="2388295"/>
              <a:ext cx="126305" cy="12630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8" name="Rektangel 27">
              <a:extLst>
                <a:ext uri="{FF2B5EF4-FFF2-40B4-BE49-F238E27FC236}">
                  <a16:creationId xmlns:a16="http://schemas.microsoft.com/office/drawing/2014/main" id="{AD483FB7-DFED-6269-FDB3-DA99BF8F1738}"/>
                </a:ext>
              </a:extLst>
            </p:cNvPr>
            <p:cNvSpPr/>
            <p:nvPr userDrawn="1"/>
          </p:nvSpPr>
          <p:spPr>
            <a:xfrm>
              <a:off x="7690282" y="23882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31" name="Rektangel 30">
              <a:extLst>
                <a:ext uri="{FF2B5EF4-FFF2-40B4-BE49-F238E27FC236}">
                  <a16:creationId xmlns:a16="http://schemas.microsoft.com/office/drawing/2014/main" id="{53C50CD2-78C6-259C-97BD-526C014CEC81}"/>
                </a:ext>
              </a:extLst>
            </p:cNvPr>
            <p:cNvSpPr/>
            <p:nvPr userDrawn="1"/>
          </p:nvSpPr>
          <p:spPr>
            <a:xfrm>
              <a:off x="6637090" y="2661345"/>
              <a:ext cx="126305" cy="13209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7" name="Rektangel 46">
              <a:extLst>
                <a:ext uri="{FF2B5EF4-FFF2-40B4-BE49-F238E27FC236}">
                  <a16:creationId xmlns:a16="http://schemas.microsoft.com/office/drawing/2014/main" id="{8C1EA23D-35AA-C628-1834-7EC9974FAFA4}"/>
                </a:ext>
              </a:extLst>
            </p:cNvPr>
            <p:cNvSpPr/>
            <p:nvPr userDrawn="1"/>
          </p:nvSpPr>
          <p:spPr>
            <a:xfrm>
              <a:off x="6637090" y="2794041"/>
              <a:ext cx="126305" cy="132095"/>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55" name="Rektangel 54">
              <a:extLst>
                <a:ext uri="{FF2B5EF4-FFF2-40B4-BE49-F238E27FC236}">
                  <a16:creationId xmlns:a16="http://schemas.microsoft.com/office/drawing/2014/main" id="{583F96BE-E130-3FDD-576F-874BDC4A6C90}"/>
                </a:ext>
              </a:extLst>
            </p:cNvPr>
            <p:cNvSpPr/>
            <p:nvPr userDrawn="1"/>
          </p:nvSpPr>
          <p:spPr>
            <a:xfrm>
              <a:off x="6637090" y="2926737"/>
              <a:ext cx="126305" cy="132095"/>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63" name="Rektangel 62">
              <a:extLst>
                <a:ext uri="{FF2B5EF4-FFF2-40B4-BE49-F238E27FC236}">
                  <a16:creationId xmlns:a16="http://schemas.microsoft.com/office/drawing/2014/main" id="{33F1335E-E254-7491-5F15-30754BBD151E}"/>
                </a:ext>
              </a:extLst>
            </p:cNvPr>
            <p:cNvSpPr/>
            <p:nvPr userDrawn="1"/>
          </p:nvSpPr>
          <p:spPr>
            <a:xfrm>
              <a:off x="6637090" y="3059433"/>
              <a:ext cx="126305" cy="132095"/>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33" name="Rektangel 1032">
              <a:extLst>
                <a:ext uri="{FF2B5EF4-FFF2-40B4-BE49-F238E27FC236}">
                  <a16:creationId xmlns:a16="http://schemas.microsoft.com/office/drawing/2014/main" id="{B691ED7D-5446-C50C-8BC0-D7AB6D614765}"/>
                </a:ext>
              </a:extLst>
            </p:cNvPr>
            <p:cNvSpPr/>
            <p:nvPr userDrawn="1"/>
          </p:nvSpPr>
          <p:spPr>
            <a:xfrm>
              <a:off x="6637090" y="3192130"/>
              <a:ext cx="126305" cy="132095"/>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2" name="Rektangel 1041">
              <a:extLst>
                <a:ext uri="{FF2B5EF4-FFF2-40B4-BE49-F238E27FC236}">
                  <a16:creationId xmlns:a16="http://schemas.microsoft.com/office/drawing/2014/main" id="{7F5FD652-25CD-24B4-271B-3CFC6E465C27}"/>
                </a:ext>
              </a:extLst>
            </p:cNvPr>
            <p:cNvSpPr/>
            <p:nvPr userDrawn="1"/>
          </p:nvSpPr>
          <p:spPr>
            <a:xfrm>
              <a:off x="6812622" y="2661345"/>
              <a:ext cx="126305" cy="13209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3" name="Rektangel 1042">
              <a:extLst>
                <a:ext uri="{FF2B5EF4-FFF2-40B4-BE49-F238E27FC236}">
                  <a16:creationId xmlns:a16="http://schemas.microsoft.com/office/drawing/2014/main" id="{46276B80-6A92-8513-3337-2E24980A3660}"/>
                </a:ext>
              </a:extLst>
            </p:cNvPr>
            <p:cNvSpPr/>
            <p:nvPr userDrawn="1"/>
          </p:nvSpPr>
          <p:spPr>
            <a:xfrm>
              <a:off x="6812622" y="2794041"/>
              <a:ext cx="126305" cy="13209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4" name="Rektangel 1043">
              <a:extLst>
                <a:ext uri="{FF2B5EF4-FFF2-40B4-BE49-F238E27FC236}">
                  <a16:creationId xmlns:a16="http://schemas.microsoft.com/office/drawing/2014/main" id="{DF08EB8B-05A1-5D1E-3453-E35F156EA44C}"/>
                </a:ext>
              </a:extLst>
            </p:cNvPr>
            <p:cNvSpPr/>
            <p:nvPr userDrawn="1"/>
          </p:nvSpPr>
          <p:spPr>
            <a:xfrm>
              <a:off x="6812622" y="2926737"/>
              <a:ext cx="126305" cy="13209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5" name="Rektangel 1044">
              <a:extLst>
                <a:ext uri="{FF2B5EF4-FFF2-40B4-BE49-F238E27FC236}">
                  <a16:creationId xmlns:a16="http://schemas.microsoft.com/office/drawing/2014/main" id="{73BCDEB0-F256-9D9A-1735-36C73E5A4254}"/>
                </a:ext>
              </a:extLst>
            </p:cNvPr>
            <p:cNvSpPr/>
            <p:nvPr userDrawn="1"/>
          </p:nvSpPr>
          <p:spPr>
            <a:xfrm>
              <a:off x="6812622" y="3059433"/>
              <a:ext cx="126305" cy="132095"/>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6" name="Rektangel 1045">
              <a:extLst>
                <a:ext uri="{FF2B5EF4-FFF2-40B4-BE49-F238E27FC236}">
                  <a16:creationId xmlns:a16="http://schemas.microsoft.com/office/drawing/2014/main" id="{8FB9E9DD-EB3E-746C-2937-90EBE84B3B2A}"/>
                </a:ext>
              </a:extLst>
            </p:cNvPr>
            <p:cNvSpPr/>
            <p:nvPr userDrawn="1"/>
          </p:nvSpPr>
          <p:spPr>
            <a:xfrm>
              <a:off x="6812622" y="3192130"/>
              <a:ext cx="126305" cy="13209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7" name="Rektangel 1046">
              <a:extLst>
                <a:ext uri="{FF2B5EF4-FFF2-40B4-BE49-F238E27FC236}">
                  <a16:creationId xmlns:a16="http://schemas.microsoft.com/office/drawing/2014/main" id="{BF36CC62-D665-E681-0504-9607980B29D1}"/>
                </a:ext>
              </a:extLst>
            </p:cNvPr>
            <p:cNvSpPr/>
            <p:nvPr userDrawn="1"/>
          </p:nvSpPr>
          <p:spPr>
            <a:xfrm>
              <a:off x="6988154" y="2661345"/>
              <a:ext cx="126305" cy="132095"/>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8" name="Rektangel 1047">
              <a:extLst>
                <a:ext uri="{FF2B5EF4-FFF2-40B4-BE49-F238E27FC236}">
                  <a16:creationId xmlns:a16="http://schemas.microsoft.com/office/drawing/2014/main" id="{2ED8E59C-4621-6900-D5FB-392B5F63EB15}"/>
                </a:ext>
              </a:extLst>
            </p:cNvPr>
            <p:cNvSpPr/>
            <p:nvPr userDrawn="1"/>
          </p:nvSpPr>
          <p:spPr>
            <a:xfrm>
              <a:off x="6988154" y="2794041"/>
              <a:ext cx="126305" cy="13209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9" name="Rektangel 1048">
              <a:extLst>
                <a:ext uri="{FF2B5EF4-FFF2-40B4-BE49-F238E27FC236}">
                  <a16:creationId xmlns:a16="http://schemas.microsoft.com/office/drawing/2014/main" id="{1D1DFB72-8F94-C092-AB42-28E3BBF12D65}"/>
                </a:ext>
              </a:extLst>
            </p:cNvPr>
            <p:cNvSpPr/>
            <p:nvPr userDrawn="1"/>
          </p:nvSpPr>
          <p:spPr>
            <a:xfrm>
              <a:off x="6988154" y="2926737"/>
              <a:ext cx="126305" cy="132095"/>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0" name="Rektangel 1049">
              <a:extLst>
                <a:ext uri="{FF2B5EF4-FFF2-40B4-BE49-F238E27FC236}">
                  <a16:creationId xmlns:a16="http://schemas.microsoft.com/office/drawing/2014/main" id="{9B388C52-8786-0F82-B433-3A79F1A4541A}"/>
                </a:ext>
              </a:extLst>
            </p:cNvPr>
            <p:cNvSpPr/>
            <p:nvPr userDrawn="1"/>
          </p:nvSpPr>
          <p:spPr>
            <a:xfrm>
              <a:off x="6988154" y="3059433"/>
              <a:ext cx="126305" cy="132095"/>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1" name="Rektangel 1050">
              <a:extLst>
                <a:ext uri="{FF2B5EF4-FFF2-40B4-BE49-F238E27FC236}">
                  <a16:creationId xmlns:a16="http://schemas.microsoft.com/office/drawing/2014/main" id="{D4A998FA-E595-5120-1049-A3CC1C33E72E}"/>
                </a:ext>
              </a:extLst>
            </p:cNvPr>
            <p:cNvSpPr/>
            <p:nvPr userDrawn="1"/>
          </p:nvSpPr>
          <p:spPr>
            <a:xfrm>
              <a:off x="6988154" y="3192130"/>
              <a:ext cx="126305" cy="132095"/>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2" name="Rektangel 1051">
              <a:extLst>
                <a:ext uri="{FF2B5EF4-FFF2-40B4-BE49-F238E27FC236}">
                  <a16:creationId xmlns:a16="http://schemas.microsoft.com/office/drawing/2014/main" id="{C8E27C97-6977-891F-B3C0-4CDE580AF57D}"/>
                </a:ext>
              </a:extLst>
            </p:cNvPr>
            <p:cNvSpPr/>
            <p:nvPr userDrawn="1"/>
          </p:nvSpPr>
          <p:spPr>
            <a:xfrm>
              <a:off x="7163686" y="2661345"/>
              <a:ext cx="126305" cy="132095"/>
            </a:xfrm>
            <a:prstGeom prst="rect">
              <a:avLst/>
            </a:prstGeom>
            <a:solidFill>
              <a:schemeClr val="accent3">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3" name="Rektangel 1052">
              <a:extLst>
                <a:ext uri="{FF2B5EF4-FFF2-40B4-BE49-F238E27FC236}">
                  <a16:creationId xmlns:a16="http://schemas.microsoft.com/office/drawing/2014/main" id="{19FB03B5-BA18-74B7-9DEB-889CA8566539}"/>
                </a:ext>
              </a:extLst>
            </p:cNvPr>
            <p:cNvSpPr/>
            <p:nvPr userDrawn="1"/>
          </p:nvSpPr>
          <p:spPr>
            <a:xfrm>
              <a:off x="7163686" y="2794041"/>
              <a:ext cx="126305" cy="132095"/>
            </a:xfrm>
            <a:prstGeom prst="rect">
              <a:avLst/>
            </a:prstGeom>
            <a:solidFill>
              <a:schemeClr val="accent3">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4" name="Rektangel 1053">
              <a:extLst>
                <a:ext uri="{FF2B5EF4-FFF2-40B4-BE49-F238E27FC236}">
                  <a16:creationId xmlns:a16="http://schemas.microsoft.com/office/drawing/2014/main" id="{57CEB0A0-35F5-997A-61EB-3E655B67D34B}"/>
                </a:ext>
              </a:extLst>
            </p:cNvPr>
            <p:cNvSpPr/>
            <p:nvPr userDrawn="1"/>
          </p:nvSpPr>
          <p:spPr>
            <a:xfrm>
              <a:off x="7163686" y="2926737"/>
              <a:ext cx="126305" cy="132095"/>
            </a:xfrm>
            <a:prstGeom prst="rect">
              <a:avLst/>
            </a:prstGeom>
            <a:solidFill>
              <a:schemeClr val="accent3">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5" name="Rektangel 1054">
              <a:extLst>
                <a:ext uri="{FF2B5EF4-FFF2-40B4-BE49-F238E27FC236}">
                  <a16:creationId xmlns:a16="http://schemas.microsoft.com/office/drawing/2014/main" id="{187C5504-CF38-10EF-6656-9D373F47022B}"/>
                </a:ext>
              </a:extLst>
            </p:cNvPr>
            <p:cNvSpPr/>
            <p:nvPr userDrawn="1"/>
          </p:nvSpPr>
          <p:spPr>
            <a:xfrm>
              <a:off x="7163686" y="3059433"/>
              <a:ext cx="126305" cy="132095"/>
            </a:xfrm>
            <a:prstGeom prst="rect">
              <a:avLst/>
            </a:prstGeom>
            <a:solidFill>
              <a:schemeClr val="accent3">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6" name="Rektangel 1055">
              <a:extLst>
                <a:ext uri="{FF2B5EF4-FFF2-40B4-BE49-F238E27FC236}">
                  <a16:creationId xmlns:a16="http://schemas.microsoft.com/office/drawing/2014/main" id="{00ECB6FD-B078-6ED8-3BF0-E6FFFB4125FF}"/>
                </a:ext>
              </a:extLst>
            </p:cNvPr>
            <p:cNvSpPr/>
            <p:nvPr userDrawn="1"/>
          </p:nvSpPr>
          <p:spPr>
            <a:xfrm>
              <a:off x="7163686" y="3192130"/>
              <a:ext cx="126305" cy="132095"/>
            </a:xfrm>
            <a:prstGeom prst="rect">
              <a:avLst/>
            </a:prstGeom>
            <a:solidFill>
              <a:schemeClr val="accent3">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7" name="Rektangel 1056">
              <a:extLst>
                <a:ext uri="{FF2B5EF4-FFF2-40B4-BE49-F238E27FC236}">
                  <a16:creationId xmlns:a16="http://schemas.microsoft.com/office/drawing/2014/main" id="{2A81D134-CDD5-3A11-68DD-9A7DA325C5E2}"/>
                </a:ext>
              </a:extLst>
            </p:cNvPr>
            <p:cNvSpPr/>
            <p:nvPr userDrawn="1"/>
          </p:nvSpPr>
          <p:spPr>
            <a:xfrm>
              <a:off x="7339331" y="2661345"/>
              <a:ext cx="126305" cy="132095"/>
            </a:xfrm>
            <a:prstGeom prst="rect">
              <a:avLst/>
            </a:prstGeom>
            <a:solidFill>
              <a:schemeClr val="accent4">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8" name="Rektangel 1057">
              <a:extLst>
                <a:ext uri="{FF2B5EF4-FFF2-40B4-BE49-F238E27FC236}">
                  <a16:creationId xmlns:a16="http://schemas.microsoft.com/office/drawing/2014/main" id="{A3E6B7BF-B8DF-4895-BFF7-E48F3EA56C3C}"/>
                </a:ext>
              </a:extLst>
            </p:cNvPr>
            <p:cNvSpPr/>
            <p:nvPr userDrawn="1"/>
          </p:nvSpPr>
          <p:spPr>
            <a:xfrm>
              <a:off x="7339331" y="2794041"/>
              <a:ext cx="126305" cy="132095"/>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9" name="Rektangel 1058">
              <a:extLst>
                <a:ext uri="{FF2B5EF4-FFF2-40B4-BE49-F238E27FC236}">
                  <a16:creationId xmlns:a16="http://schemas.microsoft.com/office/drawing/2014/main" id="{C9880F48-FE6A-D652-5F55-4BD96B03F4E4}"/>
                </a:ext>
              </a:extLst>
            </p:cNvPr>
            <p:cNvSpPr/>
            <p:nvPr userDrawn="1"/>
          </p:nvSpPr>
          <p:spPr>
            <a:xfrm>
              <a:off x="7339331" y="2926737"/>
              <a:ext cx="126305" cy="132095"/>
            </a:xfrm>
            <a:prstGeom prst="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0" name="Rektangel 1059">
              <a:extLst>
                <a:ext uri="{FF2B5EF4-FFF2-40B4-BE49-F238E27FC236}">
                  <a16:creationId xmlns:a16="http://schemas.microsoft.com/office/drawing/2014/main" id="{3D6EF6E0-55EF-D427-7BD3-3F9C9599C746}"/>
                </a:ext>
              </a:extLst>
            </p:cNvPr>
            <p:cNvSpPr/>
            <p:nvPr userDrawn="1"/>
          </p:nvSpPr>
          <p:spPr>
            <a:xfrm>
              <a:off x="7339331" y="3059433"/>
              <a:ext cx="126305" cy="132095"/>
            </a:xfrm>
            <a:prstGeom prst="rect">
              <a:avLst/>
            </a:prstGeom>
            <a:solidFill>
              <a:schemeClr val="accent4">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1" name="Rektangel 1060">
              <a:extLst>
                <a:ext uri="{FF2B5EF4-FFF2-40B4-BE49-F238E27FC236}">
                  <a16:creationId xmlns:a16="http://schemas.microsoft.com/office/drawing/2014/main" id="{BB5DD28F-1631-1EC1-63A2-5C34A28B0C19}"/>
                </a:ext>
              </a:extLst>
            </p:cNvPr>
            <p:cNvSpPr/>
            <p:nvPr userDrawn="1"/>
          </p:nvSpPr>
          <p:spPr>
            <a:xfrm>
              <a:off x="7339331" y="3192130"/>
              <a:ext cx="126305" cy="132095"/>
            </a:xfrm>
            <a:prstGeom prst="rect">
              <a:avLst/>
            </a:prstGeom>
            <a:solidFill>
              <a:schemeClr val="accent4">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2" name="Rektangel 1061">
              <a:extLst>
                <a:ext uri="{FF2B5EF4-FFF2-40B4-BE49-F238E27FC236}">
                  <a16:creationId xmlns:a16="http://schemas.microsoft.com/office/drawing/2014/main" id="{C2846DE4-F371-1BF5-4167-59B95320B756}"/>
                </a:ext>
              </a:extLst>
            </p:cNvPr>
            <p:cNvSpPr/>
            <p:nvPr userDrawn="1"/>
          </p:nvSpPr>
          <p:spPr>
            <a:xfrm>
              <a:off x="7513832" y="2661345"/>
              <a:ext cx="126305" cy="132095"/>
            </a:xfrm>
            <a:prstGeom prst="rect">
              <a:avLst/>
            </a:prstGeom>
            <a:solidFill>
              <a:schemeClr val="accent5">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3" name="Rektangel 1062">
              <a:extLst>
                <a:ext uri="{FF2B5EF4-FFF2-40B4-BE49-F238E27FC236}">
                  <a16:creationId xmlns:a16="http://schemas.microsoft.com/office/drawing/2014/main" id="{D1FCE270-22E9-6108-5292-0A2E890C7042}"/>
                </a:ext>
              </a:extLst>
            </p:cNvPr>
            <p:cNvSpPr/>
            <p:nvPr userDrawn="1"/>
          </p:nvSpPr>
          <p:spPr>
            <a:xfrm>
              <a:off x="7513832" y="2794041"/>
              <a:ext cx="126305" cy="132095"/>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4" name="Rektangel 1063">
              <a:extLst>
                <a:ext uri="{FF2B5EF4-FFF2-40B4-BE49-F238E27FC236}">
                  <a16:creationId xmlns:a16="http://schemas.microsoft.com/office/drawing/2014/main" id="{E0AB0C3D-3E2C-BA8B-F8FF-D1BAE2FD78AB}"/>
                </a:ext>
              </a:extLst>
            </p:cNvPr>
            <p:cNvSpPr/>
            <p:nvPr userDrawn="1"/>
          </p:nvSpPr>
          <p:spPr>
            <a:xfrm>
              <a:off x="7513832" y="2926737"/>
              <a:ext cx="126305" cy="132095"/>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5" name="Rektangel 1064">
              <a:extLst>
                <a:ext uri="{FF2B5EF4-FFF2-40B4-BE49-F238E27FC236}">
                  <a16:creationId xmlns:a16="http://schemas.microsoft.com/office/drawing/2014/main" id="{A5B9B835-C0B3-CE1F-0F4F-E77B314EE265}"/>
                </a:ext>
              </a:extLst>
            </p:cNvPr>
            <p:cNvSpPr/>
            <p:nvPr userDrawn="1"/>
          </p:nvSpPr>
          <p:spPr>
            <a:xfrm>
              <a:off x="7513832" y="3059433"/>
              <a:ext cx="126305" cy="132095"/>
            </a:xfrm>
            <a:prstGeom prst="rect">
              <a:avLst/>
            </a:prstGeom>
            <a:solidFill>
              <a:schemeClr val="accent5">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6" name="Rektangel 1065">
              <a:extLst>
                <a:ext uri="{FF2B5EF4-FFF2-40B4-BE49-F238E27FC236}">
                  <a16:creationId xmlns:a16="http://schemas.microsoft.com/office/drawing/2014/main" id="{B6F46CE6-CCAF-9D3F-1627-61487FF99D45}"/>
                </a:ext>
              </a:extLst>
            </p:cNvPr>
            <p:cNvSpPr/>
            <p:nvPr userDrawn="1"/>
          </p:nvSpPr>
          <p:spPr>
            <a:xfrm>
              <a:off x="7513832" y="3192130"/>
              <a:ext cx="126305" cy="132095"/>
            </a:xfrm>
            <a:prstGeom prst="rect">
              <a:avLst/>
            </a:prstGeom>
            <a:solidFill>
              <a:schemeClr val="accent5">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7" name="Rektangel 1066">
              <a:extLst>
                <a:ext uri="{FF2B5EF4-FFF2-40B4-BE49-F238E27FC236}">
                  <a16:creationId xmlns:a16="http://schemas.microsoft.com/office/drawing/2014/main" id="{B0D96E62-E6D5-5382-108B-2D8B21B1C7C0}"/>
                </a:ext>
              </a:extLst>
            </p:cNvPr>
            <p:cNvSpPr/>
            <p:nvPr userDrawn="1"/>
          </p:nvSpPr>
          <p:spPr>
            <a:xfrm>
              <a:off x="7690674" y="2661345"/>
              <a:ext cx="126305" cy="132095"/>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8" name="Rektangel 1067">
              <a:extLst>
                <a:ext uri="{FF2B5EF4-FFF2-40B4-BE49-F238E27FC236}">
                  <a16:creationId xmlns:a16="http://schemas.microsoft.com/office/drawing/2014/main" id="{589AC037-F773-58BF-FA0E-B29A0BAE94D6}"/>
                </a:ext>
              </a:extLst>
            </p:cNvPr>
            <p:cNvSpPr/>
            <p:nvPr userDrawn="1"/>
          </p:nvSpPr>
          <p:spPr>
            <a:xfrm>
              <a:off x="7690674" y="2794041"/>
              <a:ext cx="126305" cy="132095"/>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9" name="Rektangel 1068">
              <a:extLst>
                <a:ext uri="{FF2B5EF4-FFF2-40B4-BE49-F238E27FC236}">
                  <a16:creationId xmlns:a16="http://schemas.microsoft.com/office/drawing/2014/main" id="{07045815-7B67-4A94-7C17-8D64E287040A}"/>
                </a:ext>
              </a:extLst>
            </p:cNvPr>
            <p:cNvSpPr/>
            <p:nvPr userDrawn="1"/>
          </p:nvSpPr>
          <p:spPr>
            <a:xfrm>
              <a:off x="7690674" y="2926737"/>
              <a:ext cx="126305" cy="132095"/>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0" name="Rektangel 1069">
              <a:extLst>
                <a:ext uri="{FF2B5EF4-FFF2-40B4-BE49-F238E27FC236}">
                  <a16:creationId xmlns:a16="http://schemas.microsoft.com/office/drawing/2014/main" id="{D85D7A99-C5CD-38F6-939F-A3EF9E12781C}"/>
                </a:ext>
              </a:extLst>
            </p:cNvPr>
            <p:cNvSpPr/>
            <p:nvPr userDrawn="1"/>
          </p:nvSpPr>
          <p:spPr>
            <a:xfrm>
              <a:off x="7690674" y="3059433"/>
              <a:ext cx="126305" cy="132095"/>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1" name="Rektangel 1070">
              <a:extLst>
                <a:ext uri="{FF2B5EF4-FFF2-40B4-BE49-F238E27FC236}">
                  <a16:creationId xmlns:a16="http://schemas.microsoft.com/office/drawing/2014/main" id="{32FB7A58-1D8F-5665-AC4F-BA2FE1869B27}"/>
                </a:ext>
              </a:extLst>
            </p:cNvPr>
            <p:cNvSpPr/>
            <p:nvPr userDrawn="1"/>
          </p:nvSpPr>
          <p:spPr>
            <a:xfrm>
              <a:off x="7690674" y="3192130"/>
              <a:ext cx="126305" cy="132095"/>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7" name="Rektangel 1076">
              <a:extLst>
                <a:ext uri="{FF2B5EF4-FFF2-40B4-BE49-F238E27FC236}">
                  <a16:creationId xmlns:a16="http://schemas.microsoft.com/office/drawing/2014/main" id="{5F9AF638-6FAD-3C50-00FA-ADD872158CE5}"/>
                </a:ext>
              </a:extLst>
            </p:cNvPr>
            <p:cNvSpPr/>
            <p:nvPr userDrawn="1"/>
          </p:nvSpPr>
          <p:spPr>
            <a:xfrm>
              <a:off x="6464595" y="23882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8" name="Rektangel 1077">
              <a:extLst>
                <a:ext uri="{FF2B5EF4-FFF2-40B4-BE49-F238E27FC236}">
                  <a16:creationId xmlns:a16="http://schemas.microsoft.com/office/drawing/2014/main" id="{C4749DD0-3DD2-A386-7BED-084BA84DBBE6}"/>
                </a:ext>
              </a:extLst>
            </p:cNvPr>
            <p:cNvSpPr/>
            <p:nvPr userDrawn="1"/>
          </p:nvSpPr>
          <p:spPr>
            <a:xfrm>
              <a:off x="6464595" y="2661345"/>
              <a:ext cx="126305" cy="132095"/>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9" name="Rektangel 1078">
              <a:extLst>
                <a:ext uri="{FF2B5EF4-FFF2-40B4-BE49-F238E27FC236}">
                  <a16:creationId xmlns:a16="http://schemas.microsoft.com/office/drawing/2014/main" id="{B4499066-323D-EE08-E5A2-F43B0807892C}"/>
                </a:ext>
              </a:extLst>
            </p:cNvPr>
            <p:cNvSpPr/>
            <p:nvPr userDrawn="1"/>
          </p:nvSpPr>
          <p:spPr>
            <a:xfrm>
              <a:off x="6464595" y="2794041"/>
              <a:ext cx="126305" cy="132095"/>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0" name="Rektangel 1079">
              <a:extLst>
                <a:ext uri="{FF2B5EF4-FFF2-40B4-BE49-F238E27FC236}">
                  <a16:creationId xmlns:a16="http://schemas.microsoft.com/office/drawing/2014/main" id="{1BBF49EA-C637-CAB3-6569-11A2CFD31079}"/>
                </a:ext>
              </a:extLst>
            </p:cNvPr>
            <p:cNvSpPr/>
            <p:nvPr userDrawn="1"/>
          </p:nvSpPr>
          <p:spPr>
            <a:xfrm>
              <a:off x="6464595" y="2926737"/>
              <a:ext cx="126305" cy="132095"/>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1" name="Rektangel 1080">
              <a:extLst>
                <a:ext uri="{FF2B5EF4-FFF2-40B4-BE49-F238E27FC236}">
                  <a16:creationId xmlns:a16="http://schemas.microsoft.com/office/drawing/2014/main" id="{1F27D949-C326-6486-1CD4-2B8AF35ADE78}"/>
                </a:ext>
              </a:extLst>
            </p:cNvPr>
            <p:cNvSpPr/>
            <p:nvPr userDrawn="1"/>
          </p:nvSpPr>
          <p:spPr>
            <a:xfrm>
              <a:off x="6464595" y="3059433"/>
              <a:ext cx="126305" cy="132095"/>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2" name="Rektangel 1081">
              <a:extLst>
                <a:ext uri="{FF2B5EF4-FFF2-40B4-BE49-F238E27FC236}">
                  <a16:creationId xmlns:a16="http://schemas.microsoft.com/office/drawing/2014/main" id="{F216B4A1-3944-F8CE-8C9B-FA88B4D03E26}"/>
                </a:ext>
              </a:extLst>
            </p:cNvPr>
            <p:cNvSpPr/>
            <p:nvPr userDrawn="1"/>
          </p:nvSpPr>
          <p:spPr>
            <a:xfrm>
              <a:off x="6464595" y="3192130"/>
              <a:ext cx="126305" cy="132095"/>
            </a:xfrm>
            <a:prstGeom prst="rect">
              <a:avLst/>
            </a:prstGeom>
            <a:solidFill>
              <a:schemeClr val="bg2">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3" name="Rektangel 1082">
              <a:extLst>
                <a:ext uri="{FF2B5EF4-FFF2-40B4-BE49-F238E27FC236}">
                  <a16:creationId xmlns:a16="http://schemas.microsoft.com/office/drawing/2014/main" id="{5F4ADBA2-1A1B-A4CA-F30B-B0C82CEC3557}"/>
                </a:ext>
              </a:extLst>
            </p:cNvPr>
            <p:cNvSpPr/>
            <p:nvPr userDrawn="1"/>
          </p:nvSpPr>
          <p:spPr>
            <a:xfrm>
              <a:off x="6108995" y="38106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4" name="Rektangel 1083">
              <a:extLst>
                <a:ext uri="{FF2B5EF4-FFF2-40B4-BE49-F238E27FC236}">
                  <a16:creationId xmlns:a16="http://schemas.microsoft.com/office/drawing/2014/main" id="{374BD5DA-8482-21B6-9413-9B1A45CF76C1}"/>
                </a:ext>
              </a:extLst>
            </p:cNvPr>
            <p:cNvSpPr/>
            <p:nvPr userDrawn="1"/>
          </p:nvSpPr>
          <p:spPr>
            <a:xfrm>
              <a:off x="6108995" y="3986378"/>
              <a:ext cx="126305" cy="126305"/>
            </a:xfrm>
            <a:prstGeom prst="rect">
              <a:avLst/>
            </a:prstGeom>
            <a:solidFill>
              <a:srgbClr val="0D4A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5" name="Rektangel 1084">
              <a:extLst>
                <a:ext uri="{FF2B5EF4-FFF2-40B4-BE49-F238E27FC236}">
                  <a16:creationId xmlns:a16="http://schemas.microsoft.com/office/drawing/2014/main" id="{5F6020BD-6733-E876-2089-C3084AEA1A1C}"/>
                </a:ext>
              </a:extLst>
            </p:cNvPr>
            <p:cNvSpPr/>
            <p:nvPr userDrawn="1"/>
          </p:nvSpPr>
          <p:spPr>
            <a:xfrm>
              <a:off x="6108995" y="4162061"/>
              <a:ext cx="126305" cy="126305"/>
            </a:xfrm>
            <a:prstGeom prst="rect">
              <a:avLst/>
            </a:prstGeom>
            <a:solidFill>
              <a:srgbClr val="4DA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6" name="Rektangel 1085">
              <a:extLst>
                <a:ext uri="{FF2B5EF4-FFF2-40B4-BE49-F238E27FC236}">
                  <a16:creationId xmlns:a16="http://schemas.microsoft.com/office/drawing/2014/main" id="{C4348C5F-5E10-920F-C2FB-889532E2F622}"/>
                </a:ext>
              </a:extLst>
            </p:cNvPr>
            <p:cNvSpPr/>
            <p:nvPr userDrawn="1"/>
          </p:nvSpPr>
          <p:spPr>
            <a:xfrm>
              <a:off x="6108995" y="4337745"/>
              <a:ext cx="126305" cy="126305"/>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7" name="Rektangel 1086">
              <a:extLst>
                <a:ext uri="{FF2B5EF4-FFF2-40B4-BE49-F238E27FC236}">
                  <a16:creationId xmlns:a16="http://schemas.microsoft.com/office/drawing/2014/main" id="{D2D321FD-AE36-8DCA-8744-C0F46B88F58C}"/>
                </a:ext>
              </a:extLst>
            </p:cNvPr>
            <p:cNvSpPr/>
            <p:nvPr userDrawn="1"/>
          </p:nvSpPr>
          <p:spPr>
            <a:xfrm>
              <a:off x="6285031" y="3810695"/>
              <a:ext cx="126305" cy="12630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8" name="Rektangel 1087">
              <a:extLst>
                <a:ext uri="{FF2B5EF4-FFF2-40B4-BE49-F238E27FC236}">
                  <a16:creationId xmlns:a16="http://schemas.microsoft.com/office/drawing/2014/main" id="{A93DF2FE-61D7-AA01-C339-B2ECCF6D103B}"/>
                </a:ext>
              </a:extLst>
            </p:cNvPr>
            <p:cNvSpPr/>
            <p:nvPr userDrawn="1"/>
          </p:nvSpPr>
          <p:spPr>
            <a:xfrm>
              <a:off x="6285031" y="3986378"/>
              <a:ext cx="126305" cy="126305"/>
            </a:xfrm>
            <a:prstGeom prst="rect">
              <a:avLst/>
            </a:prstGeom>
            <a:solidFill>
              <a:srgbClr val="1C43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9" name="Rektangel 1088">
              <a:extLst>
                <a:ext uri="{FF2B5EF4-FFF2-40B4-BE49-F238E27FC236}">
                  <a16:creationId xmlns:a16="http://schemas.microsoft.com/office/drawing/2014/main" id="{89244240-2B76-F8CB-21C9-2B1FA90DD280}"/>
                </a:ext>
              </a:extLst>
            </p:cNvPr>
            <p:cNvSpPr/>
            <p:nvPr userDrawn="1"/>
          </p:nvSpPr>
          <p:spPr>
            <a:xfrm>
              <a:off x="6285031" y="4162061"/>
              <a:ext cx="126305" cy="126305"/>
            </a:xfrm>
            <a:prstGeom prst="rect">
              <a:avLst/>
            </a:prstGeom>
            <a:solidFill>
              <a:srgbClr val="339C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0" name="Rektangel 1089">
              <a:extLst>
                <a:ext uri="{FF2B5EF4-FFF2-40B4-BE49-F238E27FC236}">
                  <a16:creationId xmlns:a16="http://schemas.microsoft.com/office/drawing/2014/main" id="{33D9BE51-B8F2-F451-C1A3-3725C01F9D93}"/>
                </a:ext>
              </a:extLst>
            </p:cNvPr>
            <p:cNvSpPr/>
            <p:nvPr userDrawn="1"/>
          </p:nvSpPr>
          <p:spPr>
            <a:xfrm>
              <a:off x="6285031" y="4337745"/>
              <a:ext cx="126305" cy="126305"/>
            </a:xfrm>
            <a:prstGeom prst="rect">
              <a:avLst/>
            </a:prstGeom>
            <a:solidFill>
              <a:srgbClr val="B2E0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1" name="Rektangel 1090">
              <a:extLst>
                <a:ext uri="{FF2B5EF4-FFF2-40B4-BE49-F238E27FC236}">
                  <a16:creationId xmlns:a16="http://schemas.microsoft.com/office/drawing/2014/main" id="{ACA30911-7D60-921E-C70A-F693BE675834}"/>
                </a:ext>
              </a:extLst>
            </p:cNvPr>
            <p:cNvSpPr/>
            <p:nvPr userDrawn="1"/>
          </p:nvSpPr>
          <p:spPr>
            <a:xfrm>
              <a:off x="6461067" y="38106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2" name="Rektangel 1091">
              <a:extLst>
                <a:ext uri="{FF2B5EF4-FFF2-40B4-BE49-F238E27FC236}">
                  <a16:creationId xmlns:a16="http://schemas.microsoft.com/office/drawing/2014/main" id="{7C3A2D5F-4466-B210-4CF0-4DBBC6BB3BA6}"/>
                </a:ext>
              </a:extLst>
            </p:cNvPr>
            <p:cNvSpPr/>
            <p:nvPr userDrawn="1"/>
          </p:nvSpPr>
          <p:spPr>
            <a:xfrm>
              <a:off x="6461067" y="3986378"/>
              <a:ext cx="126305" cy="126305"/>
            </a:xfrm>
            <a:prstGeom prst="rect">
              <a:avLst/>
            </a:prstGeom>
            <a:solidFill>
              <a:srgbClr val="7800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3" name="Rektangel 1092">
              <a:extLst>
                <a:ext uri="{FF2B5EF4-FFF2-40B4-BE49-F238E27FC236}">
                  <a16:creationId xmlns:a16="http://schemas.microsoft.com/office/drawing/2014/main" id="{3DB1223D-C353-676D-5093-C19368A843EA}"/>
                </a:ext>
              </a:extLst>
            </p:cNvPr>
            <p:cNvSpPr/>
            <p:nvPr userDrawn="1"/>
          </p:nvSpPr>
          <p:spPr>
            <a:xfrm>
              <a:off x="6461067" y="4162061"/>
              <a:ext cx="126305" cy="126305"/>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4" name="Rektangel 1093">
              <a:extLst>
                <a:ext uri="{FF2B5EF4-FFF2-40B4-BE49-F238E27FC236}">
                  <a16:creationId xmlns:a16="http://schemas.microsoft.com/office/drawing/2014/main" id="{ECBE00DC-9A99-ED4F-7AB0-E71447F5BE95}"/>
                </a:ext>
              </a:extLst>
            </p:cNvPr>
            <p:cNvSpPr/>
            <p:nvPr userDrawn="1"/>
          </p:nvSpPr>
          <p:spPr>
            <a:xfrm>
              <a:off x="6461067" y="4337745"/>
              <a:ext cx="126305" cy="126305"/>
            </a:xfrm>
            <a:prstGeom prst="rect">
              <a:avLst/>
            </a:prstGeom>
            <a:solidFill>
              <a:srgbClr val="FFCC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5" name="Rektangel 1094">
              <a:extLst>
                <a:ext uri="{FF2B5EF4-FFF2-40B4-BE49-F238E27FC236}">
                  <a16:creationId xmlns:a16="http://schemas.microsoft.com/office/drawing/2014/main" id="{5BAC4B2F-5948-684F-53E5-17024EA24387}"/>
                </a:ext>
              </a:extLst>
            </p:cNvPr>
            <p:cNvSpPr/>
            <p:nvPr userDrawn="1"/>
          </p:nvSpPr>
          <p:spPr>
            <a:xfrm>
              <a:off x="6637103" y="38106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6" name="Rektangel 1095">
              <a:extLst>
                <a:ext uri="{FF2B5EF4-FFF2-40B4-BE49-F238E27FC236}">
                  <a16:creationId xmlns:a16="http://schemas.microsoft.com/office/drawing/2014/main" id="{9DED6478-BDF3-512F-58F3-E36C2B3C3BAA}"/>
                </a:ext>
              </a:extLst>
            </p:cNvPr>
            <p:cNvSpPr/>
            <p:nvPr userDrawn="1"/>
          </p:nvSpPr>
          <p:spPr>
            <a:xfrm>
              <a:off x="6637103" y="3986378"/>
              <a:ext cx="126305" cy="126305"/>
            </a:xfrm>
            <a:prstGeom prst="rect">
              <a:avLst/>
            </a:prstGeom>
            <a:solidFill>
              <a:srgbClr val="A65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7" name="Rektangel 1096">
              <a:extLst>
                <a:ext uri="{FF2B5EF4-FFF2-40B4-BE49-F238E27FC236}">
                  <a16:creationId xmlns:a16="http://schemas.microsoft.com/office/drawing/2014/main" id="{6D820422-D0D9-5ACE-DB5E-ACF44106A99E}"/>
                </a:ext>
              </a:extLst>
            </p:cNvPr>
            <p:cNvSpPr/>
            <p:nvPr userDrawn="1"/>
          </p:nvSpPr>
          <p:spPr>
            <a:xfrm>
              <a:off x="6637103" y="4162061"/>
              <a:ext cx="126305" cy="126305"/>
            </a:xfrm>
            <a:prstGeom prst="rect">
              <a:avLst/>
            </a:prstGeom>
            <a:solidFill>
              <a:srgbClr val="FFB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8" name="Rektangel 1097">
              <a:extLst>
                <a:ext uri="{FF2B5EF4-FFF2-40B4-BE49-F238E27FC236}">
                  <a16:creationId xmlns:a16="http://schemas.microsoft.com/office/drawing/2014/main" id="{8B60BAF5-04DE-84E4-664B-F75D369387BB}"/>
                </a:ext>
              </a:extLst>
            </p:cNvPr>
            <p:cNvSpPr/>
            <p:nvPr userDrawn="1"/>
          </p:nvSpPr>
          <p:spPr>
            <a:xfrm>
              <a:off x="6637103" y="4337745"/>
              <a:ext cx="126305" cy="126305"/>
            </a:xfrm>
            <a:prstGeom prst="rect">
              <a:avLst/>
            </a:prstGeom>
            <a:solidFill>
              <a:srgbClr val="FFF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9" name="Rektangel 1098">
              <a:extLst>
                <a:ext uri="{FF2B5EF4-FFF2-40B4-BE49-F238E27FC236}">
                  <a16:creationId xmlns:a16="http://schemas.microsoft.com/office/drawing/2014/main" id="{2E36144B-8356-508C-530F-E4563E893F8E}"/>
                </a:ext>
              </a:extLst>
            </p:cNvPr>
            <p:cNvSpPr/>
            <p:nvPr userDrawn="1"/>
          </p:nvSpPr>
          <p:spPr>
            <a:xfrm>
              <a:off x="6813139" y="38106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0" name="Rektangel 1099">
              <a:extLst>
                <a:ext uri="{FF2B5EF4-FFF2-40B4-BE49-F238E27FC236}">
                  <a16:creationId xmlns:a16="http://schemas.microsoft.com/office/drawing/2014/main" id="{4A6003A8-E644-C22A-594E-648C05A084B5}"/>
                </a:ext>
              </a:extLst>
            </p:cNvPr>
            <p:cNvSpPr/>
            <p:nvPr userDrawn="1"/>
          </p:nvSpPr>
          <p:spPr>
            <a:xfrm>
              <a:off x="6813139" y="3986378"/>
              <a:ext cx="126305" cy="126305"/>
            </a:xfrm>
            <a:prstGeom prst="rect">
              <a:avLst/>
            </a:prstGeom>
            <a:solidFill>
              <a:srgbClr val="3232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1" name="Rektangel 1100">
              <a:extLst>
                <a:ext uri="{FF2B5EF4-FFF2-40B4-BE49-F238E27FC236}">
                  <a16:creationId xmlns:a16="http://schemas.microsoft.com/office/drawing/2014/main" id="{71252218-348E-C0A3-6703-29BD88D5A17F}"/>
                </a:ext>
              </a:extLst>
            </p:cNvPr>
            <p:cNvSpPr/>
            <p:nvPr userDrawn="1"/>
          </p:nvSpPr>
          <p:spPr>
            <a:xfrm>
              <a:off x="6813139" y="4162061"/>
              <a:ext cx="126305" cy="126305"/>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2" name="Rektangel 1101">
              <a:extLst>
                <a:ext uri="{FF2B5EF4-FFF2-40B4-BE49-F238E27FC236}">
                  <a16:creationId xmlns:a16="http://schemas.microsoft.com/office/drawing/2014/main" id="{F40D39AB-38A0-8D9F-98CF-0849C6CB1A97}"/>
                </a:ext>
              </a:extLst>
            </p:cNvPr>
            <p:cNvSpPr/>
            <p:nvPr userDrawn="1"/>
          </p:nvSpPr>
          <p:spPr>
            <a:xfrm>
              <a:off x="6813139" y="4337745"/>
              <a:ext cx="126305" cy="126305"/>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3" name="Rektangel 1102">
              <a:extLst>
                <a:ext uri="{FF2B5EF4-FFF2-40B4-BE49-F238E27FC236}">
                  <a16:creationId xmlns:a16="http://schemas.microsoft.com/office/drawing/2014/main" id="{B0EEB85D-E1B5-BB7E-06F5-B7F663E237EA}"/>
                </a:ext>
              </a:extLst>
            </p:cNvPr>
            <p:cNvSpPr/>
            <p:nvPr userDrawn="1"/>
          </p:nvSpPr>
          <p:spPr>
            <a:xfrm>
              <a:off x="6989175" y="38106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4" name="Rektangel 1103">
              <a:extLst>
                <a:ext uri="{FF2B5EF4-FFF2-40B4-BE49-F238E27FC236}">
                  <a16:creationId xmlns:a16="http://schemas.microsoft.com/office/drawing/2014/main" id="{0C4BF3AC-6949-B173-1F6F-7ACF6CCCA68D}"/>
                </a:ext>
              </a:extLst>
            </p:cNvPr>
            <p:cNvSpPr/>
            <p:nvPr userDrawn="1"/>
          </p:nvSpPr>
          <p:spPr>
            <a:xfrm>
              <a:off x="6989175"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5" name="Rektangel 1104">
              <a:extLst>
                <a:ext uri="{FF2B5EF4-FFF2-40B4-BE49-F238E27FC236}">
                  <a16:creationId xmlns:a16="http://schemas.microsoft.com/office/drawing/2014/main" id="{5E724053-DDC1-BCE6-018B-3C13912CBCAA}"/>
                </a:ext>
              </a:extLst>
            </p:cNvPr>
            <p:cNvSpPr/>
            <p:nvPr userDrawn="1"/>
          </p:nvSpPr>
          <p:spPr>
            <a:xfrm>
              <a:off x="6989175"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7" name="Rektangel 1106">
              <a:extLst>
                <a:ext uri="{FF2B5EF4-FFF2-40B4-BE49-F238E27FC236}">
                  <a16:creationId xmlns:a16="http://schemas.microsoft.com/office/drawing/2014/main" id="{B89A7384-2EB1-E47E-4661-2C135E836BAB}"/>
                </a:ext>
              </a:extLst>
            </p:cNvPr>
            <p:cNvSpPr/>
            <p:nvPr userDrawn="1"/>
          </p:nvSpPr>
          <p:spPr>
            <a:xfrm>
              <a:off x="7165211"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8" name="Rektangel 1107">
              <a:extLst>
                <a:ext uri="{FF2B5EF4-FFF2-40B4-BE49-F238E27FC236}">
                  <a16:creationId xmlns:a16="http://schemas.microsoft.com/office/drawing/2014/main" id="{64053484-E065-730D-63D9-F3F09E971CEC}"/>
                </a:ext>
              </a:extLst>
            </p:cNvPr>
            <p:cNvSpPr/>
            <p:nvPr userDrawn="1"/>
          </p:nvSpPr>
          <p:spPr>
            <a:xfrm>
              <a:off x="7165211"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9" name="Rektangel 1108">
              <a:extLst>
                <a:ext uri="{FF2B5EF4-FFF2-40B4-BE49-F238E27FC236}">
                  <a16:creationId xmlns:a16="http://schemas.microsoft.com/office/drawing/2014/main" id="{E5345871-5F8B-2377-CAC8-6913E51EB927}"/>
                </a:ext>
              </a:extLst>
            </p:cNvPr>
            <p:cNvSpPr/>
            <p:nvPr userDrawn="1"/>
          </p:nvSpPr>
          <p:spPr>
            <a:xfrm>
              <a:off x="7165211"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1" name="Rektangel 1110">
              <a:extLst>
                <a:ext uri="{FF2B5EF4-FFF2-40B4-BE49-F238E27FC236}">
                  <a16:creationId xmlns:a16="http://schemas.microsoft.com/office/drawing/2014/main" id="{15038F50-63E9-76D9-070D-599071F6D0B1}"/>
                </a:ext>
              </a:extLst>
            </p:cNvPr>
            <p:cNvSpPr/>
            <p:nvPr userDrawn="1"/>
          </p:nvSpPr>
          <p:spPr>
            <a:xfrm>
              <a:off x="7341247"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2" name="Rektangel 1111">
              <a:extLst>
                <a:ext uri="{FF2B5EF4-FFF2-40B4-BE49-F238E27FC236}">
                  <a16:creationId xmlns:a16="http://schemas.microsoft.com/office/drawing/2014/main" id="{062851F2-FDB2-63C5-B741-C1CAD1FE3211}"/>
                </a:ext>
              </a:extLst>
            </p:cNvPr>
            <p:cNvSpPr/>
            <p:nvPr userDrawn="1"/>
          </p:nvSpPr>
          <p:spPr>
            <a:xfrm>
              <a:off x="7341247"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3" name="Rektangel 1112">
              <a:extLst>
                <a:ext uri="{FF2B5EF4-FFF2-40B4-BE49-F238E27FC236}">
                  <a16:creationId xmlns:a16="http://schemas.microsoft.com/office/drawing/2014/main" id="{DE4F3BAC-C90D-4B77-27FF-4CD535F909E2}"/>
                </a:ext>
              </a:extLst>
            </p:cNvPr>
            <p:cNvSpPr/>
            <p:nvPr userDrawn="1"/>
          </p:nvSpPr>
          <p:spPr>
            <a:xfrm>
              <a:off x="7341247"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5" name="Rektangel 1114">
              <a:extLst>
                <a:ext uri="{FF2B5EF4-FFF2-40B4-BE49-F238E27FC236}">
                  <a16:creationId xmlns:a16="http://schemas.microsoft.com/office/drawing/2014/main" id="{6625D88E-960F-4248-3CEB-C2E5020321B6}"/>
                </a:ext>
              </a:extLst>
            </p:cNvPr>
            <p:cNvSpPr/>
            <p:nvPr userDrawn="1"/>
          </p:nvSpPr>
          <p:spPr>
            <a:xfrm>
              <a:off x="7517283"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6" name="Rektangel 1115">
              <a:extLst>
                <a:ext uri="{FF2B5EF4-FFF2-40B4-BE49-F238E27FC236}">
                  <a16:creationId xmlns:a16="http://schemas.microsoft.com/office/drawing/2014/main" id="{C10CFB8F-8E16-B335-A926-3A4BAA2E78D5}"/>
                </a:ext>
              </a:extLst>
            </p:cNvPr>
            <p:cNvSpPr/>
            <p:nvPr userDrawn="1"/>
          </p:nvSpPr>
          <p:spPr>
            <a:xfrm>
              <a:off x="7517283"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7" name="Rektangel 1116">
              <a:extLst>
                <a:ext uri="{FF2B5EF4-FFF2-40B4-BE49-F238E27FC236}">
                  <a16:creationId xmlns:a16="http://schemas.microsoft.com/office/drawing/2014/main" id="{1BAFE015-800E-787E-0572-90F6C0823C14}"/>
                </a:ext>
              </a:extLst>
            </p:cNvPr>
            <p:cNvSpPr/>
            <p:nvPr userDrawn="1"/>
          </p:nvSpPr>
          <p:spPr>
            <a:xfrm>
              <a:off x="7517283"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9" name="Rektangel 1118">
              <a:extLst>
                <a:ext uri="{FF2B5EF4-FFF2-40B4-BE49-F238E27FC236}">
                  <a16:creationId xmlns:a16="http://schemas.microsoft.com/office/drawing/2014/main" id="{4A97B2EF-9E28-C94C-6879-E7C073C12C39}"/>
                </a:ext>
              </a:extLst>
            </p:cNvPr>
            <p:cNvSpPr/>
            <p:nvPr userDrawn="1"/>
          </p:nvSpPr>
          <p:spPr>
            <a:xfrm>
              <a:off x="7693320"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0" name="Rektangel 1119">
              <a:extLst>
                <a:ext uri="{FF2B5EF4-FFF2-40B4-BE49-F238E27FC236}">
                  <a16:creationId xmlns:a16="http://schemas.microsoft.com/office/drawing/2014/main" id="{0046F9B6-9CA1-5B09-D162-A1A23AA1E72E}"/>
                </a:ext>
              </a:extLst>
            </p:cNvPr>
            <p:cNvSpPr/>
            <p:nvPr userDrawn="1"/>
          </p:nvSpPr>
          <p:spPr>
            <a:xfrm>
              <a:off x="7693320"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1" name="Rektangel 1120">
              <a:extLst>
                <a:ext uri="{FF2B5EF4-FFF2-40B4-BE49-F238E27FC236}">
                  <a16:creationId xmlns:a16="http://schemas.microsoft.com/office/drawing/2014/main" id="{555E2503-2C99-3601-4234-B5374905D676}"/>
                </a:ext>
              </a:extLst>
            </p:cNvPr>
            <p:cNvSpPr/>
            <p:nvPr userDrawn="1"/>
          </p:nvSpPr>
          <p:spPr>
            <a:xfrm>
              <a:off x="7693320"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grpSp>
      <p:sp>
        <p:nvSpPr>
          <p:cNvPr id="11" name="Rektangel med rundade hörn 10">
            <a:extLst>
              <a:ext uri="{FF2B5EF4-FFF2-40B4-BE49-F238E27FC236}">
                <a16:creationId xmlns:a16="http://schemas.microsoft.com/office/drawing/2014/main" id="{636AEB1C-664E-B3BB-DB73-01E07A3BF846}"/>
              </a:ext>
            </a:extLst>
          </p:cNvPr>
          <p:cNvSpPr/>
          <p:nvPr userDrawn="1"/>
        </p:nvSpPr>
        <p:spPr>
          <a:xfrm>
            <a:off x="6062449" y="2168771"/>
            <a:ext cx="800154" cy="97738"/>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26" name="Rektangel med rundade hörn 1125">
            <a:extLst>
              <a:ext uri="{FF2B5EF4-FFF2-40B4-BE49-F238E27FC236}">
                <a16:creationId xmlns:a16="http://schemas.microsoft.com/office/drawing/2014/main" id="{F5D2D686-1879-1B11-9682-DCB8A43C167A}"/>
              </a:ext>
            </a:extLst>
          </p:cNvPr>
          <p:cNvSpPr/>
          <p:nvPr userDrawn="1"/>
        </p:nvSpPr>
        <p:spPr>
          <a:xfrm>
            <a:off x="6062449" y="2800595"/>
            <a:ext cx="800154" cy="331200"/>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38" name="Grupp 37">
            <a:extLst>
              <a:ext uri="{FF2B5EF4-FFF2-40B4-BE49-F238E27FC236}">
                <a16:creationId xmlns:a16="http://schemas.microsoft.com/office/drawing/2014/main" id="{6F818A9C-F465-3CE9-20FA-7BDEA4C864A3}"/>
              </a:ext>
            </a:extLst>
          </p:cNvPr>
          <p:cNvGrpSpPr/>
          <p:nvPr userDrawn="1"/>
        </p:nvGrpSpPr>
        <p:grpSpPr>
          <a:xfrm>
            <a:off x="6074571" y="3306851"/>
            <a:ext cx="781200" cy="90681"/>
            <a:chOff x="6511014" y="2308965"/>
            <a:chExt cx="602272" cy="346936"/>
          </a:xfrm>
        </p:grpSpPr>
        <p:sp>
          <p:nvSpPr>
            <p:cNvPr id="39" name="Rektangel med rundade hörn 38">
              <a:extLst>
                <a:ext uri="{FF2B5EF4-FFF2-40B4-BE49-F238E27FC236}">
                  <a16:creationId xmlns:a16="http://schemas.microsoft.com/office/drawing/2014/main" id="{341D2BCA-FEB1-3F16-2075-DBBCEE121133}"/>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40" name="Rak 39">
              <a:extLst>
                <a:ext uri="{FF2B5EF4-FFF2-40B4-BE49-F238E27FC236}">
                  <a16:creationId xmlns:a16="http://schemas.microsoft.com/office/drawing/2014/main" id="{245C22F3-BAE7-75A9-96B0-E39BB2EFEC22}"/>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41" name="Rak 40">
              <a:extLst>
                <a:ext uri="{FF2B5EF4-FFF2-40B4-BE49-F238E27FC236}">
                  <a16:creationId xmlns:a16="http://schemas.microsoft.com/office/drawing/2014/main" id="{1947DE09-EBCF-E910-33E6-512123ADAAFA}"/>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grpSp>
        <p:nvGrpSpPr>
          <p:cNvPr id="1127" name="Grupp 1126">
            <a:extLst>
              <a:ext uri="{FF2B5EF4-FFF2-40B4-BE49-F238E27FC236}">
                <a16:creationId xmlns:a16="http://schemas.microsoft.com/office/drawing/2014/main" id="{5E961FC3-B409-F6A8-2D6C-145379049C89}"/>
              </a:ext>
            </a:extLst>
          </p:cNvPr>
          <p:cNvGrpSpPr/>
          <p:nvPr userDrawn="1"/>
        </p:nvGrpSpPr>
        <p:grpSpPr>
          <a:xfrm>
            <a:off x="6074571" y="2295574"/>
            <a:ext cx="781200" cy="324083"/>
            <a:chOff x="6511014" y="2308965"/>
            <a:chExt cx="602272" cy="346936"/>
          </a:xfrm>
        </p:grpSpPr>
        <p:sp>
          <p:nvSpPr>
            <p:cNvPr id="1128" name="Rektangel med rundade hörn 1127">
              <a:extLst>
                <a:ext uri="{FF2B5EF4-FFF2-40B4-BE49-F238E27FC236}">
                  <a16:creationId xmlns:a16="http://schemas.microsoft.com/office/drawing/2014/main" id="{2B5BA7A3-F734-9E73-0F7B-B2A14C010F59}"/>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1129" name="Rak 1128">
              <a:extLst>
                <a:ext uri="{FF2B5EF4-FFF2-40B4-BE49-F238E27FC236}">
                  <a16:creationId xmlns:a16="http://schemas.microsoft.com/office/drawing/2014/main" id="{23AB9D37-FDD0-9B73-576D-D72C040BD7D8}"/>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1130" name="Rak 1129">
              <a:extLst>
                <a:ext uri="{FF2B5EF4-FFF2-40B4-BE49-F238E27FC236}">
                  <a16:creationId xmlns:a16="http://schemas.microsoft.com/office/drawing/2014/main" id="{3A5FBCF0-695B-2C2E-D769-6AEE9E5D9CA6}"/>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2272421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ccessibility Office 2013/2016">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120FD48D-1F42-B341-AF85-AE480DB64991}" type="datetime1">
              <a:rPr lang="sv-SE" smtClean="0"/>
              <a:t>2025-12-03</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2" name="textruta 1">
            <a:extLst>
              <a:ext uri="{FF2B5EF4-FFF2-40B4-BE49-F238E27FC236}">
                <a16:creationId xmlns:a16="http://schemas.microsoft.com/office/drawing/2014/main" id="{1A0056A6-C8C3-8E39-A19D-E42D44FC04A1}"/>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2013/2016.</a:t>
            </a:r>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Set reading order</a:t>
            </a: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3216265"/>
          </a:xfrm>
          <a:prstGeom prst="rect">
            <a:avLst/>
          </a:prstGeom>
          <a:noFill/>
        </p:spPr>
        <p:txBody>
          <a:bodyPr wrap="square" rtlCol="0">
            <a:spAutoFit/>
          </a:bodyPr>
          <a:lstStyle/>
          <a:p>
            <a:pPr>
              <a:spcAft>
                <a:spcPts val="600"/>
              </a:spcAft>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latin typeface="+mj-lt"/>
              </a:rPr>
              <a:t>You can control the reading order by:</a:t>
            </a:r>
          </a:p>
          <a:p>
            <a:pPr marL="228600" indent="-228600">
              <a:spcAft>
                <a:spcPts val="600"/>
              </a:spcAft>
              <a:buClr>
                <a:schemeClr val="accent1"/>
              </a:buClr>
              <a:buFont typeface="+mj-lt"/>
              <a:buAutoNum type="arabicPeriod"/>
            </a:pPr>
            <a:r>
              <a:rPr lang="en-US" sz="1200" dirty="0"/>
              <a:t>Selecting an object in the file.</a:t>
            </a:r>
          </a:p>
          <a:p>
            <a:pPr marL="228600" indent="-228600">
              <a:spcAft>
                <a:spcPts val="600"/>
              </a:spcAft>
              <a:buClr>
                <a:schemeClr val="accent1"/>
              </a:buClr>
              <a:buFont typeface="+mj-lt"/>
              <a:buAutoNum type="arabicPeriod"/>
            </a:pPr>
            <a:r>
              <a:rPr lang="en-US" sz="1200" dirty="0"/>
              <a:t>Choosing the "Format" tab that appears on the right side of the ribbon.</a:t>
            </a:r>
          </a:p>
          <a:p>
            <a:pPr marL="228600" indent="-228600">
              <a:spcAft>
                <a:spcPts val="600"/>
              </a:spcAft>
              <a:buClr>
                <a:schemeClr val="accent1"/>
              </a:buClr>
              <a:buFont typeface="+mj-lt"/>
              <a:buAutoNum type="arabicPeriod"/>
            </a:pPr>
            <a:r>
              <a:rPr lang="en-US" sz="1200" dirty="0"/>
              <a:t>Selecting "Selection Pane" in the "Arrange" group.</a:t>
            </a:r>
          </a:p>
          <a:p>
            <a:pPr marL="228600" indent="-228600">
              <a:spcAft>
                <a:spcPts val="600"/>
              </a:spcAft>
              <a:buClr>
                <a:schemeClr val="accent1"/>
              </a:buClr>
              <a:buFont typeface="+mj-lt"/>
              <a:buAutoNum type="arabicPeriod"/>
            </a:pPr>
            <a:r>
              <a:rPr lang="en-US" sz="1200" dirty="0"/>
              <a:t>Selecting one or more objects in the list.</a:t>
            </a:r>
          </a:p>
          <a:p>
            <a:pPr marL="228600" indent="-228600">
              <a:spcAft>
                <a:spcPts val="600"/>
              </a:spcAft>
              <a:buClr>
                <a:schemeClr val="accent1"/>
              </a:buClr>
              <a:buFont typeface="+mj-lt"/>
              <a:buAutoNum type="arabicPeriod"/>
            </a:pPr>
            <a:r>
              <a:rPr lang="en-US" sz="1200" dirty="0"/>
              <a:t>Dragging the selection upward or downward, or clicking the "Up" button.</a:t>
            </a:r>
          </a:p>
          <a:p>
            <a:pPr marL="228600" indent="-228600">
              <a:spcAft>
                <a:spcPts val="600"/>
              </a:spcAft>
              <a:buClr>
                <a:schemeClr val="accent1"/>
              </a:buClr>
              <a:buFont typeface="+mj-lt"/>
              <a:buAutoNum type="arabicPeriod"/>
            </a:pPr>
            <a:r>
              <a:rPr lang="en-US" sz="1200" dirty="0"/>
              <a:t>Dragging the objects until they have the desired order. This will not affect the layout on the page, only the order in which they are read by screen readers.</a:t>
            </a:r>
          </a:p>
        </p:txBody>
      </p:sp>
    </p:spTree>
    <p:extLst>
      <p:ext uri="{BB962C8B-B14F-4D97-AF65-F5344CB8AC3E}">
        <p14:creationId xmlns:p14="http://schemas.microsoft.com/office/powerpoint/2010/main" val="46074038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ccessibility Office 365/2019">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45830D3C-297D-AF4B-BF84-42155CB091D6}" type="datetime1">
              <a:rPr lang="sv-SE" smtClean="0"/>
              <a:t>2025-12-03</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Set reading order</a:t>
            </a: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2246769"/>
          </a:xfrm>
          <a:prstGeom prst="rect">
            <a:avLst/>
          </a:prstGeom>
          <a:noFill/>
        </p:spPr>
        <p:txBody>
          <a:bodyPr wrap="square" rtlCol="0">
            <a:spAutoFit/>
          </a:bodyPr>
          <a:lstStyle/>
          <a:p>
            <a:pPr marL="0" indent="0">
              <a:spcAft>
                <a:spcPts val="600"/>
              </a:spcAft>
              <a:buNone/>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rPr>
              <a:t>You can control the reading order by:</a:t>
            </a:r>
          </a:p>
          <a:p>
            <a:pPr marL="228600" indent="-228600">
              <a:spcAft>
                <a:spcPts val="600"/>
              </a:spcAft>
              <a:buClr>
                <a:schemeClr val="accent1"/>
              </a:buClr>
              <a:buFont typeface="+mj-lt"/>
              <a:buAutoNum type="arabicPeriod"/>
            </a:pPr>
            <a:r>
              <a:rPr lang="en-US" sz="1200" dirty="0"/>
              <a:t>On the </a:t>
            </a:r>
            <a:r>
              <a:rPr lang="en-US" sz="1200" i="1" dirty="0"/>
              <a:t>Home</a:t>
            </a:r>
            <a:r>
              <a:rPr lang="en-US" sz="1200" dirty="0"/>
              <a:t> tab, select </a:t>
            </a:r>
            <a:r>
              <a:rPr lang="en-US" sz="1200" i="1" dirty="0"/>
              <a:t>Arrange</a:t>
            </a:r>
          </a:p>
          <a:p>
            <a:pPr marL="228600" indent="-228600">
              <a:spcAft>
                <a:spcPts val="600"/>
              </a:spcAft>
              <a:buClr>
                <a:schemeClr val="accent1"/>
              </a:buClr>
              <a:buFont typeface="+mj-lt"/>
              <a:buAutoNum type="arabicPeriod"/>
            </a:pPr>
            <a:r>
              <a:rPr lang="en-US" sz="1200" dirty="0"/>
              <a:t>From the </a:t>
            </a:r>
            <a:r>
              <a:rPr lang="en-US" sz="1200" i="1" dirty="0"/>
              <a:t>Arrange </a:t>
            </a:r>
            <a:r>
              <a:rPr lang="en-US" sz="1200" dirty="0"/>
              <a:t>menu, choose "Selection Pane.“</a:t>
            </a:r>
          </a:p>
          <a:p>
            <a:pPr marL="228600" indent="-228600">
              <a:spcAft>
                <a:spcPts val="600"/>
              </a:spcAft>
              <a:buClr>
                <a:schemeClr val="accent1"/>
              </a:buClr>
              <a:buFont typeface="+mj-lt"/>
              <a:buAutoNum type="arabicPeriod"/>
            </a:pPr>
            <a:r>
              <a:rPr lang="en-US" sz="1200" dirty="0"/>
              <a:t>A tab will open on the right side of the window. Drag the objects until they have the desired order. This will not affect the layout on the page, only the order in which they are read by screen readers.</a:t>
            </a:r>
          </a:p>
        </p:txBody>
      </p:sp>
      <p:sp>
        <p:nvSpPr>
          <p:cNvPr id="6" name="textruta 5">
            <a:extLst>
              <a:ext uri="{FF2B5EF4-FFF2-40B4-BE49-F238E27FC236}">
                <a16:creationId xmlns:a16="http://schemas.microsoft.com/office/drawing/2014/main" id="{60BCB9D5-FB2E-F01B-B2C5-5BFB4C55D46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8" name="textruta 7">
            <a:extLst>
              <a:ext uri="{FF2B5EF4-FFF2-40B4-BE49-F238E27FC236}">
                <a16:creationId xmlns:a16="http://schemas.microsoft.com/office/drawing/2014/main" id="{83F6329C-964B-2CDD-13A7-0D9A1FF8FB4F}"/>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365 or Office 2019.</a:t>
            </a:r>
          </a:p>
        </p:txBody>
      </p:sp>
    </p:spTree>
    <p:extLst>
      <p:ext uri="{BB962C8B-B14F-4D97-AF65-F5344CB8AC3E}">
        <p14:creationId xmlns:p14="http://schemas.microsoft.com/office/powerpoint/2010/main" val="78837107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theme" Target="../theme/theme1.xml"/><Relationship Id="rId49" Type="http://schemas.openxmlformats.org/officeDocument/2006/relationships/image" Target="../media/image1.png"/><Relationship Id="rId50" Type="http://schemas.openxmlformats.org/officeDocument/2006/relationships/image" Target="../media/image2.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220414E7-5508-776E-6BBC-4EE50480958F}"/>
              </a:ext>
            </a:extLst>
          </p:cNvPr>
          <p:cNvSpPr>
            <a:spLocks noGrp="1"/>
          </p:cNvSpPr>
          <p:nvPr>
            <p:ph type="title"/>
          </p:nvPr>
        </p:nvSpPr>
        <p:spPr>
          <a:xfrm>
            <a:off x="600075" y="1095632"/>
            <a:ext cx="10990263" cy="568412"/>
          </a:xfrm>
          <a:prstGeom prst="rect">
            <a:avLst/>
          </a:prstGeom>
        </p:spPr>
        <p:txBody>
          <a:bodyPr vert="horz" lIns="91440" tIns="108000" rIns="91440" bIns="45720" rtlCol="0" anchor="t">
            <a:noAutofit/>
          </a:bodyPr>
          <a:lstStyle/>
          <a:p>
            <a:r>
              <a:rPr lang="sv-SE" dirty="0"/>
              <a:t>Klicka här för att ändra mall för rubrikformat</a:t>
            </a:r>
          </a:p>
        </p:txBody>
      </p:sp>
      <p:sp>
        <p:nvSpPr>
          <p:cNvPr id="3" name="Platshållare för text 2">
            <a:extLst>
              <a:ext uri="{FF2B5EF4-FFF2-40B4-BE49-F238E27FC236}">
                <a16:creationId xmlns:a16="http://schemas.microsoft.com/office/drawing/2014/main" id="{2006EF76-9662-2CD9-346E-23511E804736}"/>
              </a:ext>
            </a:extLst>
          </p:cNvPr>
          <p:cNvSpPr>
            <a:spLocks noGrp="1"/>
          </p:cNvSpPr>
          <p:nvPr>
            <p:ph type="body" idx="1"/>
          </p:nvPr>
        </p:nvSpPr>
        <p:spPr>
          <a:xfrm>
            <a:off x="600075" y="1872344"/>
            <a:ext cx="10990263" cy="4453808"/>
          </a:xfrm>
          <a:prstGeom prst="rect">
            <a:avLst/>
          </a:prstGeom>
        </p:spPr>
        <p:txBody>
          <a:bodyPr vert="horz" lIns="91440" tIns="45720" rIns="91440" bIns="45720" rtlCol="0">
            <a:noAutofit/>
          </a:body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4" name="Platshållare för datum 3">
            <a:extLst>
              <a:ext uri="{FF2B5EF4-FFF2-40B4-BE49-F238E27FC236}">
                <a16:creationId xmlns:a16="http://schemas.microsoft.com/office/drawing/2014/main" id="{5E3A2378-EA0B-2CB0-A3C0-B0181DFC31CC}"/>
              </a:ext>
            </a:extLst>
          </p:cNvPr>
          <p:cNvSpPr>
            <a:spLocks noGrp="1"/>
          </p:cNvSpPr>
          <p:nvPr>
            <p:ph type="dt" sz="half" idx="2"/>
          </p:nvPr>
        </p:nvSpPr>
        <p:spPr>
          <a:xfrm>
            <a:off x="600075" y="6473327"/>
            <a:ext cx="2743200" cy="94775"/>
          </a:xfrm>
          <a:prstGeom prst="rect">
            <a:avLst/>
          </a:prstGeom>
        </p:spPr>
        <p:txBody>
          <a:bodyPr vert="horz" lIns="91440" tIns="45720" rIns="91440" bIns="45720" rtlCol="0" anchor="ctr"/>
          <a:lstStyle>
            <a:lvl1pPr algn="l">
              <a:defRPr sz="700">
                <a:solidFill>
                  <a:schemeClr val="accent2"/>
                </a:solidFill>
              </a:defRPr>
            </a:lvl1pPr>
          </a:lstStyle>
          <a:p>
            <a:fld id="{888E4D63-BE2C-4D4B-BBD2-256262659A9F}" type="datetime1">
              <a:rPr lang="sv-SE" smtClean="0"/>
              <a:t>2025-12-03</a:t>
            </a:fld>
            <a:endParaRPr lang="sv-SE" dirty="0"/>
          </a:p>
        </p:txBody>
      </p:sp>
      <p:sp>
        <p:nvSpPr>
          <p:cNvPr id="5" name="Platshållare för sidfot 4">
            <a:extLst>
              <a:ext uri="{FF2B5EF4-FFF2-40B4-BE49-F238E27FC236}">
                <a16:creationId xmlns:a16="http://schemas.microsoft.com/office/drawing/2014/main" id="{24CA2E8D-AD94-B894-C4F1-B88C763BA32D}"/>
              </a:ext>
            </a:extLst>
          </p:cNvPr>
          <p:cNvSpPr>
            <a:spLocks noGrp="1"/>
          </p:cNvSpPr>
          <p:nvPr>
            <p:ph type="ftr" sz="quarter" idx="3"/>
          </p:nvPr>
        </p:nvSpPr>
        <p:spPr>
          <a:xfrm>
            <a:off x="4037805" y="6470364"/>
            <a:ext cx="4114800" cy="97738"/>
          </a:xfrm>
          <a:prstGeom prst="rect">
            <a:avLst/>
          </a:prstGeom>
        </p:spPr>
        <p:txBody>
          <a:bodyPr vert="horz" lIns="91440" tIns="45720" rIns="91440" bIns="45720" rtlCol="0" anchor="ctr"/>
          <a:lstStyle>
            <a:lvl1pPr algn="ctr">
              <a:defRPr sz="700">
                <a:solidFill>
                  <a:schemeClr val="accent2"/>
                </a:solidFill>
              </a:defRPr>
            </a:lvl1pPr>
          </a:lstStyle>
          <a:p>
            <a:r>
              <a:rPr lang="sv-SE"/>
              <a:t>Presentation footer</a:t>
            </a:r>
            <a:endParaRPr lang="sv-SE" dirty="0"/>
          </a:p>
        </p:txBody>
      </p:sp>
      <p:sp>
        <p:nvSpPr>
          <p:cNvPr id="6" name="Platshållare för bildnummer 5">
            <a:extLst>
              <a:ext uri="{FF2B5EF4-FFF2-40B4-BE49-F238E27FC236}">
                <a16:creationId xmlns:a16="http://schemas.microsoft.com/office/drawing/2014/main" id="{045617BD-973D-B163-E4ED-D245FDF0BDFC}"/>
              </a:ext>
            </a:extLst>
          </p:cNvPr>
          <p:cNvSpPr>
            <a:spLocks noGrp="1"/>
          </p:cNvSpPr>
          <p:nvPr>
            <p:ph type="sldNum" sz="quarter" idx="4"/>
          </p:nvPr>
        </p:nvSpPr>
        <p:spPr>
          <a:xfrm>
            <a:off x="8848725" y="6473328"/>
            <a:ext cx="2743200" cy="94775"/>
          </a:xfrm>
          <a:prstGeom prst="rect">
            <a:avLst/>
          </a:prstGeom>
        </p:spPr>
        <p:txBody>
          <a:bodyPr vert="horz" lIns="91440" tIns="45720" rIns="91440" bIns="45720" rtlCol="0" anchor="ctr"/>
          <a:lstStyle>
            <a:lvl1pPr algn="r">
              <a:defRPr sz="700">
                <a:solidFill>
                  <a:schemeClr val="accent2"/>
                </a:solidFill>
              </a:defRPr>
            </a:lvl1pPr>
          </a:lstStyle>
          <a:p>
            <a:fld id="{B716C8F4-20CD-364A-8A8E-DE130115B178}" type="slidenum">
              <a:rPr lang="sv-SE" smtClean="0"/>
              <a:pPr/>
              <a:t>‹#›</a:t>
            </a:fld>
            <a:endParaRPr lang="sv-SE" dirty="0"/>
          </a:p>
        </p:txBody>
      </p:sp>
      <p:pic>
        <p:nvPicPr>
          <p:cNvPr id="11" name="Bild 10">
            <a:extLst>
              <a:ext uri="{FF2B5EF4-FFF2-40B4-BE49-F238E27FC236}">
                <a16:creationId xmlns:a16="http://schemas.microsoft.com/office/drawing/2014/main" id="{57E3D58E-4C99-E6D1-B925-E182668FA2E3}"/>
              </a:ext>
            </a:extLst>
          </p:cNvPr>
          <p:cNvPicPr>
            <a:picLocks noChangeAspect="1"/>
          </p:cNvPicPr>
          <p:nvPr userDrawn="1"/>
        </p:nvPicPr>
        <p:blipFill>
          <a:blip r:embed="rId49" cstate="print">
            <a:extLst>
              <a:ext uri="{28A0092B-C50C-407E-A947-70E740481C1C}">
                <a14:useLocalDpi xmlns:a14="http://schemas.microsoft.com/office/drawing/2010/main"/>
              </a:ext>
              <a:ext uri="{96DAC541-7B7A-43D3-8B79-37D633B846F1}">
                <asvg:svgBlip xmlns:asvg="http://schemas.microsoft.com/office/drawing/2016/SVG/main" r:embed="rId50"/>
              </a:ext>
            </a:extLst>
          </a:blip>
          <a:stretch>
            <a:fillRect/>
          </a:stretch>
        </p:blipFill>
        <p:spPr>
          <a:xfrm>
            <a:off x="193566" y="164552"/>
            <a:ext cx="714243" cy="799273"/>
          </a:xfrm>
          <a:prstGeom prst="rect">
            <a:avLst/>
          </a:prstGeom>
        </p:spPr>
      </p:pic>
    </p:spTree>
    <p:extLst>
      <p:ext uri="{BB962C8B-B14F-4D97-AF65-F5344CB8AC3E}">
        <p14:creationId xmlns:p14="http://schemas.microsoft.com/office/powerpoint/2010/main" val="118368451"/>
      </p:ext>
    </p:extLst>
  </p:cSld>
  <p:clrMap bg1="lt1" tx1="dk1" bg2="lt2" tx2="dk2" accent1="accent1" accent2="accent2" accent3="accent3" accent4="accent4" accent5="accent5" accent6="accent6" hlink="hlink" folHlink="folHlink"/>
  <p:sldLayoutIdLst>
    <p:sldLayoutId id="2147483649" r:id="rId1"/>
    <p:sldLayoutId id="2147483679" r:id="rId2"/>
    <p:sldLayoutId id="2147483659" r:id="rId3"/>
    <p:sldLayoutId id="2147483651" r:id="rId4"/>
    <p:sldLayoutId id="2147483670" r:id="rId5"/>
    <p:sldLayoutId id="2147483660" r:id="rId6"/>
    <p:sldLayoutId id="2147483671" r:id="rId7"/>
    <p:sldLayoutId id="2147483661" r:id="rId8"/>
    <p:sldLayoutId id="2147483672" r:id="rId9"/>
    <p:sldLayoutId id="2147483662" r:id="rId10"/>
    <p:sldLayoutId id="2147483673" r:id="rId11"/>
    <p:sldLayoutId id="2147483650" r:id="rId12"/>
    <p:sldLayoutId id="2147483685" r:id="rId13"/>
    <p:sldLayoutId id="2147483688" r:id="rId14"/>
    <p:sldLayoutId id="2147483686" r:id="rId15"/>
    <p:sldLayoutId id="2147483687" r:id="rId16"/>
    <p:sldLayoutId id="2147483652" r:id="rId17"/>
    <p:sldLayoutId id="2147483653" r:id="rId18"/>
    <p:sldLayoutId id="2147483656" r:id="rId19"/>
    <p:sldLayoutId id="2147483657" r:id="rId20"/>
    <p:sldLayoutId id="2147483663" r:id="rId21"/>
    <p:sldLayoutId id="2147483694" r:id="rId22"/>
    <p:sldLayoutId id="2147483693" r:id="rId23"/>
    <p:sldLayoutId id="2147483684" r:id="rId24"/>
    <p:sldLayoutId id="2147483683" r:id="rId25"/>
    <p:sldLayoutId id="2147483681" r:id="rId26"/>
    <p:sldLayoutId id="2147483682" r:id="rId27"/>
    <p:sldLayoutId id="2147483676" r:id="rId28"/>
    <p:sldLayoutId id="2147483677" r:id="rId29"/>
    <p:sldLayoutId id="2147483678" r:id="rId30"/>
    <p:sldLayoutId id="2147483654" r:id="rId31"/>
    <p:sldLayoutId id="2147483668" r:id="rId32"/>
    <p:sldLayoutId id="2147483667" r:id="rId33"/>
    <p:sldLayoutId id="2147483669" r:id="rId34"/>
    <p:sldLayoutId id="2147483666" r:id="rId35"/>
    <p:sldLayoutId id="2147483689" r:id="rId36"/>
    <p:sldLayoutId id="2147483690" r:id="rId37"/>
    <p:sldLayoutId id="2147483691" r:id="rId38"/>
    <p:sldLayoutId id="2147483692" r:id="rId39"/>
    <p:sldLayoutId id="2147483655" r:id="rId40"/>
    <p:sldLayoutId id="2147483696" r:id="rId41"/>
    <p:sldLayoutId id="2147483697" r:id="rId42"/>
    <p:sldLayoutId id="2147483664" r:id="rId43"/>
    <p:sldLayoutId id="2147483695" r:id="rId44"/>
    <p:sldLayoutId id="2147483658" r:id="rId45"/>
    <p:sldLayoutId id="2147483674" r:id="rId46"/>
    <p:sldLayoutId id="2147483675" r:id="rId47"/>
  </p:sldLayoutIdLst>
  <p:hf sldNum="0" hdr="0" ftr="0" dt="0"/>
  <p:txStyles>
    <p:title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378" userDrawn="1">
          <p15:clr>
            <a:srgbClr val="F26B43"/>
          </p15:clr>
        </p15:guide>
        <p15:guide id="4" pos="1343" userDrawn="1">
          <p15:clr>
            <a:srgbClr val="F26B43"/>
          </p15:clr>
        </p15:guide>
        <p15:guide id="5" pos="1570" userDrawn="1">
          <p15:clr>
            <a:srgbClr val="F26B43"/>
          </p15:clr>
        </p15:guide>
        <p15:guide id="6" pos="2535" userDrawn="1">
          <p15:clr>
            <a:srgbClr val="F26B43"/>
          </p15:clr>
        </p15:guide>
        <p15:guide id="7" pos="2761" userDrawn="1">
          <p15:clr>
            <a:srgbClr val="F26B43"/>
          </p15:clr>
        </p15:guide>
        <p15:guide id="8" pos="3726" userDrawn="1">
          <p15:clr>
            <a:srgbClr val="F26B43"/>
          </p15:clr>
        </p15:guide>
        <p15:guide id="9" pos="3953" userDrawn="1">
          <p15:clr>
            <a:srgbClr val="F26B43"/>
          </p15:clr>
        </p15:guide>
        <p15:guide id="10" pos="4918" userDrawn="1">
          <p15:clr>
            <a:srgbClr val="F26B43"/>
          </p15:clr>
        </p15:guide>
        <p15:guide id="11" pos="5144" userDrawn="1">
          <p15:clr>
            <a:srgbClr val="F26B43"/>
          </p15:clr>
        </p15:guide>
        <p15:guide id="12" pos="6109" userDrawn="1">
          <p15:clr>
            <a:srgbClr val="F26B43"/>
          </p15:clr>
        </p15:guide>
        <p15:guide id="13" pos="6336" userDrawn="1">
          <p15:clr>
            <a:srgbClr val="F26B43"/>
          </p15:clr>
        </p15:guide>
        <p15:guide id="14" pos="7301" userDrawn="1">
          <p15:clr>
            <a:srgbClr val="F26B43"/>
          </p15:clr>
        </p15:guide>
        <p15:guide id="15" orient="horz" userDrawn="1">
          <p15:clr>
            <a:srgbClr val="F26B43"/>
          </p15:clr>
        </p15:guide>
        <p15:guide id="16" orient="horz" pos="4320" userDrawn="1">
          <p15:clr>
            <a:srgbClr val="F26B43"/>
          </p15:clr>
        </p15:guide>
        <p15:guide id="17" orient="horz" pos="514" userDrawn="1">
          <p15:clr>
            <a:srgbClr val="F26B43"/>
          </p15:clr>
        </p15:guide>
        <p15:guide id="18" orient="horz" pos="861" userDrawn="1">
          <p15:clr>
            <a:srgbClr val="F26B43"/>
          </p15:clr>
        </p15:guide>
        <p15:guide id="19" orient="horz" pos="1209" userDrawn="1">
          <p15:clr>
            <a:srgbClr val="F26B43"/>
          </p15:clr>
        </p15:guide>
        <p15:guide id="20" orient="horz" pos="1570" userDrawn="1">
          <p15:clr>
            <a:srgbClr val="F26B43"/>
          </p15:clr>
        </p15:guide>
        <p15:guide id="21" orient="horz" pos="1903" userDrawn="1">
          <p15:clr>
            <a:srgbClr val="F26B43"/>
          </p15:clr>
        </p15:guide>
        <p15:guide id="22" orient="horz" pos="2250" userDrawn="1">
          <p15:clr>
            <a:srgbClr val="F26B43"/>
          </p15:clr>
        </p15:guide>
        <p15:guide id="23" orient="horz" pos="2597" userDrawn="1">
          <p15:clr>
            <a:srgbClr val="F26B43"/>
          </p15:clr>
        </p15:guide>
        <p15:guide id="24" orient="horz" pos="2945" userDrawn="1">
          <p15:clr>
            <a:srgbClr val="F26B43"/>
          </p15:clr>
        </p15:guide>
        <p15:guide id="25" orient="horz" pos="3292" userDrawn="1">
          <p15:clr>
            <a:srgbClr val="F26B43"/>
          </p15:clr>
        </p15:guide>
        <p15:guide id="26" orient="horz" pos="3639" userDrawn="1">
          <p15:clr>
            <a:srgbClr val="F26B43"/>
          </p15:clr>
        </p15:guide>
        <p15:guide id="27" orient="horz" pos="398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image" Target="../media/image3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image" Target="../media/image33.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image" Target="../media/image34.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image" Target="../media/image35.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image" Target="../media/image36.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image" Target="../media/image37.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image" Target="../media/image38.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3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1691640" y="2880360"/>
            <a:ext cx="8796528" cy="1691640"/>
          </a:xfrm>
        </p:spPr>
        <p:txBody>
          <a:bodyPr/>
          <a:lstStyle/>
          <a:p>
            <a:r>
              <a:t>Adaptive Hybrid Retrieval-Augmented Generation</a:t>
            </a:r>
          </a:p>
        </p:txBody>
      </p:sp>
      <p:sp>
        <p:nvSpPr>
          <p:cNvPr id="3" name="Subtitle 2"/>
          <p:cNvSpPr>
            <a:spLocks noGrp="1"/>
          </p:cNvSpPr>
          <p:nvPr>
            <p:ph type="subTitle" idx="1"/>
          </p:nvPr>
        </p:nvSpPr>
        <p:spPr>
          <a:xfrm>
            <a:off x="2130552" y="5596128"/>
            <a:ext cx="7927848" cy="466344"/>
          </a:xfrm>
        </p:spPr>
        <p:txBody>
          <a:bodyPr/>
          <a:lstStyle/>
          <a:p>
            <a:r>
              <a:t>Dante Wesslund  ·  KTH EECS  ·  22 October 2026</a:t>
            </a:r>
          </a:p>
        </p:txBody>
      </p:sp>
      <p:sp>
        <p:nvSpPr>
          <p:cNvPr id="4" name="TextBox 3"/>
          <p:cNvSpPr txBox="1"/>
          <p:nvPr/>
        </p:nvSpPr>
        <p:spPr>
          <a:xfrm>
            <a:off x="2194560" y="4754880"/>
            <a:ext cx="7799831" cy="713232"/>
          </a:xfrm>
          <a:prstGeom prst="rect">
            <a:avLst/>
          </a:prstGeom>
          <a:noFill/>
        </p:spPr>
        <p:txBody>
          <a:bodyPr wrap="square" anchor="t" lIns="0" rIns="0" tIns="0" bIns="0">
            <a:spAutoFit/>
          </a:bodyPr>
          <a:lstStyle/>
          <a:p>
            <a:pPr algn="ctr">
              <a:lnSpc>
                <a:spcPct val="105000"/>
              </a:lnSpc>
              <a:spcAft>
                <a:spcPts val="0"/>
              </a:spcAft>
            </a:pPr>
            <a:r>
              <a:rPr sz="2000" b="0" i="0">
                <a:solidFill>
                  <a:srgbClr val="FFFFFF"/>
                </a:solidFill>
              </a:rPr>
              <a:t>Optimizing the computational cost-performance trade-off</a:t>
            </a:r>
          </a:p>
          <a:p>
            <a:pPr algn="ctr">
              <a:lnSpc>
                <a:spcPct val="105000"/>
              </a:lnSpc>
              <a:spcAft>
                <a:spcPts val="600"/>
              </a:spcAft>
            </a:pPr>
            <a:r>
              <a:rPr sz="2000" b="0" i="0">
                <a:solidFill>
                  <a:srgbClr val="FFFFFF"/>
                </a:solidFill>
              </a:rPr>
              <a:t>via learned query routing</a:t>
            </a:r>
          </a:p>
        </p:txBody>
      </p:sp>
      <p:sp>
        <p:nvSpPr>
          <p:cNvPr id="5" name="TextBox 4"/>
          <p:cNvSpPr txBox="1"/>
          <p:nvPr/>
        </p:nvSpPr>
        <p:spPr>
          <a:xfrm>
            <a:off x="2651760" y="6144768"/>
            <a:ext cx="6885432" cy="548640"/>
          </a:xfrm>
          <a:prstGeom prst="rect">
            <a:avLst/>
          </a:prstGeom>
          <a:noFill/>
        </p:spPr>
        <p:txBody>
          <a:bodyPr wrap="square" anchor="t" lIns="0" rIns="0" tIns="0" bIns="0">
            <a:spAutoFit/>
          </a:bodyPr>
          <a:lstStyle/>
          <a:p>
            <a:pPr algn="ctr">
              <a:lnSpc>
                <a:spcPct val="105000"/>
              </a:lnSpc>
              <a:spcAft>
                <a:spcPts val="0"/>
              </a:spcAft>
            </a:pPr>
            <a:r>
              <a:rPr sz="1400" b="0" i="0">
                <a:solidFill>
                  <a:srgbClr val="DEF0FF"/>
                </a:solidFill>
              </a:rPr>
              <a:t>Supervisors: Arvid Eriksson (KTH), Peng Zhang (Ericsson)</a:t>
            </a:r>
          </a:p>
          <a:p>
            <a:pPr algn="ctr">
              <a:lnSpc>
                <a:spcPct val="105000"/>
              </a:lnSpc>
              <a:spcAft>
                <a:spcPts val="600"/>
              </a:spcAft>
            </a:pPr>
            <a:r>
              <a:rPr sz="1400" b="0" i="0">
                <a:solidFill>
                  <a:srgbClr val="DEF0FF"/>
                </a:solidFill>
              </a:rPr>
              <a:t>Examiner: Pawel Herman  ·  In collaboration with Ericsson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03504" y="868680"/>
            <a:ext cx="10991088" cy="960120"/>
          </a:xfrm>
        </p:spPr>
        <p:txBody>
          <a:bodyPr anchor="t" wrap="square"/>
          <a:lstStyle/>
          <a:p>
            <a:pPr>
              <a:lnSpc>
                <a:spcPct val="95000"/>
              </a:lnSpc>
            </a:pPr>
            <a:r>
              <a:rPr sz="3000"/>
              <a:t>Graph-enhanced retrieval answers harder questions, but every query pays for it</a:t>
            </a:r>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t>Adaptive Hybrid RAG  ·  Dante Wesslund  ·  KTH 2026</a:t>
            </a:r>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sp>
        <p:nvSpPr>
          <p:cNvPr id="6" name="Rounded Rectangle 5"/>
          <p:cNvSpPr/>
          <p:nvPr/>
        </p:nvSpPr>
        <p:spPr>
          <a:xfrm>
            <a:off x="603504" y="2103120"/>
            <a:ext cx="4983480" cy="3017520"/>
          </a:xfrm>
          <a:prstGeom prst="roundRect">
            <a:avLst>
              <a:gd name="adj" fmla="val 6000"/>
            </a:avLst>
          </a:prstGeom>
          <a:solidFill>
            <a:srgbClr val="DEF0FF"/>
          </a:solidFill>
          <a:ln>
            <a:noFill/>
          </a:ln>
          <a:effectLst/>
        </p:spPr>
        <p:style>
          <a:lnRef idx="1">
            <a:schemeClr val="accent1"/>
          </a:lnRef>
          <a:fillRef idx="3">
            <a:schemeClr val="accent1"/>
          </a:fillRef>
          <a:effectRef idx="2">
            <a:schemeClr val="accent1"/>
          </a:effectRef>
          <a:fontRef idx="minor">
            <a:schemeClr val="lt1"/>
          </a:fontRef>
        </p:style>
        <p:txBody>
          <a:bodyPr rtlCol="0" anchor="t" lIns="274320" rIns="274320" tIns="274320" bIns="274320" wrap="square"/>
          <a:lstStyle/>
          <a:p>
            <a:pPr algn="l">
              <a:lnSpc>
                <a:spcPct val="105000"/>
              </a:lnSpc>
              <a:spcAft>
                <a:spcPts val="1400"/>
              </a:spcAft>
            </a:pPr>
            <a:r>
              <a:rPr sz="2600" b="1" i="0">
                <a:solidFill>
                  <a:srgbClr val="000061"/>
                </a:solidFill>
              </a:rPr>
              <a:t>Naive</a:t>
            </a:r>
            <a:r>
              <a:rPr sz="2000" b="0" i="0">
                <a:solidFill>
                  <a:srgbClr val="323232"/>
                </a:solidFill>
              </a:rPr>
              <a:t>   vector search only</a:t>
            </a:r>
          </a:p>
          <a:p>
            <a:pPr algn="l">
              <a:lnSpc>
                <a:spcPct val="105000"/>
              </a:lnSpc>
              <a:spcAft>
                <a:spcPts val="0"/>
              </a:spcAft>
            </a:pPr>
            <a:r>
              <a:rPr sz="3600" b="1" i="0">
                <a:solidFill>
                  <a:srgbClr val="004791"/>
                </a:solidFill>
              </a:rPr>
              <a:t>10.9 s</a:t>
            </a:r>
          </a:p>
          <a:p>
            <a:pPr algn="l">
              <a:lnSpc>
                <a:spcPct val="105000"/>
              </a:lnSpc>
              <a:spcAft>
                <a:spcPts val="1200"/>
              </a:spcAft>
            </a:pPr>
            <a:r>
              <a:rPr sz="1800" b="0" i="0">
                <a:solidFill>
                  <a:srgbClr val="323232"/>
                </a:solidFill>
              </a:rPr>
              <a:t>mean time per query</a:t>
            </a:r>
          </a:p>
          <a:p>
            <a:pPr algn="l">
              <a:lnSpc>
                <a:spcPct val="105000"/>
              </a:lnSpc>
              <a:spcAft>
                <a:spcPts val="0"/>
              </a:spcAft>
            </a:pPr>
            <a:r>
              <a:rPr sz="3600" b="1" i="0">
                <a:solidFill>
                  <a:srgbClr val="004791"/>
                </a:solidFill>
              </a:rPr>
              <a:t>≈3,500</a:t>
            </a:r>
          </a:p>
          <a:p>
            <a:pPr algn="l">
              <a:lnSpc>
                <a:spcPct val="105000"/>
              </a:lnSpc>
              <a:spcAft>
                <a:spcPts val="600"/>
              </a:spcAft>
            </a:pPr>
            <a:r>
              <a:rPr sz="1800" b="0" i="0">
                <a:solidFill>
                  <a:srgbClr val="323232"/>
                </a:solidFill>
              </a:rPr>
              <a:t>model tokens per query*</a:t>
            </a:r>
          </a:p>
        </p:txBody>
      </p:sp>
      <p:sp>
        <p:nvSpPr>
          <p:cNvPr id="7" name="Rounded Rectangle 6"/>
          <p:cNvSpPr/>
          <p:nvPr/>
        </p:nvSpPr>
        <p:spPr>
          <a:xfrm>
            <a:off x="6611112" y="2103120"/>
            <a:ext cx="4983480" cy="3017520"/>
          </a:xfrm>
          <a:prstGeom prst="roundRect">
            <a:avLst>
              <a:gd name="adj" fmla="val 6000"/>
            </a:avLst>
          </a:prstGeom>
          <a:solidFill>
            <a:srgbClr val="000061"/>
          </a:solidFill>
          <a:ln>
            <a:noFill/>
          </a:ln>
          <a:effectLst/>
        </p:spPr>
        <p:style>
          <a:lnRef idx="1">
            <a:schemeClr val="accent1"/>
          </a:lnRef>
          <a:fillRef idx="3">
            <a:schemeClr val="accent1"/>
          </a:fillRef>
          <a:effectRef idx="2">
            <a:schemeClr val="accent1"/>
          </a:effectRef>
          <a:fontRef idx="minor">
            <a:schemeClr val="lt1"/>
          </a:fontRef>
        </p:style>
        <p:txBody>
          <a:bodyPr rtlCol="0" anchor="t" lIns="274320" rIns="274320" tIns="274320" bIns="274320" wrap="square"/>
          <a:lstStyle/>
          <a:p>
            <a:pPr algn="l">
              <a:lnSpc>
                <a:spcPct val="105000"/>
              </a:lnSpc>
              <a:spcAft>
                <a:spcPts val="1400"/>
              </a:spcAft>
            </a:pPr>
            <a:r>
              <a:rPr sz="2600" b="1" i="0">
                <a:solidFill>
                  <a:srgbClr val="FFFFFF"/>
                </a:solidFill>
              </a:rPr>
              <a:t>Mix</a:t>
            </a:r>
            <a:r>
              <a:rPr sz="2000" b="0" i="0">
                <a:solidFill>
                  <a:srgbClr val="DEF0FF"/>
                </a:solidFill>
              </a:rPr>
              <a:t>   vector + knowledge graph</a:t>
            </a:r>
          </a:p>
          <a:p>
            <a:pPr algn="l">
              <a:lnSpc>
                <a:spcPct val="105000"/>
              </a:lnSpc>
              <a:spcAft>
                <a:spcPts val="0"/>
              </a:spcAft>
            </a:pPr>
            <a:r>
              <a:rPr sz="3600" b="1" i="0">
                <a:solidFill>
                  <a:srgbClr val="FFFFFF"/>
                </a:solidFill>
              </a:rPr>
              <a:t>24.4 s</a:t>
            </a:r>
          </a:p>
          <a:p>
            <a:pPr algn="l">
              <a:lnSpc>
                <a:spcPct val="105000"/>
              </a:lnSpc>
              <a:spcAft>
                <a:spcPts val="1200"/>
              </a:spcAft>
            </a:pPr>
            <a:r>
              <a:rPr sz="1800" b="0" i="0">
                <a:solidFill>
                  <a:srgbClr val="DEF0FF"/>
                </a:solidFill>
              </a:rPr>
              <a:t>mean time per query</a:t>
            </a:r>
          </a:p>
          <a:p>
            <a:pPr algn="l">
              <a:lnSpc>
                <a:spcPct val="105000"/>
              </a:lnSpc>
              <a:spcAft>
                <a:spcPts val="0"/>
              </a:spcAft>
            </a:pPr>
            <a:r>
              <a:rPr sz="3600" b="1" i="0">
                <a:solidFill>
                  <a:srgbClr val="FFFFFF"/>
                </a:solidFill>
              </a:rPr>
              <a:t>≈17,900</a:t>
            </a:r>
          </a:p>
          <a:p>
            <a:pPr algn="l">
              <a:lnSpc>
                <a:spcPct val="105000"/>
              </a:lnSpc>
              <a:spcAft>
                <a:spcPts val="600"/>
              </a:spcAft>
            </a:pPr>
            <a:r>
              <a:rPr sz="1800" b="0" i="0">
                <a:solidFill>
                  <a:srgbClr val="DEF0FF"/>
                </a:solidFill>
              </a:rPr>
              <a:t>model tokens per query*</a:t>
            </a:r>
          </a:p>
        </p:txBody>
      </p:sp>
      <p:sp>
        <p:nvSpPr>
          <p:cNvPr id="8" name="TextBox 7"/>
          <p:cNvSpPr txBox="1"/>
          <p:nvPr/>
        </p:nvSpPr>
        <p:spPr>
          <a:xfrm>
            <a:off x="5586984" y="2880360"/>
            <a:ext cx="1024128" cy="822960"/>
          </a:xfrm>
          <a:prstGeom prst="rect">
            <a:avLst/>
          </a:prstGeom>
          <a:noFill/>
        </p:spPr>
        <p:txBody>
          <a:bodyPr wrap="square" anchor="t" lIns="0" rIns="0" tIns="0" bIns="0">
            <a:spAutoFit/>
          </a:bodyPr>
          <a:lstStyle/>
          <a:p>
            <a:pPr algn="ctr">
              <a:lnSpc>
                <a:spcPct val="105000"/>
              </a:lnSpc>
              <a:spcAft>
                <a:spcPts val="0"/>
              </a:spcAft>
            </a:pPr>
            <a:r>
              <a:rPr sz="2200" b="1" i="0">
                <a:solidFill>
                  <a:srgbClr val="000061"/>
                </a:solidFill>
              </a:rPr>
              <a:t>2.2×</a:t>
            </a:r>
          </a:p>
          <a:p>
            <a:pPr algn="ctr">
              <a:lnSpc>
                <a:spcPct val="105000"/>
              </a:lnSpc>
              <a:spcAft>
                <a:spcPts val="600"/>
              </a:spcAft>
            </a:pPr>
            <a:r>
              <a:rPr sz="1500" b="0" i="0">
                <a:solidFill>
                  <a:srgbClr val="595959"/>
                </a:solidFill>
              </a:rPr>
              <a:t>time</a:t>
            </a:r>
          </a:p>
        </p:txBody>
      </p:sp>
      <p:sp>
        <p:nvSpPr>
          <p:cNvPr id="9" name="TextBox 8"/>
          <p:cNvSpPr txBox="1"/>
          <p:nvPr/>
        </p:nvSpPr>
        <p:spPr>
          <a:xfrm>
            <a:off x="5586984" y="3977639"/>
            <a:ext cx="1024128" cy="822960"/>
          </a:xfrm>
          <a:prstGeom prst="rect">
            <a:avLst/>
          </a:prstGeom>
          <a:noFill/>
        </p:spPr>
        <p:txBody>
          <a:bodyPr wrap="square" anchor="t" lIns="0" rIns="0" tIns="0" bIns="0">
            <a:spAutoFit/>
          </a:bodyPr>
          <a:lstStyle/>
          <a:p>
            <a:pPr algn="ctr">
              <a:lnSpc>
                <a:spcPct val="105000"/>
              </a:lnSpc>
              <a:spcAft>
                <a:spcPts val="0"/>
              </a:spcAft>
            </a:pPr>
            <a:r>
              <a:rPr sz="2200" b="1" i="0">
                <a:solidFill>
                  <a:srgbClr val="000061"/>
                </a:solidFill>
              </a:rPr>
              <a:t>5.2×</a:t>
            </a:r>
          </a:p>
          <a:p>
            <a:pPr algn="ctr">
              <a:lnSpc>
                <a:spcPct val="105000"/>
              </a:lnSpc>
              <a:spcAft>
                <a:spcPts val="600"/>
              </a:spcAft>
            </a:pPr>
            <a:r>
              <a:rPr sz="1500" b="0" i="0">
                <a:solidFill>
                  <a:srgbClr val="595959"/>
                </a:solidFill>
              </a:rPr>
              <a:t>tokens</a:t>
            </a:r>
          </a:p>
        </p:txBody>
      </p:sp>
      <p:sp>
        <p:nvSpPr>
          <p:cNvPr id="10" name="Rounded Rectangle 9"/>
          <p:cNvSpPr/>
          <p:nvPr/>
        </p:nvSpPr>
        <p:spPr>
          <a:xfrm>
            <a:off x="603504" y="5285232"/>
            <a:ext cx="10991088" cy="713232"/>
          </a:xfrm>
          <a:prstGeom prst="roundRect">
            <a:avLst>
              <a:gd name="adj" fmla="val 6000"/>
            </a:avLst>
          </a:prstGeom>
          <a:solidFill>
            <a:srgbClr val="EBE5E0"/>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rIns="228600" tIns="228600" bIns="228600" wrap="square"/>
          <a:lstStyle/>
          <a:p>
            <a:pPr algn="l">
              <a:lnSpc>
                <a:spcPct val="105000"/>
              </a:lnSpc>
              <a:spcAft>
                <a:spcPts val="600"/>
              </a:spcAft>
            </a:pPr>
            <a:r>
              <a:rPr sz="2000" b="0" i="0">
                <a:solidFill>
                  <a:srgbClr val="323232"/>
                </a:solidFill>
              </a:rPr>
              <a:t>Yet Mix was needed on only </a:t>
            </a:r>
            <a:r>
              <a:rPr sz="2000" b="1" i="0">
                <a:solidFill>
                  <a:srgbClr val="000061"/>
                </a:solidFill>
              </a:rPr>
              <a:t>327 of 2,000</a:t>
            </a:r>
            <a:r>
              <a:rPr sz="2000" b="0" i="0">
                <a:solidFill>
                  <a:srgbClr val="323232"/>
                </a:solidFill>
              </a:rPr>
              <a:t> judged questions (16%). On 959 (48%), Naive was already enough.</a:t>
            </a:r>
          </a:p>
        </p:txBody>
      </p:sp>
      <p:sp>
        <p:nvSpPr>
          <p:cNvPr id="11" name="TextBox 10"/>
          <p:cNvSpPr txBox="1"/>
          <p:nvPr/>
        </p:nvSpPr>
        <p:spPr>
          <a:xfrm>
            <a:off x="603504" y="6053328"/>
            <a:ext cx="10991088" cy="274320"/>
          </a:xfrm>
          <a:prstGeom prst="rect">
            <a:avLst/>
          </a:prstGeom>
          <a:noFill/>
        </p:spPr>
        <p:txBody>
          <a:bodyPr wrap="square" anchor="t" lIns="0" rIns="0" tIns="0" bIns="0">
            <a:spAutoFit/>
          </a:bodyPr>
          <a:lstStyle/>
          <a:p>
            <a:pPr algn="l">
              <a:lnSpc>
                <a:spcPct val="105000"/>
              </a:lnSpc>
              <a:spcAft>
                <a:spcPts val="600"/>
              </a:spcAft>
            </a:pPr>
            <a:r>
              <a:rPr sz="1300" b="0" i="0">
                <a:solidFill>
                  <a:srgbClr val="595959"/>
                </a:solidFill>
              </a:rPr>
              <a:t>Times: all 193 test questions.  *Tokens: per-mode means over 15 instrumented queries (prompt, output and reasoning tokens).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03504" y="868680"/>
            <a:ext cx="10991088" cy="960120"/>
          </a:xfrm>
        </p:spPr>
        <p:txBody>
          <a:bodyPr anchor="t" wrap="square"/>
          <a:lstStyle/>
          <a:p>
            <a:pPr>
              <a:lnSpc>
                <a:spcPct val="95000"/>
              </a:lnSpc>
            </a:pPr>
            <a:r>
              <a:rPr sz="3000"/>
              <a:t>Some questions need the graph, most do not</a:t>
            </a:r>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t>Adaptive Hybrid RAG  ·  Dante Wesslund  ·  KTH 2026</a:t>
            </a:r>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sp>
        <p:nvSpPr>
          <p:cNvPr id="6" name="Rounded Rectangle 5"/>
          <p:cNvSpPr/>
          <p:nvPr/>
        </p:nvSpPr>
        <p:spPr>
          <a:xfrm>
            <a:off x="603504" y="2103120"/>
            <a:ext cx="5358384" cy="3886200"/>
          </a:xfrm>
          <a:prstGeom prst="roundRect">
            <a:avLst>
              <a:gd name="adj" fmla="val 4000"/>
            </a:avLst>
          </a:prstGeom>
          <a:solidFill>
            <a:srgbClr val="FFFFFF"/>
          </a:solidFill>
          <a:ln w="15875">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t" lIns="164592" rIns="164592" tIns="164592" bIns="164592"/>
          <a:lstStyle/>
          <a:p>
            <a:pPr algn="ctr"/>
          </a:p>
        </p:txBody>
      </p:sp>
      <p:sp>
        <p:nvSpPr>
          <p:cNvPr id="7" name="TextBox 6"/>
          <p:cNvSpPr txBox="1"/>
          <p:nvPr/>
        </p:nvSpPr>
        <p:spPr>
          <a:xfrm>
            <a:off x="832104" y="2240280"/>
            <a:ext cx="4901184" cy="868680"/>
          </a:xfrm>
          <a:prstGeom prst="rect">
            <a:avLst/>
          </a:prstGeom>
          <a:noFill/>
        </p:spPr>
        <p:txBody>
          <a:bodyPr wrap="square" anchor="t" lIns="0" rIns="0" tIns="0" bIns="0">
            <a:spAutoFit/>
          </a:bodyPr>
          <a:lstStyle/>
          <a:p>
            <a:pPr algn="l">
              <a:lnSpc>
                <a:spcPct val="100000"/>
              </a:lnSpc>
              <a:spcAft>
                <a:spcPts val="600"/>
              </a:spcAft>
            </a:pPr>
            <a:r>
              <a:rPr sz="2000" b="1" i="0">
                <a:solidFill>
                  <a:srgbClr val="004791"/>
                </a:solidFill>
              </a:rPr>
              <a:t>Q  </a:t>
            </a:r>
            <a:r>
              <a:rPr sz="2000" b="1" i="0">
                <a:solidFill>
                  <a:srgbClr val="000061"/>
                </a:solidFill>
              </a:rPr>
              <a:t>Which film came out first, The Love Route or Engal Aasan?</a:t>
            </a:r>
          </a:p>
        </p:txBody>
      </p:sp>
      <p:sp>
        <p:nvSpPr>
          <p:cNvPr id="8" name="TextBox 7"/>
          <p:cNvSpPr txBox="1"/>
          <p:nvPr/>
        </p:nvSpPr>
        <p:spPr>
          <a:xfrm>
            <a:off x="832104" y="3090672"/>
            <a:ext cx="4901184" cy="320040"/>
          </a:xfrm>
          <a:prstGeom prst="rect">
            <a:avLst/>
          </a:prstGeom>
          <a:noFill/>
        </p:spPr>
        <p:txBody>
          <a:bodyPr wrap="square" anchor="t" lIns="0" rIns="0" tIns="0" bIns="0">
            <a:spAutoFit/>
          </a:bodyPr>
          <a:lstStyle/>
          <a:p>
            <a:pPr algn="l">
              <a:lnSpc>
                <a:spcPct val="105000"/>
              </a:lnSpc>
              <a:spcAft>
                <a:spcPts val="600"/>
              </a:spcAft>
            </a:pPr>
            <a:r>
              <a:rPr sz="1700" b="0" i="0">
                <a:solidFill>
                  <a:srgbClr val="595959"/>
                </a:solidFill>
              </a:rPr>
              <a:t>Gold answer: </a:t>
            </a:r>
            <a:r>
              <a:rPr sz="1700" b="1" i="0">
                <a:solidFill>
                  <a:srgbClr val="323232"/>
                </a:solidFill>
              </a:rPr>
              <a:t>The Love Route</a:t>
            </a:r>
          </a:p>
        </p:txBody>
      </p:sp>
      <p:sp>
        <p:nvSpPr>
          <p:cNvPr id="9" name="Rounded Rectangle 8"/>
          <p:cNvSpPr/>
          <p:nvPr/>
        </p:nvSpPr>
        <p:spPr>
          <a:xfrm>
            <a:off x="832104" y="3520440"/>
            <a:ext cx="1188720" cy="365760"/>
          </a:xfrm>
          <a:prstGeom prst="roundRect">
            <a:avLst>
              <a:gd name="adj" fmla="val 30000"/>
            </a:avLst>
          </a:prstGeom>
          <a:solidFill>
            <a:srgbClr val="4DA060"/>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lstStyle/>
          <a:p>
            <a:pPr algn="ctr">
              <a:lnSpc>
                <a:spcPct val="105000"/>
              </a:lnSpc>
              <a:spcAft>
                <a:spcPts val="600"/>
              </a:spcAft>
            </a:pPr>
            <a:r>
              <a:rPr sz="1400" b="1" i="0">
                <a:solidFill>
                  <a:srgbClr val="FFFFFF"/>
                </a:solidFill>
              </a:rPr>
              <a:t>correct</a:t>
            </a:r>
          </a:p>
        </p:txBody>
      </p:sp>
      <p:sp>
        <p:nvSpPr>
          <p:cNvPr id="10" name="TextBox 9"/>
          <p:cNvSpPr txBox="1"/>
          <p:nvPr/>
        </p:nvSpPr>
        <p:spPr>
          <a:xfrm>
            <a:off x="2157984" y="3493008"/>
            <a:ext cx="3529584" cy="960120"/>
          </a:xfrm>
          <a:prstGeom prst="rect">
            <a:avLst/>
          </a:prstGeom>
          <a:noFill/>
        </p:spPr>
        <p:txBody>
          <a:bodyPr wrap="square" anchor="t" lIns="0" rIns="0" tIns="0" bIns="0">
            <a:spAutoFit/>
          </a:bodyPr>
          <a:lstStyle/>
          <a:p>
            <a:pPr algn="l">
              <a:lnSpc>
                <a:spcPct val="100000"/>
              </a:lnSpc>
              <a:spcAft>
                <a:spcPts val="600"/>
              </a:spcAft>
            </a:pPr>
            <a:r>
              <a:rPr sz="1500" b="1" i="0">
                <a:solidFill>
                  <a:srgbClr val="6298D2"/>
                </a:solidFill>
              </a:rPr>
              <a:t>Naive:  </a:t>
            </a:r>
            <a:r>
              <a:rPr sz="1500" b="0" i="1">
                <a:solidFill>
                  <a:srgbClr val="323232"/>
                </a:solidFill>
              </a:rPr>
              <a:t>“…The Love Route came out significantly earlier than Engal Aasan.” (1915 vs 2009)</a:t>
            </a:r>
          </a:p>
        </p:txBody>
      </p:sp>
      <p:sp>
        <p:nvSpPr>
          <p:cNvPr id="11" name="Rounded Rectangle 10"/>
          <p:cNvSpPr/>
          <p:nvPr/>
        </p:nvSpPr>
        <p:spPr>
          <a:xfrm>
            <a:off x="832104" y="4572000"/>
            <a:ext cx="1188720" cy="365760"/>
          </a:xfrm>
          <a:prstGeom prst="roundRect">
            <a:avLst>
              <a:gd name="adj" fmla="val 30000"/>
            </a:avLst>
          </a:prstGeom>
          <a:solidFill>
            <a:srgbClr val="4DA060"/>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lstStyle/>
          <a:p>
            <a:pPr algn="ctr">
              <a:lnSpc>
                <a:spcPct val="105000"/>
              </a:lnSpc>
              <a:spcAft>
                <a:spcPts val="600"/>
              </a:spcAft>
            </a:pPr>
            <a:r>
              <a:rPr sz="1400" b="1" i="0">
                <a:solidFill>
                  <a:srgbClr val="FFFFFF"/>
                </a:solidFill>
              </a:rPr>
              <a:t>correct</a:t>
            </a:r>
          </a:p>
        </p:txBody>
      </p:sp>
      <p:sp>
        <p:nvSpPr>
          <p:cNvPr id="12" name="TextBox 11"/>
          <p:cNvSpPr txBox="1"/>
          <p:nvPr/>
        </p:nvSpPr>
        <p:spPr>
          <a:xfrm>
            <a:off x="2157984" y="4544568"/>
            <a:ext cx="3529584" cy="960120"/>
          </a:xfrm>
          <a:prstGeom prst="rect">
            <a:avLst/>
          </a:prstGeom>
          <a:noFill/>
        </p:spPr>
        <p:txBody>
          <a:bodyPr wrap="square" anchor="t" lIns="0" rIns="0" tIns="0" bIns="0">
            <a:spAutoFit/>
          </a:bodyPr>
          <a:lstStyle/>
          <a:p>
            <a:pPr algn="l">
              <a:lnSpc>
                <a:spcPct val="100000"/>
              </a:lnSpc>
              <a:spcAft>
                <a:spcPts val="600"/>
              </a:spcAft>
            </a:pPr>
            <a:r>
              <a:rPr sz="1500" b="1" i="0">
                <a:solidFill>
                  <a:srgbClr val="000061"/>
                </a:solidFill>
              </a:rPr>
              <a:t>Mix:  </a:t>
            </a:r>
            <a:r>
              <a:rPr sz="1500" b="0" i="1">
                <a:solidFill>
                  <a:srgbClr val="323232"/>
                </a:solidFill>
              </a:rPr>
              <a:t>“…The Love Route was released significantly earlier than Engal Aasan.”</a:t>
            </a:r>
          </a:p>
        </p:txBody>
      </p:sp>
      <p:sp>
        <p:nvSpPr>
          <p:cNvPr id="13" name="Rounded Rectangle 12"/>
          <p:cNvSpPr/>
          <p:nvPr/>
        </p:nvSpPr>
        <p:spPr>
          <a:xfrm>
            <a:off x="832104" y="5440680"/>
            <a:ext cx="4901184" cy="438912"/>
          </a:xfrm>
          <a:prstGeom prst="roundRect">
            <a:avLst>
              <a:gd name="adj" fmla="val 20000"/>
            </a:avLst>
          </a:prstGeom>
          <a:solidFill>
            <a:srgbClr val="DEF0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wrap="square"/>
          <a:lstStyle/>
          <a:p>
            <a:pPr algn="l">
              <a:lnSpc>
                <a:spcPct val="105000"/>
              </a:lnSpc>
              <a:spcAft>
                <a:spcPts val="600"/>
              </a:spcAft>
            </a:pPr>
            <a:r>
              <a:rPr sz="1700" b="1" i="0">
                <a:solidFill>
                  <a:srgbClr val="000061"/>
                </a:solidFill>
              </a:rPr>
              <a:t>Label: naive_enough  →  route to Naive</a:t>
            </a:r>
          </a:p>
        </p:txBody>
      </p:sp>
      <p:sp>
        <p:nvSpPr>
          <p:cNvPr id="14" name="Rounded Rectangle 13"/>
          <p:cNvSpPr/>
          <p:nvPr/>
        </p:nvSpPr>
        <p:spPr>
          <a:xfrm>
            <a:off x="6236208" y="2103120"/>
            <a:ext cx="5358384" cy="3886200"/>
          </a:xfrm>
          <a:prstGeom prst="roundRect">
            <a:avLst>
              <a:gd name="adj" fmla="val 4000"/>
            </a:avLst>
          </a:prstGeom>
          <a:solidFill>
            <a:srgbClr val="FFFFFF"/>
          </a:solidFill>
          <a:ln w="15875">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t" lIns="164592" rIns="164592" tIns="164592" bIns="164592"/>
          <a:lstStyle/>
          <a:p>
            <a:pPr algn="ctr"/>
          </a:p>
        </p:txBody>
      </p:sp>
      <p:sp>
        <p:nvSpPr>
          <p:cNvPr id="15" name="TextBox 14"/>
          <p:cNvSpPr txBox="1"/>
          <p:nvPr/>
        </p:nvSpPr>
        <p:spPr>
          <a:xfrm>
            <a:off x="6464808" y="2240280"/>
            <a:ext cx="4901184" cy="868680"/>
          </a:xfrm>
          <a:prstGeom prst="rect">
            <a:avLst/>
          </a:prstGeom>
          <a:noFill/>
        </p:spPr>
        <p:txBody>
          <a:bodyPr wrap="square" anchor="t" lIns="0" rIns="0" tIns="0" bIns="0">
            <a:spAutoFit/>
          </a:bodyPr>
          <a:lstStyle/>
          <a:p>
            <a:pPr algn="l">
              <a:lnSpc>
                <a:spcPct val="100000"/>
              </a:lnSpc>
              <a:spcAft>
                <a:spcPts val="600"/>
              </a:spcAft>
            </a:pPr>
            <a:r>
              <a:rPr sz="2000" b="1" i="0">
                <a:solidFill>
                  <a:srgbClr val="004791"/>
                </a:solidFill>
              </a:rPr>
              <a:t>Q  </a:t>
            </a:r>
            <a:r>
              <a:rPr sz="2000" b="1" i="0">
                <a:solidFill>
                  <a:srgbClr val="000061"/>
                </a:solidFill>
              </a:rPr>
              <a:t>When was the director of film Private Hell 36 born?</a:t>
            </a:r>
          </a:p>
        </p:txBody>
      </p:sp>
      <p:sp>
        <p:nvSpPr>
          <p:cNvPr id="16" name="TextBox 15"/>
          <p:cNvSpPr txBox="1"/>
          <p:nvPr/>
        </p:nvSpPr>
        <p:spPr>
          <a:xfrm>
            <a:off x="6464808" y="3090672"/>
            <a:ext cx="4901184" cy="320040"/>
          </a:xfrm>
          <a:prstGeom prst="rect">
            <a:avLst/>
          </a:prstGeom>
          <a:noFill/>
        </p:spPr>
        <p:txBody>
          <a:bodyPr wrap="square" anchor="t" lIns="0" rIns="0" tIns="0" bIns="0">
            <a:spAutoFit/>
          </a:bodyPr>
          <a:lstStyle/>
          <a:p>
            <a:pPr algn="l">
              <a:lnSpc>
                <a:spcPct val="105000"/>
              </a:lnSpc>
              <a:spcAft>
                <a:spcPts val="600"/>
              </a:spcAft>
            </a:pPr>
            <a:r>
              <a:rPr sz="1700" b="0" i="0">
                <a:solidFill>
                  <a:srgbClr val="595959"/>
                </a:solidFill>
              </a:rPr>
              <a:t>Gold answer: </a:t>
            </a:r>
            <a:r>
              <a:rPr sz="1700" b="1" i="0">
                <a:solidFill>
                  <a:srgbClr val="323232"/>
                </a:solidFill>
              </a:rPr>
              <a:t>October 26, 1912</a:t>
            </a:r>
          </a:p>
        </p:txBody>
      </p:sp>
      <p:sp>
        <p:nvSpPr>
          <p:cNvPr id="17" name="Rounded Rectangle 16"/>
          <p:cNvSpPr/>
          <p:nvPr/>
        </p:nvSpPr>
        <p:spPr>
          <a:xfrm>
            <a:off x="6464808" y="3520440"/>
            <a:ext cx="1188720" cy="365760"/>
          </a:xfrm>
          <a:prstGeom prst="roundRect">
            <a:avLst>
              <a:gd name="adj" fmla="val 30000"/>
            </a:avLst>
          </a:prstGeom>
          <a:solidFill>
            <a:srgbClr val="E86A58"/>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lstStyle/>
          <a:p>
            <a:pPr algn="ctr">
              <a:lnSpc>
                <a:spcPct val="105000"/>
              </a:lnSpc>
              <a:spcAft>
                <a:spcPts val="600"/>
              </a:spcAft>
            </a:pPr>
            <a:r>
              <a:rPr sz="1400" b="1" i="0">
                <a:solidFill>
                  <a:srgbClr val="FFFFFF"/>
                </a:solidFill>
              </a:rPr>
              <a:t>not enough</a:t>
            </a:r>
          </a:p>
        </p:txBody>
      </p:sp>
      <p:sp>
        <p:nvSpPr>
          <p:cNvPr id="18" name="TextBox 17"/>
          <p:cNvSpPr txBox="1"/>
          <p:nvPr/>
        </p:nvSpPr>
        <p:spPr>
          <a:xfrm>
            <a:off x="7790688" y="3493008"/>
            <a:ext cx="3529584" cy="960120"/>
          </a:xfrm>
          <a:prstGeom prst="rect">
            <a:avLst/>
          </a:prstGeom>
          <a:noFill/>
        </p:spPr>
        <p:txBody>
          <a:bodyPr wrap="square" anchor="t" lIns="0" rIns="0" tIns="0" bIns="0">
            <a:spAutoFit/>
          </a:bodyPr>
          <a:lstStyle/>
          <a:p>
            <a:pPr algn="l">
              <a:lnSpc>
                <a:spcPct val="100000"/>
              </a:lnSpc>
              <a:spcAft>
                <a:spcPts val="600"/>
              </a:spcAft>
            </a:pPr>
            <a:r>
              <a:rPr sz="1500" b="1" i="0">
                <a:solidFill>
                  <a:srgbClr val="6298D2"/>
                </a:solidFill>
              </a:rPr>
              <a:t>Naive:  </a:t>
            </a:r>
            <a:r>
              <a:rPr sz="1500" b="0" i="1">
                <a:solidFill>
                  <a:srgbClr val="323232"/>
                </a:solidFill>
              </a:rPr>
              <a:t>“…was directed by Don Siegel. However, the provided documents do not contain information regarding Don Siegel's birth date.”</a:t>
            </a:r>
          </a:p>
        </p:txBody>
      </p:sp>
      <p:sp>
        <p:nvSpPr>
          <p:cNvPr id="19" name="Rounded Rectangle 18"/>
          <p:cNvSpPr/>
          <p:nvPr/>
        </p:nvSpPr>
        <p:spPr>
          <a:xfrm>
            <a:off x="6464808" y="4572000"/>
            <a:ext cx="1188720" cy="365760"/>
          </a:xfrm>
          <a:prstGeom prst="roundRect">
            <a:avLst>
              <a:gd name="adj" fmla="val 30000"/>
            </a:avLst>
          </a:prstGeom>
          <a:solidFill>
            <a:srgbClr val="4DA060"/>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lstStyle/>
          <a:p>
            <a:pPr algn="ctr">
              <a:lnSpc>
                <a:spcPct val="105000"/>
              </a:lnSpc>
              <a:spcAft>
                <a:spcPts val="600"/>
              </a:spcAft>
            </a:pPr>
            <a:r>
              <a:rPr sz="1400" b="1" i="0">
                <a:solidFill>
                  <a:srgbClr val="FFFFFF"/>
                </a:solidFill>
              </a:rPr>
              <a:t>correct</a:t>
            </a:r>
          </a:p>
        </p:txBody>
      </p:sp>
      <p:sp>
        <p:nvSpPr>
          <p:cNvPr id="20" name="TextBox 19"/>
          <p:cNvSpPr txBox="1"/>
          <p:nvPr/>
        </p:nvSpPr>
        <p:spPr>
          <a:xfrm>
            <a:off x="7790688" y="4544568"/>
            <a:ext cx="3529584" cy="960120"/>
          </a:xfrm>
          <a:prstGeom prst="rect">
            <a:avLst/>
          </a:prstGeom>
          <a:noFill/>
        </p:spPr>
        <p:txBody>
          <a:bodyPr wrap="square" anchor="t" lIns="0" rIns="0" tIns="0" bIns="0">
            <a:spAutoFit/>
          </a:bodyPr>
          <a:lstStyle/>
          <a:p>
            <a:pPr algn="l">
              <a:lnSpc>
                <a:spcPct val="100000"/>
              </a:lnSpc>
              <a:spcAft>
                <a:spcPts val="600"/>
              </a:spcAft>
            </a:pPr>
            <a:r>
              <a:rPr sz="1500" b="1" i="0">
                <a:solidFill>
                  <a:srgbClr val="000061"/>
                </a:solidFill>
              </a:rPr>
              <a:t>Mix:  </a:t>
            </a:r>
            <a:r>
              <a:rPr sz="1500" b="0" i="1">
                <a:solidFill>
                  <a:srgbClr val="323232"/>
                </a:solidFill>
              </a:rPr>
              <a:t>“…Donald Siegel was born on October 26, 1912.”</a:t>
            </a:r>
          </a:p>
        </p:txBody>
      </p:sp>
      <p:sp>
        <p:nvSpPr>
          <p:cNvPr id="21" name="Rounded Rectangle 20"/>
          <p:cNvSpPr/>
          <p:nvPr/>
        </p:nvSpPr>
        <p:spPr>
          <a:xfrm>
            <a:off x="6464808" y="5440680"/>
            <a:ext cx="4901184" cy="438912"/>
          </a:xfrm>
          <a:prstGeom prst="roundRect">
            <a:avLst>
              <a:gd name="adj" fmla="val 20000"/>
            </a:avLst>
          </a:prstGeom>
          <a:solidFill>
            <a:srgbClr val="000061"/>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wrap="square"/>
          <a:lstStyle/>
          <a:p>
            <a:pPr algn="l">
              <a:lnSpc>
                <a:spcPct val="105000"/>
              </a:lnSpc>
              <a:spcAft>
                <a:spcPts val="600"/>
              </a:spcAft>
            </a:pPr>
            <a:r>
              <a:rPr sz="1700" b="1" i="0">
                <a:solidFill>
                  <a:srgbClr val="FFFFFF"/>
                </a:solidFill>
              </a:rPr>
              <a:t>Label: mix_required  →  route to Mix</a:t>
            </a:r>
          </a:p>
        </p:txBody>
      </p:sp>
      <p:sp>
        <p:nvSpPr>
          <p:cNvPr id="22" name="TextBox 21"/>
          <p:cNvSpPr txBox="1"/>
          <p:nvPr/>
        </p:nvSpPr>
        <p:spPr>
          <a:xfrm>
            <a:off x="603504" y="6053328"/>
            <a:ext cx="10991088" cy="274320"/>
          </a:xfrm>
          <a:prstGeom prst="rect">
            <a:avLst/>
          </a:prstGeom>
          <a:noFill/>
        </p:spPr>
        <p:txBody>
          <a:bodyPr wrap="square" anchor="t" lIns="0" rIns="0" tIns="0" bIns="0">
            <a:spAutoFit/>
          </a:bodyPr>
          <a:lstStyle/>
          <a:p>
            <a:pPr algn="l">
              <a:lnSpc>
                <a:spcPct val="105000"/>
              </a:lnSpc>
              <a:spcAft>
                <a:spcPts val="600"/>
              </a:spcAft>
            </a:pPr>
            <a:r>
              <a:rPr sz="1300" b="0" i="0">
                <a:solidFill>
                  <a:srgbClr val="595959"/>
                </a:solidFill>
              </a:rPr>
              <a:t>Real questions and answers from the 2WikiMultihopQA runs (abridged). Comparison question left, two-hop compositional question right.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03504" y="868680"/>
            <a:ext cx="10991088" cy="960120"/>
          </a:xfrm>
        </p:spPr>
        <p:txBody>
          <a:bodyPr anchor="t" wrap="square"/>
          <a:lstStyle/>
          <a:p>
            <a:pPr>
              <a:lnSpc>
                <a:spcPct val="95000"/>
              </a:lnSpc>
            </a:pPr>
            <a:r>
              <a:rPr sz="3000"/>
              <a:t>The idea: let a cheap classifier pick the mode from the question, before retrieval runs</a:t>
            </a:r>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t>Adaptive Hybrid RAG  ·  Dante Wesslund  ·  KTH 2026</a:t>
            </a:r>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sp>
        <p:nvSpPr>
          <p:cNvPr id="6" name="Rounded Rectangle 5"/>
          <p:cNvSpPr/>
          <p:nvPr/>
        </p:nvSpPr>
        <p:spPr>
          <a:xfrm>
            <a:off x="603504" y="3246120"/>
            <a:ext cx="1737360" cy="914400"/>
          </a:xfrm>
          <a:prstGeom prst="roundRect">
            <a:avLst>
              <a:gd name="adj" fmla="val 6000"/>
            </a:avLst>
          </a:prstGeom>
          <a:solidFill>
            <a:srgbClr val="DEF0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rIns="164592" tIns="164592" bIns="164592" wrap="square"/>
          <a:lstStyle/>
          <a:p>
            <a:pPr algn="ctr">
              <a:lnSpc>
                <a:spcPct val="105000"/>
              </a:lnSpc>
              <a:spcAft>
                <a:spcPts val="600"/>
              </a:spcAft>
            </a:pPr>
            <a:r>
              <a:rPr sz="2000" b="1" i="0">
                <a:solidFill>
                  <a:srgbClr val="000061"/>
                </a:solidFill>
              </a:rPr>
              <a:t>Question</a:t>
            </a:r>
          </a:p>
        </p:txBody>
      </p:sp>
      <p:sp>
        <p:nvSpPr>
          <p:cNvPr id="7" name="Rounded Rectangle 6"/>
          <p:cNvSpPr/>
          <p:nvPr/>
        </p:nvSpPr>
        <p:spPr>
          <a:xfrm>
            <a:off x="2843784" y="2926079"/>
            <a:ext cx="2011680" cy="1554480"/>
          </a:xfrm>
          <a:prstGeom prst="roundRect">
            <a:avLst>
              <a:gd name="adj" fmla="val 6000"/>
            </a:avLst>
          </a:prstGeom>
          <a:solidFill>
            <a:srgbClr val="004791"/>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rIns="164592" tIns="164592" bIns="164592" wrap="square"/>
          <a:lstStyle/>
          <a:p>
            <a:pPr algn="ctr">
              <a:lnSpc>
                <a:spcPct val="105000"/>
              </a:lnSpc>
              <a:spcAft>
                <a:spcPts val="200"/>
              </a:spcAft>
            </a:pPr>
            <a:r>
              <a:rPr sz="2200" b="1" i="0">
                <a:solidFill>
                  <a:srgbClr val="FFFFFF"/>
                </a:solidFill>
              </a:rPr>
              <a:t>Router</a:t>
            </a:r>
          </a:p>
          <a:p>
            <a:pPr algn="ctr">
              <a:lnSpc>
                <a:spcPct val="105000"/>
              </a:lnSpc>
              <a:spcAft>
                <a:spcPts val="600"/>
              </a:spcAft>
            </a:pPr>
            <a:r>
              <a:rPr sz="1500" b="0" i="0">
                <a:solidFill>
                  <a:srgbClr val="DEF0FF"/>
                </a:solidFill>
              </a:rPr>
              <a:t>small classifier,
no LLM call</a:t>
            </a:r>
          </a:p>
        </p:txBody>
      </p:sp>
      <p:cxnSp>
        <p:nvCxnSpPr>
          <p:cNvPr id="8" name="Connector 7"/>
          <p:cNvCxnSpPr/>
          <p:nvPr/>
        </p:nvCxnSpPr>
        <p:spPr>
          <a:xfrm>
            <a:off x="2340864" y="3703320"/>
            <a:ext cx="502920" cy="0"/>
          </a:xfrm>
          <a:prstGeom prst="line">
            <a:avLst/>
          </a:prstGeom>
          <a:ln w="25400">
            <a:solidFill>
              <a:srgbClr val="A5A5A5"/>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358384" y="2331720"/>
            <a:ext cx="1783080" cy="868680"/>
          </a:xfrm>
          <a:prstGeom prst="roundRect">
            <a:avLst>
              <a:gd name="adj" fmla="val 6000"/>
            </a:avLst>
          </a:prstGeom>
          <a:solidFill>
            <a:srgbClr val="6298D2"/>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rIns="164592" tIns="164592" bIns="164592" wrap="square"/>
          <a:lstStyle/>
          <a:p>
            <a:pPr algn="ctr">
              <a:lnSpc>
                <a:spcPct val="105000"/>
              </a:lnSpc>
              <a:spcAft>
                <a:spcPts val="0"/>
              </a:spcAft>
            </a:pPr>
            <a:r>
              <a:rPr sz="2000" b="1" i="0">
                <a:solidFill>
                  <a:srgbClr val="FFFFFF"/>
                </a:solidFill>
              </a:rPr>
              <a:t>Naive</a:t>
            </a:r>
          </a:p>
          <a:p>
            <a:pPr algn="ctr">
              <a:lnSpc>
                <a:spcPct val="105000"/>
              </a:lnSpc>
              <a:spcAft>
                <a:spcPts val="600"/>
              </a:spcAft>
            </a:pPr>
            <a:r>
              <a:rPr sz="1400" b="0" i="0">
                <a:solidFill>
                  <a:srgbClr val="FFFFFF"/>
                </a:solidFill>
              </a:rPr>
              <a:t>low cost</a:t>
            </a:r>
          </a:p>
        </p:txBody>
      </p:sp>
      <p:sp>
        <p:nvSpPr>
          <p:cNvPr id="10" name="Rounded Rectangle 9"/>
          <p:cNvSpPr/>
          <p:nvPr/>
        </p:nvSpPr>
        <p:spPr>
          <a:xfrm>
            <a:off x="5358384" y="4206240"/>
            <a:ext cx="1783080" cy="868680"/>
          </a:xfrm>
          <a:prstGeom prst="roundRect">
            <a:avLst>
              <a:gd name="adj" fmla="val 6000"/>
            </a:avLst>
          </a:prstGeom>
          <a:solidFill>
            <a:srgbClr val="000061"/>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rIns="164592" tIns="164592" bIns="164592" wrap="square"/>
          <a:lstStyle/>
          <a:p>
            <a:pPr algn="ctr">
              <a:lnSpc>
                <a:spcPct val="105000"/>
              </a:lnSpc>
              <a:spcAft>
                <a:spcPts val="0"/>
              </a:spcAft>
            </a:pPr>
            <a:r>
              <a:rPr sz="2000" b="1" i="0">
                <a:solidFill>
                  <a:srgbClr val="FFFFFF"/>
                </a:solidFill>
              </a:rPr>
              <a:t>Mix</a:t>
            </a:r>
          </a:p>
          <a:p>
            <a:pPr algn="ctr">
              <a:lnSpc>
                <a:spcPct val="105000"/>
              </a:lnSpc>
              <a:spcAft>
                <a:spcPts val="600"/>
              </a:spcAft>
            </a:pPr>
            <a:r>
              <a:rPr sz="1400" b="0" i="0">
                <a:solidFill>
                  <a:srgbClr val="DEF0FF"/>
                </a:solidFill>
              </a:rPr>
              <a:t>high cost</a:t>
            </a:r>
          </a:p>
        </p:txBody>
      </p:sp>
      <p:cxnSp>
        <p:nvCxnSpPr>
          <p:cNvPr id="11" name="Connector 10"/>
          <p:cNvCxnSpPr/>
          <p:nvPr/>
        </p:nvCxnSpPr>
        <p:spPr>
          <a:xfrm flipV="1">
            <a:off x="4855464" y="2761488"/>
            <a:ext cx="502920" cy="713232"/>
          </a:xfrm>
          <a:prstGeom prst="line">
            <a:avLst/>
          </a:prstGeom>
          <a:ln w="25400">
            <a:solidFill>
              <a:srgbClr val="A5A5A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4855464" y="3931920"/>
            <a:ext cx="502920" cy="704088"/>
          </a:xfrm>
          <a:prstGeom prst="line">
            <a:avLst/>
          </a:prstGeom>
          <a:ln w="25400">
            <a:solidFill>
              <a:srgbClr val="A5A5A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03504" y="5440680"/>
            <a:ext cx="6583680" cy="731520"/>
          </a:xfrm>
          <a:prstGeom prst="rect">
            <a:avLst/>
          </a:prstGeom>
          <a:noFill/>
        </p:spPr>
        <p:txBody>
          <a:bodyPr wrap="square" anchor="t" lIns="0" rIns="0" tIns="0" bIns="0">
            <a:spAutoFit/>
          </a:bodyPr>
          <a:lstStyle/>
          <a:p>
            <a:pPr algn="l">
              <a:lnSpc>
                <a:spcPct val="105000"/>
              </a:lnSpc>
              <a:spcAft>
                <a:spcPts val="600"/>
              </a:spcAft>
            </a:pPr>
            <a:r>
              <a:rPr sz="1700" b="0" i="0">
                <a:solidFill>
                  <a:srgbClr val="595959"/>
                </a:solidFill>
              </a:rPr>
              <a:t>Trained on labels that say which mode was enough for each question (next section).</a:t>
            </a:r>
          </a:p>
        </p:txBody>
      </p:sp>
      <p:sp>
        <p:nvSpPr>
          <p:cNvPr id="14" name="Rounded Rectangle 13"/>
          <p:cNvSpPr/>
          <p:nvPr/>
        </p:nvSpPr>
        <p:spPr>
          <a:xfrm>
            <a:off x="7818120" y="2103120"/>
            <a:ext cx="3776472" cy="1143000"/>
          </a:xfrm>
          <a:prstGeom prst="roundRect">
            <a:avLst>
              <a:gd name="adj" fmla="val 6000"/>
            </a:avLst>
          </a:prstGeom>
          <a:solidFill>
            <a:srgbClr val="DEF0FF"/>
          </a:solidFill>
          <a:ln>
            <a:noFill/>
          </a:ln>
          <a:effectLst/>
        </p:spPr>
        <p:style>
          <a:lnRef idx="1">
            <a:schemeClr val="accent1"/>
          </a:lnRef>
          <a:fillRef idx="3">
            <a:schemeClr val="accent1"/>
          </a:fillRef>
          <a:effectRef idx="2">
            <a:schemeClr val="accent1"/>
          </a:effectRef>
          <a:fontRef idx="minor">
            <a:schemeClr val="lt1"/>
          </a:fontRef>
        </p:style>
        <p:txBody>
          <a:bodyPr rtlCol="0" anchor="ctr" lIns="201168" rIns="201168" tIns="201168" bIns="201168" wrap="square"/>
          <a:lstStyle/>
          <a:p>
            <a:pPr algn="l">
              <a:lnSpc>
                <a:spcPct val="105000"/>
              </a:lnSpc>
              <a:spcAft>
                <a:spcPts val="0"/>
              </a:spcAft>
            </a:pPr>
            <a:r>
              <a:rPr sz="3800" b="1" i="0">
                <a:solidFill>
                  <a:srgbClr val="004791"/>
                </a:solidFill>
              </a:rPr>
              <a:t>−42%</a:t>
            </a:r>
          </a:p>
          <a:p>
            <a:pPr algn="l">
              <a:lnSpc>
                <a:spcPct val="100000"/>
              </a:lnSpc>
              <a:spcAft>
                <a:spcPts val="600"/>
              </a:spcAft>
            </a:pPr>
            <a:r>
              <a:rPr sz="1600" b="0" i="0">
                <a:solidFill>
                  <a:srgbClr val="323232"/>
                </a:solidFill>
              </a:rPr>
              <a:t>mean time per query vs. always running Mix</a:t>
            </a:r>
          </a:p>
        </p:txBody>
      </p:sp>
      <p:sp>
        <p:nvSpPr>
          <p:cNvPr id="15" name="Rounded Rectangle 14"/>
          <p:cNvSpPr/>
          <p:nvPr/>
        </p:nvSpPr>
        <p:spPr>
          <a:xfrm>
            <a:off x="7818120" y="3401568"/>
            <a:ext cx="3776472" cy="1143000"/>
          </a:xfrm>
          <a:prstGeom prst="roundRect">
            <a:avLst>
              <a:gd name="adj" fmla="val 6000"/>
            </a:avLst>
          </a:prstGeom>
          <a:solidFill>
            <a:srgbClr val="DEF0FF"/>
          </a:solidFill>
          <a:ln>
            <a:noFill/>
          </a:ln>
          <a:effectLst/>
        </p:spPr>
        <p:style>
          <a:lnRef idx="1">
            <a:schemeClr val="accent1"/>
          </a:lnRef>
          <a:fillRef idx="3">
            <a:schemeClr val="accent1"/>
          </a:fillRef>
          <a:effectRef idx="2">
            <a:schemeClr val="accent1"/>
          </a:effectRef>
          <a:fontRef idx="minor">
            <a:schemeClr val="lt1"/>
          </a:fontRef>
        </p:style>
        <p:txBody>
          <a:bodyPr rtlCol="0" anchor="ctr" lIns="201168" rIns="201168" tIns="201168" bIns="201168" wrap="square"/>
          <a:lstStyle/>
          <a:p>
            <a:pPr algn="l">
              <a:lnSpc>
                <a:spcPct val="105000"/>
              </a:lnSpc>
              <a:spcAft>
                <a:spcPts val="0"/>
              </a:spcAft>
            </a:pPr>
            <a:r>
              <a:rPr sz="3800" b="1" i="0">
                <a:solidFill>
                  <a:srgbClr val="004791"/>
                </a:solidFill>
              </a:rPr>
              <a:t>−63%</a:t>
            </a:r>
          </a:p>
          <a:p>
            <a:pPr algn="l">
              <a:lnSpc>
                <a:spcPct val="100000"/>
              </a:lnSpc>
              <a:spcAft>
                <a:spcPts val="600"/>
              </a:spcAft>
            </a:pPr>
            <a:r>
              <a:rPr sz="1600" b="0" i="0">
                <a:solidFill>
                  <a:srgbClr val="323232"/>
                </a:solidFill>
              </a:rPr>
              <a:t>estimated model tokens per query</a:t>
            </a:r>
          </a:p>
        </p:txBody>
      </p:sp>
      <p:sp>
        <p:nvSpPr>
          <p:cNvPr id="16" name="Rounded Rectangle 15"/>
          <p:cNvSpPr/>
          <p:nvPr/>
        </p:nvSpPr>
        <p:spPr>
          <a:xfrm>
            <a:off x="7818120" y="4700016"/>
            <a:ext cx="3776472" cy="1143000"/>
          </a:xfrm>
          <a:prstGeom prst="roundRect">
            <a:avLst>
              <a:gd name="adj" fmla="val 6000"/>
            </a:avLst>
          </a:prstGeom>
          <a:solidFill>
            <a:srgbClr val="EBE5E0"/>
          </a:solidFill>
          <a:ln>
            <a:noFill/>
          </a:ln>
          <a:effectLst/>
        </p:spPr>
        <p:style>
          <a:lnRef idx="1">
            <a:schemeClr val="accent1"/>
          </a:lnRef>
          <a:fillRef idx="3">
            <a:schemeClr val="accent1"/>
          </a:fillRef>
          <a:effectRef idx="2">
            <a:schemeClr val="accent1"/>
          </a:effectRef>
          <a:fontRef idx="minor">
            <a:schemeClr val="lt1"/>
          </a:fontRef>
        </p:style>
        <p:txBody>
          <a:bodyPr rtlCol="0" anchor="ctr" lIns="201168" rIns="201168" tIns="201168" bIns="201168" wrap="square"/>
          <a:lstStyle/>
          <a:p>
            <a:pPr algn="l">
              <a:lnSpc>
                <a:spcPct val="105000"/>
              </a:lnSpc>
              <a:spcAft>
                <a:spcPts val="0"/>
              </a:spcAft>
            </a:pPr>
            <a:r>
              <a:rPr sz="3800" b="1" i="0">
                <a:solidFill>
                  <a:srgbClr val="004791"/>
                </a:solidFill>
              </a:rPr>
              <a:t>≈92%</a:t>
            </a:r>
          </a:p>
          <a:p>
            <a:pPr algn="l">
              <a:lnSpc>
                <a:spcPct val="100000"/>
              </a:lnSpc>
              <a:spcAft>
                <a:spcPts val="600"/>
              </a:spcAft>
            </a:pPr>
            <a:r>
              <a:rPr sz="1600" b="0" i="0">
                <a:solidFill>
                  <a:srgbClr val="323232"/>
                </a:solidFill>
              </a:rPr>
              <a:t>of always-Mix's judged-correct answers kept*</a:t>
            </a:r>
          </a:p>
        </p:txBody>
      </p:sp>
      <p:sp>
        <p:nvSpPr>
          <p:cNvPr id="17" name="TextBox 16"/>
          <p:cNvSpPr txBox="1"/>
          <p:nvPr/>
        </p:nvSpPr>
        <p:spPr>
          <a:xfrm>
            <a:off x="7818120" y="6016752"/>
            <a:ext cx="3776472" cy="365760"/>
          </a:xfrm>
          <a:prstGeom prst="rect">
            <a:avLst/>
          </a:prstGeom>
          <a:noFill/>
        </p:spPr>
        <p:txBody>
          <a:bodyPr wrap="square" anchor="t" lIns="0" rIns="0" tIns="0" bIns="0">
            <a:spAutoFit/>
          </a:bodyPr>
          <a:lstStyle/>
          <a:p>
            <a:pPr algn="l">
              <a:lnSpc>
                <a:spcPct val="105000"/>
              </a:lnSpc>
              <a:spcAft>
                <a:spcPts val="600"/>
              </a:spcAft>
            </a:pPr>
            <a:r>
              <a:rPr sz="1200" b="0" i="0">
                <a:solidFill>
                  <a:srgbClr val="595959"/>
                </a:solidFill>
              </a:rPr>
              <a:t>ModernBERT router on 193 test questions. *Assumes Mix is correct wherever Naive was.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03504" y="868680"/>
            <a:ext cx="10991088" cy="960120"/>
          </a:xfrm>
        </p:spPr>
        <p:txBody>
          <a:bodyPr anchor="t" wrap="square"/>
          <a:lstStyle/>
          <a:p>
            <a:pPr>
              <a:lnSpc>
                <a:spcPct val="95000"/>
              </a:lnSpc>
            </a:pPr>
            <a:r>
              <a:rPr sz="3000"/>
              <a:t>Can a lightweight classifier pick the cheapest sufficient retrieval mode?</a:t>
            </a:r>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t>Adaptive Hybrid RAG  ·  Dante Wesslund  ·  KTH 2026</a:t>
            </a:r>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sp>
        <p:nvSpPr>
          <p:cNvPr id="6" name="TextBox 5"/>
          <p:cNvSpPr txBox="1"/>
          <p:nvPr/>
        </p:nvSpPr>
        <p:spPr>
          <a:xfrm>
            <a:off x="603504" y="2057400"/>
            <a:ext cx="10991088" cy="914400"/>
          </a:xfrm>
          <a:prstGeom prst="rect">
            <a:avLst/>
          </a:prstGeom>
          <a:noFill/>
        </p:spPr>
        <p:txBody>
          <a:bodyPr wrap="square" anchor="t" lIns="0" rIns="0" tIns="0" bIns="0">
            <a:spAutoFit/>
          </a:bodyPr>
          <a:lstStyle/>
          <a:p>
            <a:pPr algn="l">
              <a:lnSpc>
                <a:spcPct val="105000"/>
              </a:lnSpc>
              <a:spcAft>
                <a:spcPts val="600"/>
              </a:spcAft>
            </a:pPr>
            <a:r>
              <a:rPr sz="2100" b="0" i="0">
                <a:solidFill>
                  <a:srgbClr val="323232"/>
                </a:solidFill>
              </a:rPr>
              <a:t>Within one fixed Hybrid RAG setting (LightRAG, Naive vs. Mix), how well can a query-only classifier predict the minimum sufficient retrieval mode, and what does routing with it save?</a:t>
            </a:r>
          </a:p>
        </p:txBody>
      </p:sp>
      <p:sp>
        <p:nvSpPr>
          <p:cNvPr id="7" name="Rounded Rectangle 6"/>
          <p:cNvSpPr/>
          <p:nvPr/>
        </p:nvSpPr>
        <p:spPr>
          <a:xfrm>
            <a:off x="603504" y="3337560"/>
            <a:ext cx="5358384" cy="2514600"/>
          </a:xfrm>
          <a:prstGeom prst="roundRect">
            <a:avLst>
              <a:gd name="adj" fmla="val 6000"/>
            </a:avLst>
          </a:prstGeom>
          <a:solidFill>
            <a:srgbClr val="DEF0FF"/>
          </a:solidFill>
          <a:ln>
            <a:noFill/>
          </a:ln>
          <a:effectLst/>
        </p:spPr>
        <p:style>
          <a:lnRef idx="1">
            <a:schemeClr val="accent1"/>
          </a:lnRef>
          <a:fillRef idx="3">
            <a:schemeClr val="accent1"/>
          </a:fillRef>
          <a:effectRef idx="2">
            <a:schemeClr val="accent1"/>
          </a:effectRef>
          <a:fontRef idx="minor">
            <a:schemeClr val="lt1"/>
          </a:fontRef>
        </p:style>
        <p:txBody>
          <a:bodyPr rtlCol="0" anchor="t" lIns="274320" rIns="274320" tIns="274320" bIns="274320" wrap="square"/>
          <a:lstStyle/>
          <a:p>
            <a:pPr algn="l">
              <a:lnSpc>
                <a:spcPct val="105000"/>
              </a:lnSpc>
              <a:spcAft>
                <a:spcPts val="400"/>
              </a:spcAft>
            </a:pPr>
            <a:r>
              <a:rPr sz="1800" b="1" i="0">
                <a:solidFill>
                  <a:srgbClr val="004791"/>
                </a:solidFill>
              </a:rPr>
              <a:t>Sub-question 1  </a:t>
            </a:r>
          </a:p>
          <a:p>
            <a:pPr algn="l">
              <a:lnSpc>
                <a:spcPct val="105000"/>
              </a:lnSpc>
              <a:spcAft>
                <a:spcPts val="1000"/>
              </a:spcAft>
            </a:pPr>
            <a:r>
              <a:rPr sz="2600" b="1" i="0">
                <a:solidFill>
                  <a:srgbClr val="000061"/>
                </a:solidFill>
              </a:rPr>
              <a:t>Prediction</a:t>
            </a:r>
          </a:p>
          <a:p>
            <a:pPr algn="l">
              <a:lnSpc>
                <a:spcPct val="105000"/>
              </a:lnSpc>
              <a:spcAft>
                <a:spcPts val="600"/>
              </a:spcAft>
            </a:pPr>
            <a:r>
              <a:rPr sz="2000" b="0" i="0">
                <a:solidFill>
                  <a:srgbClr val="323232"/>
                </a:solidFill>
              </a:rPr>
              <a:t>How does a fine-tuned ModernBERT classifier compare to a TF-IDF baseline and a question-type heuristic in predicting the label?</a:t>
            </a:r>
          </a:p>
        </p:txBody>
      </p:sp>
      <p:sp>
        <p:nvSpPr>
          <p:cNvPr id="8" name="Rounded Rectangle 7"/>
          <p:cNvSpPr/>
          <p:nvPr/>
        </p:nvSpPr>
        <p:spPr>
          <a:xfrm>
            <a:off x="6236208" y="3337560"/>
            <a:ext cx="5358384" cy="2514600"/>
          </a:xfrm>
          <a:prstGeom prst="roundRect">
            <a:avLst>
              <a:gd name="adj" fmla="val 6000"/>
            </a:avLst>
          </a:prstGeom>
          <a:solidFill>
            <a:srgbClr val="EBE5E0"/>
          </a:solidFill>
          <a:ln>
            <a:noFill/>
          </a:ln>
          <a:effectLst/>
        </p:spPr>
        <p:style>
          <a:lnRef idx="1">
            <a:schemeClr val="accent1"/>
          </a:lnRef>
          <a:fillRef idx="3">
            <a:schemeClr val="accent1"/>
          </a:fillRef>
          <a:effectRef idx="2">
            <a:schemeClr val="accent1"/>
          </a:effectRef>
          <a:fontRef idx="minor">
            <a:schemeClr val="lt1"/>
          </a:fontRef>
        </p:style>
        <p:txBody>
          <a:bodyPr rtlCol="0" anchor="t" lIns="274320" rIns="274320" tIns="274320" bIns="274320" wrap="square"/>
          <a:lstStyle/>
          <a:p>
            <a:pPr algn="l">
              <a:lnSpc>
                <a:spcPct val="105000"/>
              </a:lnSpc>
              <a:spcAft>
                <a:spcPts val="400"/>
              </a:spcAft>
            </a:pPr>
            <a:r>
              <a:rPr sz="1800" b="1" i="0">
                <a:solidFill>
                  <a:srgbClr val="004791"/>
                </a:solidFill>
              </a:rPr>
              <a:t>Sub-question 2  </a:t>
            </a:r>
          </a:p>
          <a:p>
            <a:pPr algn="l">
              <a:lnSpc>
                <a:spcPct val="105000"/>
              </a:lnSpc>
              <a:spcAft>
                <a:spcPts val="1000"/>
              </a:spcAft>
            </a:pPr>
            <a:r>
              <a:rPr sz="2600" b="1" i="0">
                <a:solidFill>
                  <a:srgbClr val="000061"/>
                </a:solidFill>
              </a:rPr>
              <a:t>Cost</a:t>
            </a:r>
          </a:p>
          <a:p>
            <a:pPr algn="l">
              <a:lnSpc>
                <a:spcPct val="105000"/>
              </a:lnSpc>
              <a:spcAft>
                <a:spcPts val="600"/>
              </a:spcAft>
            </a:pPr>
            <a:r>
              <a:rPr sz="2000" b="0" i="0">
                <a:solidFill>
                  <a:srgbClr val="323232"/>
                </a:solidFill>
              </a:rPr>
              <a:t>How much mean time and model-token cost does routing save compared with always-Mix, and what does it risk in answer quality?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03504" y="868680"/>
            <a:ext cx="10991088" cy="960120"/>
          </a:xfrm>
        </p:spPr>
        <p:txBody>
          <a:bodyPr anchor="t" wrap="square"/>
          <a:lstStyle/>
          <a:p>
            <a:pPr>
              <a:lnSpc>
                <a:spcPct val="95000"/>
              </a:lnSpc>
            </a:pPr>
            <a:r>
              <a:rPr sz="3000"/>
              <a:t>Prior work routes between models or retrieval depth; this thesis routes between vector and graph retrieval</a:t>
            </a:r>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t>Adaptive Hybrid RAG  ·  Dante Wesslund  ·  KTH 2026</a:t>
            </a:r>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sp>
        <p:nvSpPr>
          <p:cNvPr id="6" name="TextBox 5"/>
          <p:cNvSpPr txBox="1"/>
          <p:nvPr/>
        </p:nvSpPr>
        <p:spPr>
          <a:xfrm>
            <a:off x="603504" y="2103120"/>
            <a:ext cx="3017520" cy="731520"/>
          </a:xfrm>
          <a:prstGeom prst="rect">
            <a:avLst/>
          </a:prstGeom>
          <a:noFill/>
        </p:spPr>
        <p:txBody>
          <a:bodyPr wrap="square" anchor="t" lIns="0" rIns="0" tIns="0" bIns="0">
            <a:spAutoFit/>
          </a:bodyPr>
          <a:lstStyle/>
          <a:p>
            <a:pPr algn="l">
              <a:lnSpc>
                <a:spcPct val="105000"/>
              </a:lnSpc>
              <a:spcAft>
                <a:spcPts val="0"/>
              </a:spcAft>
            </a:pPr>
            <a:r>
              <a:rPr sz="2000" b="1" i="0">
                <a:solidFill>
                  <a:srgbClr val="000061"/>
                </a:solidFill>
              </a:rPr>
              <a:t>Adaptive-RAG</a:t>
            </a:r>
          </a:p>
          <a:p>
            <a:pPr algn="l">
              <a:lnSpc>
                <a:spcPct val="105000"/>
              </a:lnSpc>
              <a:spcAft>
                <a:spcPts val="600"/>
              </a:spcAft>
            </a:pPr>
            <a:r>
              <a:rPr sz="1400" b="0" i="0">
                <a:solidFill>
                  <a:srgbClr val="595959"/>
                </a:solidFill>
              </a:rPr>
              <a:t>Jeong et al., 2024</a:t>
            </a:r>
          </a:p>
        </p:txBody>
      </p:sp>
      <p:sp>
        <p:nvSpPr>
          <p:cNvPr id="7" name="TextBox 6"/>
          <p:cNvSpPr txBox="1"/>
          <p:nvPr/>
        </p:nvSpPr>
        <p:spPr>
          <a:xfrm>
            <a:off x="3803904" y="2148839"/>
            <a:ext cx="7790688" cy="731520"/>
          </a:xfrm>
          <a:prstGeom prst="rect">
            <a:avLst/>
          </a:prstGeom>
          <a:noFill/>
        </p:spPr>
        <p:txBody>
          <a:bodyPr wrap="square" anchor="t" lIns="0" rIns="0" tIns="0" bIns="0">
            <a:spAutoFit/>
          </a:bodyPr>
          <a:lstStyle/>
          <a:p>
            <a:pPr algn="l">
              <a:lnSpc>
                <a:spcPct val="105000"/>
              </a:lnSpc>
              <a:spcAft>
                <a:spcPts val="600"/>
              </a:spcAft>
            </a:pPr>
            <a:r>
              <a:rPr sz="2000" b="0" i="0">
                <a:solidFill>
                  <a:srgbClr val="323232"/>
                </a:solidFill>
              </a:rPr>
              <a:t>A question-complexity classifier picks no, single-step or multi-step retrieval.</a:t>
            </a:r>
          </a:p>
        </p:txBody>
      </p:sp>
      <p:cxnSp>
        <p:nvCxnSpPr>
          <p:cNvPr id="8" name="Connector 7"/>
          <p:cNvCxnSpPr/>
          <p:nvPr/>
        </p:nvCxnSpPr>
        <p:spPr>
          <a:xfrm>
            <a:off x="603504" y="2971800"/>
            <a:ext cx="10991088" cy="0"/>
          </a:xfrm>
          <a:prstGeom prst="line">
            <a:avLst/>
          </a:prstGeom>
          <a:ln w="12700">
            <a:solidFill>
              <a:srgbClr val="E6E6E6"/>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03504" y="3090672"/>
            <a:ext cx="3017520" cy="731520"/>
          </a:xfrm>
          <a:prstGeom prst="rect">
            <a:avLst/>
          </a:prstGeom>
          <a:noFill/>
        </p:spPr>
        <p:txBody>
          <a:bodyPr wrap="square" anchor="t" lIns="0" rIns="0" tIns="0" bIns="0">
            <a:spAutoFit/>
          </a:bodyPr>
          <a:lstStyle/>
          <a:p>
            <a:pPr algn="l">
              <a:lnSpc>
                <a:spcPct val="105000"/>
              </a:lnSpc>
              <a:spcAft>
                <a:spcPts val="0"/>
              </a:spcAft>
            </a:pPr>
            <a:r>
              <a:rPr sz="2000" b="1" i="0">
                <a:solidFill>
                  <a:srgbClr val="000061"/>
                </a:solidFill>
              </a:rPr>
              <a:t>RouterBench</a:t>
            </a:r>
          </a:p>
          <a:p>
            <a:pPr algn="l">
              <a:lnSpc>
                <a:spcPct val="105000"/>
              </a:lnSpc>
              <a:spcAft>
                <a:spcPts val="600"/>
              </a:spcAft>
            </a:pPr>
            <a:r>
              <a:rPr sz="1400" b="0" i="0">
                <a:solidFill>
                  <a:srgbClr val="595959"/>
                </a:solidFill>
              </a:rPr>
              <a:t>Hu et al., 2024</a:t>
            </a:r>
          </a:p>
        </p:txBody>
      </p:sp>
      <p:sp>
        <p:nvSpPr>
          <p:cNvPr id="10" name="TextBox 9"/>
          <p:cNvSpPr txBox="1"/>
          <p:nvPr/>
        </p:nvSpPr>
        <p:spPr>
          <a:xfrm>
            <a:off x="3803904" y="3136391"/>
            <a:ext cx="7790688" cy="731520"/>
          </a:xfrm>
          <a:prstGeom prst="rect">
            <a:avLst/>
          </a:prstGeom>
          <a:noFill/>
        </p:spPr>
        <p:txBody>
          <a:bodyPr wrap="square" anchor="t" lIns="0" rIns="0" tIns="0" bIns="0">
            <a:spAutoFit/>
          </a:bodyPr>
          <a:lstStyle/>
          <a:p>
            <a:pPr algn="l">
              <a:lnSpc>
                <a:spcPct val="105000"/>
              </a:lnSpc>
              <a:spcAft>
                <a:spcPts val="600"/>
              </a:spcAft>
            </a:pPr>
            <a:r>
              <a:rPr sz="2000" b="0" i="0">
                <a:solidFill>
                  <a:srgbClr val="323232"/>
                </a:solidFill>
              </a:rPr>
              <a:t>Routes each query between language models on cost vs. quality.</a:t>
            </a:r>
          </a:p>
        </p:txBody>
      </p:sp>
      <p:cxnSp>
        <p:nvCxnSpPr>
          <p:cNvPr id="11" name="Connector 10"/>
          <p:cNvCxnSpPr/>
          <p:nvPr/>
        </p:nvCxnSpPr>
        <p:spPr>
          <a:xfrm>
            <a:off x="603504" y="3959352"/>
            <a:ext cx="10991088" cy="0"/>
          </a:xfrm>
          <a:prstGeom prst="line">
            <a:avLst/>
          </a:prstGeom>
          <a:ln w="12700">
            <a:solidFill>
              <a:srgbClr val="E6E6E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03504" y="4078224"/>
            <a:ext cx="3017520" cy="731520"/>
          </a:xfrm>
          <a:prstGeom prst="rect">
            <a:avLst/>
          </a:prstGeom>
          <a:noFill/>
        </p:spPr>
        <p:txBody>
          <a:bodyPr wrap="square" anchor="t" lIns="0" rIns="0" tIns="0" bIns="0">
            <a:spAutoFit/>
          </a:bodyPr>
          <a:lstStyle/>
          <a:p>
            <a:pPr algn="l">
              <a:lnSpc>
                <a:spcPct val="105000"/>
              </a:lnSpc>
              <a:spcAft>
                <a:spcPts val="0"/>
              </a:spcAft>
            </a:pPr>
            <a:r>
              <a:rPr sz="2000" b="1" i="0">
                <a:solidFill>
                  <a:srgbClr val="000061"/>
                </a:solidFill>
              </a:rPr>
              <a:t>GraphRAG, LightRAG</a:t>
            </a:r>
          </a:p>
          <a:p>
            <a:pPr algn="l">
              <a:lnSpc>
                <a:spcPct val="105000"/>
              </a:lnSpc>
              <a:spcAft>
                <a:spcPts val="600"/>
              </a:spcAft>
            </a:pPr>
            <a:r>
              <a:rPr sz="1400" b="0" i="0">
                <a:solidFill>
                  <a:srgbClr val="595959"/>
                </a:solidFill>
              </a:rPr>
              <a:t>Edge et al., 2025; Guo et al., 2025</a:t>
            </a:r>
          </a:p>
        </p:txBody>
      </p:sp>
      <p:sp>
        <p:nvSpPr>
          <p:cNvPr id="13" name="TextBox 12"/>
          <p:cNvSpPr txBox="1"/>
          <p:nvPr/>
        </p:nvSpPr>
        <p:spPr>
          <a:xfrm>
            <a:off x="3803904" y="4123944"/>
            <a:ext cx="7790688" cy="731520"/>
          </a:xfrm>
          <a:prstGeom prst="rect">
            <a:avLst/>
          </a:prstGeom>
          <a:noFill/>
        </p:spPr>
        <p:txBody>
          <a:bodyPr wrap="square" anchor="t" lIns="0" rIns="0" tIns="0" bIns="0">
            <a:spAutoFit/>
          </a:bodyPr>
          <a:lstStyle/>
          <a:p>
            <a:pPr algn="l">
              <a:lnSpc>
                <a:spcPct val="105000"/>
              </a:lnSpc>
              <a:spcAft>
                <a:spcPts val="600"/>
              </a:spcAft>
            </a:pPr>
            <a:r>
              <a:rPr sz="2000" b="0" i="0">
                <a:solidFill>
                  <a:srgbClr val="323232"/>
                </a:solidFill>
              </a:rPr>
              <a:t>Graph-enhanced retrieval improves multi-hop answers at higher cost.</a:t>
            </a:r>
          </a:p>
        </p:txBody>
      </p:sp>
      <p:cxnSp>
        <p:nvCxnSpPr>
          <p:cNvPr id="14" name="Connector 13"/>
          <p:cNvCxnSpPr/>
          <p:nvPr/>
        </p:nvCxnSpPr>
        <p:spPr>
          <a:xfrm>
            <a:off x="603504" y="4946904"/>
            <a:ext cx="10991088" cy="0"/>
          </a:xfrm>
          <a:prstGeom prst="line">
            <a:avLst/>
          </a:prstGeom>
          <a:ln w="12700">
            <a:solidFill>
              <a:srgbClr val="E6E6E6"/>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03504" y="5157216"/>
            <a:ext cx="10991088" cy="1051560"/>
          </a:xfrm>
          <a:prstGeom prst="roundRect">
            <a:avLst>
              <a:gd name="adj" fmla="val 6000"/>
            </a:avLst>
          </a:prstGeom>
          <a:solidFill>
            <a:srgbClr val="004791"/>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rIns="274320" tIns="274320" bIns="274320" wrap="square"/>
          <a:lstStyle/>
          <a:p>
            <a:pPr algn="l">
              <a:lnSpc>
                <a:spcPct val="105000"/>
              </a:lnSpc>
              <a:spcAft>
                <a:spcPts val="600"/>
              </a:spcAft>
            </a:pPr>
            <a:r>
              <a:rPr sz="2000" b="1" i="0">
                <a:solidFill>
                  <a:srgbClr val="FFFFFF"/>
                </a:solidFill>
              </a:rPr>
              <a:t>This thesis  </a:t>
            </a:r>
            <a:r>
              <a:rPr sz="2000" b="0" i="0">
                <a:solidFill>
                  <a:srgbClr val="FFFFFF"/>
                </a:solidFill>
              </a:rPr>
              <a:t>A query-only router choosing between two retrieval modes inside one LightRAG index, trained on judge-derived labels and evaluated with paired statistical tests.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Method</a:t>
            </a:r>
          </a:p>
        </p:txBody>
      </p:sp>
      <p:sp>
        <p:nvSpPr>
          <p:cNvPr id="3" name="Text Placeholder 2"/>
          <p:cNvSpPr>
            <a:spLocks noGrp="1"/>
          </p:cNvSpPr>
          <p:nvPr>
            <p:ph type="body" idx="1"/>
          </p:nvPr>
        </p:nvSpPr>
        <p:spPr/>
        <p:txBody>
          <a:bodyPr/>
          <a:lstStyle/>
          <a:p>
            <a:r>
              <a:t>From benchmark questions to labels and routers</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03504" y="868680"/>
            <a:ext cx="10991088" cy="960120"/>
          </a:xfrm>
        </p:spPr>
        <p:txBody>
          <a:bodyPr anchor="t" wrap="square"/>
          <a:lstStyle/>
          <a:p>
            <a:pPr>
              <a:lnSpc>
                <a:spcPct val="95000"/>
              </a:lnSpc>
            </a:pPr>
            <a:r>
              <a:rPr sz="3000"/>
              <a:t>Both modes run on every question, and an LLM judge records which one was enough</a:t>
            </a:r>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t>Adaptive Hybrid RAG  ·  Dante Wesslund  ·  KTH 2026</a:t>
            </a:r>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sp>
        <p:nvSpPr>
          <p:cNvPr id="6" name="TextBox 5"/>
          <p:cNvSpPr txBox="1"/>
          <p:nvPr/>
        </p:nvSpPr>
        <p:spPr>
          <a:xfrm>
            <a:off x="603504" y="2011680"/>
            <a:ext cx="5486400" cy="320040"/>
          </a:xfrm>
          <a:prstGeom prst="rect">
            <a:avLst/>
          </a:prstGeom>
          <a:noFill/>
        </p:spPr>
        <p:txBody>
          <a:bodyPr wrap="square" anchor="t" lIns="0" rIns="0" tIns="0" bIns="0">
            <a:spAutoFit/>
          </a:bodyPr>
          <a:lstStyle/>
          <a:p>
            <a:pPr algn="l">
              <a:lnSpc>
                <a:spcPct val="105000"/>
              </a:lnSpc>
              <a:spcAft>
                <a:spcPts val="600"/>
              </a:spcAft>
            </a:pPr>
            <a:r>
              <a:rPr sz="1400" b="1" i="0">
                <a:solidFill>
                  <a:srgbClr val="004791"/>
                </a:solidFill>
              </a:rPr>
              <a:t>LABELLING  (offline, once)</a:t>
            </a:r>
          </a:p>
        </p:txBody>
      </p:sp>
      <p:sp>
        <p:nvSpPr>
          <p:cNvPr id="7" name="Rounded Rectangle 6"/>
          <p:cNvSpPr/>
          <p:nvPr/>
        </p:nvSpPr>
        <p:spPr>
          <a:xfrm>
            <a:off x="603504" y="2377440"/>
            <a:ext cx="2395728" cy="1325880"/>
          </a:xfrm>
          <a:prstGeom prst="roundRect">
            <a:avLst>
              <a:gd name="adj" fmla="val 6000"/>
            </a:avLst>
          </a:prstGeom>
          <a:solidFill>
            <a:srgbClr val="DEF0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rIns="164592" tIns="164592" bIns="164592" wrap="square"/>
          <a:lstStyle/>
          <a:p>
            <a:pPr algn="l">
              <a:lnSpc>
                <a:spcPct val="105000"/>
              </a:lnSpc>
              <a:spcAft>
                <a:spcPts val="400"/>
              </a:spcAft>
            </a:pPr>
            <a:r>
              <a:rPr sz="2000" b="1" i="0">
                <a:solidFill>
                  <a:srgbClr val="000061"/>
                </a:solidFill>
              </a:rPr>
              <a:t>2,000 questions</a:t>
            </a:r>
          </a:p>
          <a:p>
            <a:pPr algn="l">
              <a:lnSpc>
                <a:spcPct val="100000"/>
              </a:lnSpc>
              <a:spcAft>
                <a:spcPts val="600"/>
              </a:spcAft>
            </a:pPr>
            <a:r>
              <a:rPr sz="1500" b="0" i="0">
                <a:solidFill>
                  <a:srgbClr val="323232"/>
                </a:solidFill>
              </a:rPr>
              <a:t>2WikiMultihopQA, multi-hop by design</a:t>
            </a:r>
          </a:p>
        </p:txBody>
      </p:sp>
      <p:cxnSp>
        <p:nvCxnSpPr>
          <p:cNvPr id="8" name="Connector 7"/>
          <p:cNvCxnSpPr/>
          <p:nvPr/>
        </p:nvCxnSpPr>
        <p:spPr>
          <a:xfrm>
            <a:off x="3044952" y="3040380"/>
            <a:ext cx="377952" cy="0"/>
          </a:xfrm>
          <a:prstGeom prst="line">
            <a:avLst/>
          </a:prstGeom>
          <a:ln w="25400">
            <a:solidFill>
              <a:srgbClr val="A5A5A5"/>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468624" y="2377440"/>
            <a:ext cx="2395728" cy="1325880"/>
          </a:xfrm>
          <a:prstGeom prst="roundRect">
            <a:avLst>
              <a:gd name="adj" fmla="val 6000"/>
            </a:avLst>
          </a:prstGeom>
          <a:solidFill>
            <a:srgbClr val="DEF0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rIns="164592" tIns="164592" bIns="164592" wrap="square"/>
          <a:lstStyle/>
          <a:p>
            <a:pPr algn="l">
              <a:lnSpc>
                <a:spcPct val="105000"/>
              </a:lnSpc>
              <a:spcAft>
                <a:spcPts val="400"/>
              </a:spcAft>
            </a:pPr>
            <a:r>
              <a:rPr sz="2000" b="1" i="0">
                <a:solidFill>
                  <a:srgbClr val="000061"/>
                </a:solidFill>
              </a:rPr>
              <a:t>LightRAG index</a:t>
            </a:r>
          </a:p>
          <a:p>
            <a:pPr algn="l">
              <a:lnSpc>
                <a:spcPct val="100000"/>
              </a:lnSpc>
              <a:spcAft>
                <a:spcPts val="600"/>
              </a:spcAft>
            </a:pPr>
            <a:r>
              <a:rPr sz="1500" b="0" i="0">
                <a:solidFill>
                  <a:srgbClr val="323232"/>
                </a:solidFill>
              </a:rPr>
              <a:t>shared corpus: vector chunks + entity-relation graph</a:t>
            </a:r>
          </a:p>
        </p:txBody>
      </p:sp>
      <p:cxnSp>
        <p:nvCxnSpPr>
          <p:cNvPr id="10" name="Connector 9"/>
          <p:cNvCxnSpPr/>
          <p:nvPr/>
        </p:nvCxnSpPr>
        <p:spPr>
          <a:xfrm>
            <a:off x="5910072" y="3040380"/>
            <a:ext cx="377952" cy="0"/>
          </a:xfrm>
          <a:prstGeom prst="line">
            <a:avLst/>
          </a:prstGeom>
          <a:ln w="25400">
            <a:solidFill>
              <a:srgbClr val="A5A5A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6333744" y="2377440"/>
            <a:ext cx="2395728" cy="1325880"/>
          </a:xfrm>
          <a:prstGeom prst="roundRect">
            <a:avLst>
              <a:gd name="adj" fmla="val 6000"/>
            </a:avLst>
          </a:prstGeom>
          <a:solidFill>
            <a:srgbClr val="DEF0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rIns="164592" tIns="164592" bIns="164592" wrap="square"/>
          <a:lstStyle/>
          <a:p>
            <a:pPr algn="l">
              <a:lnSpc>
                <a:spcPct val="105000"/>
              </a:lnSpc>
              <a:spcAft>
                <a:spcPts val="400"/>
              </a:spcAft>
            </a:pPr>
            <a:r>
              <a:rPr sz="2000" b="1" i="0">
                <a:solidFill>
                  <a:srgbClr val="000061"/>
                </a:solidFill>
              </a:rPr>
              <a:t>Run both modes</a:t>
            </a:r>
          </a:p>
          <a:p>
            <a:pPr algn="l">
              <a:lnSpc>
                <a:spcPct val="100000"/>
              </a:lnSpc>
              <a:spcAft>
                <a:spcPts val="600"/>
              </a:spcAft>
            </a:pPr>
            <a:r>
              <a:rPr sz="1500" b="0" i="0">
                <a:solidFill>
                  <a:srgbClr val="323232"/>
                </a:solidFill>
              </a:rPr>
              <a:t>Naive and Mix answers, time per query</a:t>
            </a:r>
          </a:p>
        </p:txBody>
      </p:sp>
      <p:cxnSp>
        <p:nvCxnSpPr>
          <p:cNvPr id="12" name="Connector 11"/>
          <p:cNvCxnSpPr/>
          <p:nvPr/>
        </p:nvCxnSpPr>
        <p:spPr>
          <a:xfrm>
            <a:off x="8775192" y="3040380"/>
            <a:ext cx="377952" cy="0"/>
          </a:xfrm>
          <a:prstGeom prst="line">
            <a:avLst/>
          </a:prstGeom>
          <a:ln w="25400">
            <a:solidFill>
              <a:srgbClr val="A5A5A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198864" y="2377440"/>
            <a:ext cx="2395728" cy="1325880"/>
          </a:xfrm>
          <a:prstGeom prst="roundRect">
            <a:avLst>
              <a:gd name="adj" fmla="val 6000"/>
            </a:avLst>
          </a:prstGeom>
          <a:solidFill>
            <a:srgbClr val="004791"/>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rIns="164592" tIns="164592" bIns="164592" wrap="square"/>
          <a:lstStyle/>
          <a:p>
            <a:pPr algn="l">
              <a:lnSpc>
                <a:spcPct val="105000"/>
              </a:lnSpc>
              <a:spcAft>
                <a:spcPts val="400"/>
              </a:spcAft>
            </a:pPr>
            <a:r>
              <a:rPr sz="2000" b="1" i="0">
                <a:solidFill>
                  <a:srgbClr val="FFFFFF"/>
                </a:solidFill>
              </a:rPr>
              <a:t>LLM-as-a-Judge</a:t>
            </a:r>
          </a:p>
          <a:p>
            <a:pPr algn="l">
              <a:lnSpc>
                <a:spcPct val="100000"/>
              </a:lnSpc>
              <a:spcAft>
                <a:spcPts val="600"/>
              </a:spcAft>
            </a:pPr>
            <a:r>
              <a:rPr sz="1500" b="0" i="0">
                <a:solidFill>
                  <a:srgbClr val="FFFFFF"/>
                </a:solidFill>
              </a:rPr>
              <a:t>compares both answers with the gold answer</a:t>
            </a:r>
          </a:p>
        </p:txBody>
      </p:sp>
      <p:sp>
        <p:nvSpPr>
          <p:cNvPr id="14" name="TextBox 13"/>
          <p:cNvSpPr txBox="1"/>
          <p:nvPr/>
        </p:nvSpPr>
        <p:spPr>
          <a:xfrm>
            <a:off x="603504" y="3977639"/>
            <a:ext cx="5486400" cy="320040"/>
          </a:xfrm>
          <a:prstGeom prst="rect">
            <a:avLst/>
          </a:prstGeom>
          <a:noFill/>
        </p:spPr>
        <p:txBody>
          <a:bodyPr wrap="square" anchor="t" lIns="0" rIns="0" tIns="0" bIns="0">
            <a:spAutoFit/>
          </a:bodyPr>
          <a:lstStyle/>
          <a:p>
            <a:pPr algn="l">
              <a:lnSpc>
                <a:spcPct val="105000"/>
              </a:lnSpc>
              <a:spcAft>
                <a:spcPts val="600"/>
              </a:spcAft>
            </a:pPr>
            <a:r>
              <a:rPr sz="1400" b="1" i="0">
                <a:solidFill>
                  <a:srgbClr val="004791"/>
                </a:solidFill>
              </a:rPr>
              <a:t>LEARNING AND EVALUATION</a:t>
            </a:r>
          </a:p>
        </p:txBody>
      </p:sp>
      <p:sp>
        <p:nvSpPr>
          <p:cNvPr id="15" name="Rounded Rectangle 14"/>
          <p:cNvSpPr/>
          <p:nvPr/>
        </p:nvSpPr>
        <p:spPr>
          <a:xfrm>
            <a:off x="603504" y="4343400"/>
            <a:ext cx="3350768" cy="1188720"/>
          </a:xfrm>
          <a:prstGeom prst="roundRect">
            <a:avLst>
              <a:gd name="adj" fmla="val 6000"/>
            </a:avLst>
          </a:prstGeom>
          <a:solidFill>
            <a:srgbClr val="EBE5E0"/>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rIns="164592" tIns="164592" bIns="164592" wrap="square"/>
          <a:lstStyle/>
          <a:p>
            <a:pPr algn="l">
              <a:lnSpc>
                <a:spcPct val="105000"/>
              </a:lnSpc>
              <a:spcAft>
                <a:spcPts val="400"/>
              </a:spcAft>
            </a:pPr>
            <a:r>
              <a:rPr sz="2000" b="1" i="0">
                <a:solidFill>
                  <a:srgbClr val="000061"/>
                </a:solidFill>
              </a:rPr>
              <a:t>Binary dataset</a:t>
            </a:r>
          </a:p>
          <a:p>
            <a:pPr algn="l">
              <a:lnSpc>
                <a:spcPct val="100000"/>
              </a:lnSpc>
              <a:spcAft>
                <a:spcPts val="600"/>
              </a:spcAft>
            </a:pPr>
            <a:r>
              <a:rPr sz="1500" b="0" i="0">
                <a:solidFill>
                  <a:srgbClr val="323232"/>
                </a:solidFill>
              </a:rPr>
              <a:t>1,286 questions: 900 train / 193 val / 193 test</a:t>
            </a:r>
          </a:p>
        </p:txBody>
      </p:sp>
      <p:cxnSp>
        <p:nvCxnSpPr>
          <p:cNvPr id="16" name="Connector 15"/>
          <p:cNvCxnSpPr/>
          <p:nvPr/>
        </p:nvCxnSpPr>
        <p:spPr>
          <a:xfrm>
            <a:off x="3999992" y="4937760"/>
            <a:ext cx="377952" cy="0"/>
          </a:xfrm>
          <a:prstGeom prst="line">
            <a:avLst/>
          </a:prstGeom>
          <a:ln w="25400">
            <a:solidFill>
              <a:srgbClr val="A5A5A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4423664" y="4343400"/>
            <a:ext cx="3350768" cy="1188720"/>
          </a:xfrm>
          <a:prstGeom prst="roundRect">
            <a:avLst>
              <a:gd name="adj" fmla="val 6000"/>
            </a:avLst>
          </a:prstGeom>
          <a:solidFill>
            <a:srgbClr val="EBE5E0"/>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rIns="164592" tIns="164592" bIns="164592" wrap="square"/>
          <a:lstStyle/>
          <a:p>
            <a:pPr algn="l">
              <a:lnSpc>
                <a:spcPct val="105000"/>
              </a:lnSpc>
              <a:spcAft>
                <a:spcPts val="400"/>
              </a:spcAft>
            </a:pPr>
            <a:r>
              <a:rPr sz="2000" b="1" i="0">
                <a:solidFill>
                  <a:srgbClr val="000061"/>
                </a:solidFill>
              </a:rPr>
              <a:t>Train routers</a:t>
            </a:r>
          </a:p>
          <a:p>
            <a:pPr algn="l">
              <a:lnSpc>
                <a:spcPct val="100000"/>
              </a:lnSpc>
              <a:spcAft>
                <a:spcPts val="600"/>
              </a:spcAft>
            </a:pPr>
            <a:r>
              <a:rPr sz="1500" b="0" i="0">
                <a:solidFill>
                  <a:srgbClr val="323232"/>
                </a:solidFill>
              </a:rPr>
              <a:t>TF-IDF + logistic regression; ModernBERT (fine-tuned)</a:t>
            </a:r>
          </a:p>
        </p:txBody>
      </p:sp>
      <p:cxnSp>
        <p:nvCxnSpPr>
          <p:cNvPr id="18" name="Connector 17"/>
          <p:cNvCxnSpPr/>
          <p:nvPr/>
        </p:nvCxnSpPr>
        <p:spPr>
          <a:xfrm>
            <a:off x="7820152" y="4937760"/>
            <a:ext cx="377952" cy="0"/>
          </a:xfrm>
          <a:prstGeom prst="line">
            <a:avLst/>
          </a:prstGeom>
          <a:ln w="25400">
            <a:solidFill>
              <a:srgbClr val="A5A5A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8243824" y="4343400"/>
            <a:ext cx="3350768" cy="1188720"/>
          </a:xfrm>
          <a:prstGeom prst="roundRect">
            <a:avLst>
              <a:gd name="adj" fmla="val 6000"/>
            </a:avLst>
          </a:prstGeom>
          <a:solidFill>
            <a:srgbClr val="EBE5E0"/>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rIns="164592" tIns="164592" bIns="164592" wrap="square"/>
          <a:lstStyle/>
          <a:p>
            <a:pPr algn="l">
              <a:lnSpc>
                <a:spcPct val="105000"/>
              </a:lnSpc>
              <a:spcAft>
                <a:spcPts val="400"/>
              </a:spcAft>
            </a:pPr>
            <a:r>
              <a:rPr sz="2000" b="1" i="0">
                <a:solidFill>
                  <a:srgbClr val="000061"/>
                </a:solidFill>
              </a:rPr>
              <a:t>Evaluate</a:t>
            </a:r>
          </a:p>
          <a:p>
            <a:pPr algn="l">
              <a:lnSpc>
                <a:spcPct val="100000"/>
              </a:lnSpc>
              <a:spcAft>
                <a:spcPts val="600"/>
              </a:spcAft>
            </a:pPr>
            <a:r>
              <a:rPr sz="1500" b="0" i="0">
                <a:solidFill>
                  <a:srgbClr val="323232"/>
                </a:solidFill>
              </a:rPr>
              <a:t>as classifiers and as routing policies on cost</a:t>
            </a:r>
          </a:p>
        </p:txBody>
      </p:sp>
      <p:sp>
        <p:nvSpPr>
          <p:cNvPr id="20" name="TextBox 19"/>
          <p:cNvSpPr txBox="1"/>
          <p:nvPr/>
        </p:nvSpPr>
        <p:spPr>
          <a:xfrm>
            <a:off x="603504" y="5760720"/>
            <a:ext cx="10991088" cy="457200"/>
          </a:xfrm>
          <a:prstGeom prst="rect">
            <a:avLst/>
          </a:prstGeom>
          <a:noFill/>
        </p:spPr>
        <p:txBody>
          <a:bodyPr wrap="square" anchor="t" lIns="0" rIns="0" tIns="0" bIns="0">
            <a:spAutoFit/>
          </a:bodyPr>
          <a:lstStyle/>
          <a:p>
            <a:pPr algn="l">
              <a:lnSpc>
                <a:spcPct val="105000"/>
              </a:lnSpc>
              <a:spcAft>
                <a:spcPts val="600"/>
              </a:spcAft>
            </a:pPr>
            <a:r>
              <a:rPr sz="1400" b="0" i="0">
                <a:solidFill>
                  <a:srgbClr val="595959"/>
                </a:solidFill>
              </a:rPr>
              <a:t>Same Gemini model generates and judges, temperature 0, 5 text chunks per mode; first 2,000 queryable questions of the 2WikiMultihopQA train split, in benchmark order.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03504" y="868680"/>
            <a:ext cx="10991088" cy="960120"/>
          </a:xfrm>
        </p:spPr>
        <p:txBody>
          <a:bodyPr anchor="t" wrap="square"/>
          <a:lstStyle/>
          <a:p>
            <a:pPr>
              <a:lnSpc>
                <a:spcPct val="95000"/>
              </a:lnSpc>
            </a:pPr>
            <a:r>
              <a:rPr sz="3000"/>
              <a:t>The label is the cheapest mode that was judged sufficient</a:t>
            </a:r>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t>Adaptive Hybrid RAG  ·  Dante Wesslund  ·  KTH 2026</a:t>
            </a:r>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sp>
        <p:nvSpPr>
          <p:cNvPr id="6" name="Rectangle 5"/>
          <p:cNvSpPr/>
          <p:nvPr/>
        </p:nvSpPr>
        <p:spPr>
          <a:xfrm>
            <a:off x="603504" y="2148840"/>
            <a:ext cx="5233650" cy="960120"/>
          </a:xfrm>
          <a:prstGeom prst="rect">
            <a:avLst/>
          </a:prstGeom>
          <a:solidFill>
            <a:srgbClr val="6298D2"/>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wrap="square"/>
          <a:lstStyle/>
          <a:p>
            <a:pPr algn="l">
              <a:lnSpc>
                <a:spcPct val="105000"/>
              </a:lnSpc>
              <a:spcAft>
                <a:spcPts val="600"/>
              </a:spcAft>
            </a:pPr>
            <a:r>
              <a:rPr sz="2400" b="1" i="0">
                <a:solidFill>
                  <a:srgbClr val="FFFFFF"/>
                </a:solidFill>
              </a:rPr>
              <a:t>959  </a:t>
            </a:r>
            <a:r>
              <a:rPr sz="1800" b="0" i="0">
                <a:solidFill>
                  <a:srgbClr val="FFFFFF"/>
                </a:solidFill>
              </a:rPr>
              <a:t>Naive enough</a:t>
            </a:r>
          </a:p>
        </p:txBody>
      </p:sp>
      <p:sp>
        <p:nvSpPr>
          <p:cNvPr id="7" name="Rectangle 6"/>
          <p:cNvSpPr/>
          <p:nvPr/>
        </p:nvSpPr>
        <p:spPr>
          <a:xfrm>
            <a:off x="5873730" y="2148840"/>
            <a:ext cx="1760466" cy="960120"/>
          </a:xfrm>
          <a:prstGeom prst="rect">
            <a:avLst/>
          </a:prstGeom>
          <a:solidFill>
            <a:srgbClr val="000061"/>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wrap="square"/>
          <a:lstStyle/>
          <a:p>
            <a:pPr algn="l">
              <a:lnSpc>
                <a:spcPct val="105000"/>
              </a:lnSpc>
              <a:spcAft>
                <a:spcPts val="600"/>
              </a:spcAft>
            </a:pPr>
            <a:r>
              <a:rPr sz="2400" b="1" i="0">
                <a:solidFill>
                  <a:srgbClr val="FFFFFF"/>
                </a:solidFill>
              </a:rPr>
              <a:t>327  </a:t>
            </a:r>
            <a:r>
              <a:rPr sz="1800" b="0" i="0">
                <a:solidFill>
                  <a:srgbClr val="FFFFFF"/>
                </a:solidFill>
              </a:rPr>
              <a:t>Mix</a:t>
            </a:r>
          </a:p>
        </p:txBody>
      </p:sp>
      <p:sp>
        <p:nvSpPr>
          <p:cNvPr id="8" name="Rectangle 7"/>
          <p:cNvSpPr/>
          <p:nvPr/>
        </p:nvSpPr>
        <p:spPr>
          <a:xfrm>
            <a:off x="7670773" y="2148840"/>
            <a:ext cx="3887242" cy="96012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wrap="square"/>
          <a:lstStyle/>
          <a:p>
            <a:pPr algn="l">
              <a:lnSpc>
                <a:spcPct val="105000"/>
              </a:lnSpc>
              <a:spcAft>
                <a:spcPts val="600"/>
              </a:spcAft>
            </a:pPr>
            <a:r>
              <a:rPr sz="2400" b="1" i="0">
                <a:solidFill>
                  <a:srgbClr val="323232"/>
                </a:solidFill>
              </a:rPr>
              <a:t>714  </a:t>
            </a:r>
            <a:r>
              <a:rPr sz="1800" b="0" i="0">
                <a:solidFill>
                  <a:srgbClr val="323232"/>
                </a:solidFill>
              </a:rPr>
              <a:t>Neither correct</a:t>
            </a:r>
          </a:p>
        </p:txBody>
      </p:sp>
      <p:sp>
        <p:nvSpPr>
          <p:cNvPr id="9" name="TextBox 8"/>
          <p:cNvSpPr txBox="1"/>
          <p:nvPr/>
        </p:nvSpPr>
        <p:spPr>
          <a:xfrm>
            <a:off x="603504" y="3154680"/>
            <a:ext cx="10991088" cy="320040"/>
          </a:xfrm>
          <a:prstGeom prst="rect">
            <a:avLst/>
          </a:prstGeom>
          <a:noFill/>
        </p:spPr>
        <p:txBody>
          <a:bodyPr wrap="square" anchor="t" lIns="0" rIns="0" tIns="0" bIns="0">
            <a:spAutoFit/>
          </a:bodyPr>
          <a:lstStyle/>
          <a:p>
            <a:pPr algn="l">
              <a:lnSpc>
                <a:spcPct val="105000"/>
              </a:lnSpc>
              <a:spcAft>
                <a:spcPts val="600"/>
              </a:spcAft>
            </a:pPr>
            <a:r>
              <a:rPr sz="1500" b="0" i="0">
                <a:solidFill>
                  <a:srgbClr val="595959"/>
                </a:solidFill>
              </a:rPr>
              <a:t>2,000 judged questions</a:t>
            </a:r>
          </a:p>
        </p:txBody>
      </p:sp>
      <p:sp>
        <p:nvSpPr>
          <p:cNvPr id="10" name="Oval 9"/>
          <p:cNvSpPr/>
          <p:nvPr/>
        </p:nvSpPr>
        <p:spPr>
          <a:xfrm>
            <a:off x="630936" y="3794759"/>
            <a:ext cx="219456" cy="219456"/>
          </a:xfrm>
          <a:prstGeom prst="ellipse">
            <a:avLst/>
          </a:prstGeom>
          <a:solidFill>
            <a:srgbClr val="6298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14984" y="3703320"/>
            <a:ext cx="3977639" cy="411480"/>
          </a:xfrm>
          <a:prstGeom prst="rect">
            <a:avLst/>
          </a:prstGeom>
          <a:noFill/>
        </p:spPr>
        <p:txBody>
          <a:bodyPr wrap="square" anchor="t" lIns="0" rIns="0" tIns="0" bIns="0">
            <a:spAutoFit/>
          </a:bodyPr>
          <a:lstStyle/>
          <a:p>
            <a:pPr algn="l">
              <a:lnSpc>
                <a:spcPct val="105000"/>
              </a:lnSpc>
              <a:spcAft>
                <a:spcPts val="600"/>
              </a:spcAft>
            </a:pPr>
            <a:r>
              <a:rPr sz="1900" b="0" i="0">
                <a:solidFill>
                  <a:srgbClr val="323232"/>
                </a:solidFill>
              </a:rPr>
              <a:t>Naive answer correct</a:t>
            </a:r>
          </a:p>
        </p:txBody>
      </p:sp>
      <p:sp>
        <p:nvSpPr>
          <p:cNvPr id="12" name="TextBox 11"/>
          <p:cNvSpPr txBox="1"/>
          <p:nvPr/>
        </p:nvSpPr>
        <p:spPr>
          <a:xfrm>
            <a:off x="5084064" y="3703320"/>
            <a:ext cx="1920240" cy="411480"/>
          </a:xfrm>
          <a:prstGeom prst="rect">
            <a:avLst/>
          </a:prstGeom>
          <a:noFill/>
        </p:spPr>
        <p:txBody>
          <a:bodyPr wrap="square" anchor="t" lIns="0" rIns="0" tIns="0" bIns="0">
            <a:spAutoFit/>
          </a:bodyPr>
          <a:lstStyle/>
          <a:p>
            <a:pPr algn="l">
              <a:lnSpc>
                <a:spcPct val="105000"/>
              </a:lnSpc>
              <a:spcAft>
                <a:spcPts val="600"/>
              </a:spcAft>
            </a:pPr>
            <a:r>
              <a:rPr sz="1900" b="1" i="0">
                <a:solidFill>
                  <a:srgbClr val="000061"/>
                </a:solidFill>
              </a:rPr>
              <a:t>naive_enough</a:t>
            </a:r>
          </a:p>
        </p:txBody>
      </p:sp>
      <p:sp>
        <p:nvSpPr>
          <p:cNvPr id="13" name="TextBox 12"/>
          <p:cNvSpPr txBox="1"/>
          <p:nvPr/>
        </p:nvSpPr>
        <p:spPr>
          <a:xfrm>
            <a:off x="7050024" y="3703320"/>
            <a:ext cx="1143000" cy="411480"/>
          </a:xfrm>
          <a:prstGeom prst="rect">
            <a:avLst/>
          </a:prstGeom>
          <a:noFill/>
        </p:spPr>
        <p:txBody>
          <a:bodyPr wrap="square" anchor="t" lIns="0" rIns="0" tIns="0" bIns="0">
            <a:spAutoFit/>
          </a:bodyPr>
          <a:lstStyle/>
          <a:p>
            <a:pPr algn="l">
              <a:lnSpc>
                <a:spcPct val="105000"/>
              </a:lnSpc>
              <a:spcAft>
                <a:spcPts val="600"/>
              </a:spcAft>
            </a:pPr>
            <a:r>
              <a:rPr sz="1900" b="0" i="0">
                <a:solidFill>
                  <a:srgbClr val="595959"/>
                </a:solidFill>
              </a:rPr>
              <a:t>label 0</a:t>
            </a:r>
          </a:p>
        </p:txBody>
      </p:sp>
      <p:sp>
        <p:nvSpPr>
          <p:cNvPr id="14" name="Oval 13"/>
          <p:cNvSpPr/>
          <p:nvPr/>
        </p:nvSpPr>
        <p:spPr>
          <a:xfrm>
            <a:off x="630936" y="4297679"/>
            <a:ext cx="219456" cy="219456"/>
          </a:xfrm>
          <a:prstGeom prst="ellipse">
            <a:avLst/>
          </a:prstGeom>
          <a:solidFill>
            <a:srgbClr val="0000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14984" y="4206240"/>
            <a:ext cx="3977639" cy="411480"/>
          </a:xfrm>
          <a:prstGeom prst="rect">
            <a:avLst/>
          </a:prstGeom>
          <a:noFill/>
        </p:spPr>
        <p:txBody>
          <a:bodyPr wrap="square" anchor="t" lIns="0" rIns="0" tIns="0" bIns="0">
            <a:spAutoFit/>
          </a:bodyPr>
          <a:lstStyle/>
          <a:p>
            <a:pPr algn="l">
              <a:lnSpc>
                <a:spcPct val="105000"/>
              </a:lnSpc>
              <a:spcAft>
                <a:spcPts val="600"/>
              </a:spcAft>
            </a:pPr>
            <a:r>
              <a:rPr sz="1900" b="0" i="0">
                <a:solidFill>
                  <a:srgbClr val="323232"/>
                </a:solidFill>
              </a:rPr>
              <a:t>Naive not enough, Mix correct</a:t>
            </a:r>
          </a:p>
        </p:txBody>
      </p:sp>
      <p:sp>
        <p:nvSpPr>
          <p:cNvPr id="16" name="TextBox 15"/>
          <p:cNvSpPr txBox="1"/>
          <p:nvPr/>
        </p:nvSpPr>
        <p:spPr>
          <a:xfrm>
            <a:off x="5084064" y="4206240"/>
            <a:ext cx="1920240" cy="411480"/>
          </a:xfrm>
          <a:prstGeom prst="rect">
            <a:avLst/>
          </a:prstGeom>
          <a:noFill/>
        </p:spPr>
        <p:txBody>
          <a:bodyPr wrap="square" anchor="t" lIns="0" rIns="0" tIns="0" bIns="0">
            <a:spAutoFit/>
          </a:bodyPr>
          <a:lstStyle/>
          <a:p>
            <a:pPr algn="l">
              <a:lnSpc>
                <a:spcPct val="105000"/>
              </a:lnSpc>
              <a:spcAft>
                <a:spcPts val="600"/>
              </a:spcAft>
            </a:pPr>
            <a:r>
              <a:rPr sz="1900" b="1" i="0">
                <a:solidFill>
                  <a:srgbClr val="000061"/>
                </a:solidFill>
              </a:rPr>
              <a:t>mix_required</a:t>
            </a:r>
          </a:p>
        </p:txBody>
      </p:sp>
      <p:sp>
        <p:nvSpPr>
          <p:cNvPr id="17" name="TextBox 16"/>
          <p:cNvSpPr txBox="1"/>
          <p:nvPr/>
        </p:nvSpPr>
        <p:spPr>
          <a:xfrm>
            <a:off x="7050024" y="4206240"/>
            <a:ext cx="1143000" cy="411480"/>
          </a:xfrm>
          <a:prstGeom prst="rect">
            <a:avLst/>
          </a:prstGeom>
          <a:noFill/>
        </p:spPr>
        <p:txBody>
          <a:bodyPr wrap="square" anchor="t" lIns="0" rIns="0" tIns="0" bIns="0">
            <a:spAutoFit/>
          </a:bodyPr>
          <a:lstStyle/>
          <a:p>
            <a:pPr algn="l">
              <a:lnSpc>
                <a:spcPct val="105000"/>
              </a:lnSpc>
              <a:spcAft>
                <a:spcPts val="600"/>
              </a:spcAft>
            </a:pPr>
            <a:r>
              <a:rPr sz="1900" b="0" i="0">
                <a:solidFill>
                  <a:srgbClr val="595959"/>
                </a:solidFill>
              </a:rPr>
              <a:t>label 1</a:t>
            </a:r>
          </a:p>
        </p:txBody>
      </p:sp>
      <p:sp>
        <p:nvSpPr>
          <p:cNvPr id="18" name="Oval 17"/>
          <p:cNvSpPr/>
          <p:nvPr/>
        </p:nvSpPr>
        <p:spPr>
          <a:xfrm>
            <a:off x="630936" y="4800599"/>
            <a:ext cx="219456" cy="219456"/>
          </a:xfrm>
          <a:prstGeom prst="ellipse">
            <a:avLst/>
          </a:prstGeom>
          <a:solidFill>
            <a:srgbClr val="A5A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14984" y="4709159"/>
            <a:ext cx="3977639" cy="411480"/>
          </a:xfrm>
          <a:prstGeom prst="rect">
            <a:avLst/>
          </a:prstGeom>
          <a:noFill/>
        </p:spPr>
        <p:txBody>
          <a:bodyPr wrap="square" anchor="t" lIns="0" rIns="0" tIns="0" bIns="0">
            <a:spAutoFit/>
          </a:bodyPr>
          <a:lstStyle/>
          <a:p>
            <a:pPr algn="l">
              <a:lnSpc>
                <a:spcPct val="105000"/>
              </a:lnSpc>
              <a:spcAft>
                <a:spcPts val="600"/>
              </a:spcAft>
            </a:pPr>
            <a:r>
              <a:rPr sz="1900" b="0" i="0">
                <a:solidFill>
                  <a:srgbClr val="323232"/>
                </a:solidFill>
              </a:rPr>
              <a:t>Neither correct: routing cannot help</a:t>
            </a:r>
          </a:p>
        </p:txBody>
      </p:sp>
      <p:sp>
        <p:nvSpPr>
          <p:cNvPr id="20" name="TextBox 19"/>
          <p:cNvSpPr txBox="1"/>
          <p:nvPr/>
        </p:nvSpPr>
        <p:spPr>
          <a:xfrm>
            <a:off x="5084064" y="4709159"/>
            <a:ext cx="1920240" cy="411480"/>
          </a:xfrm>
          <a:prstGeom prst="rect">
            <a:avLst/>
          </a:prstGeom>
          <a:noFill/>
        </p:spPr>
        <p:txBody>
          <a:bodyPr wrap="square" anchor="t" lIns="0" rIns="0" tIns="0" bIns="0">
            <a:spAutoFit/>
          </a:bodyPr>
          <a:lstStyle/>
          <a:p>
            <a:pPr algn="l">
              <a:lnSpc>
                <a:spcPct val="105000"/>
              </a:lnSpc>
              <a:spcAft>
                <a:spcPts val="600"/>
              </a:spcAft>
            </a:pPr>
            <a:r>
              <a:rPr sz="1900" b="1" i="0">
                <a:solidFill>
                  <a:srgbClr val="000061"/>
                </a:solidFill>
              </a:rPr>
              <a:t>none_enough</a:t>
            </a:r>
          </a:p>
        </p:txBody>
      </p:sp>
      <p:sp>
        <p:nvSpPr>
          <p:cNvPr id="21" name="TextBox 20"/>
          <p:cNvSpPr txBox="1"/>
          <p:nvPr/>
        </p:nvSpPr>
        <p:spPr>
          <a:xfrm>
            <a:off x="7050024" y="4709159"/>
            <a:ext cx="1143000" cy="411480"/>
          </a:xfrm>
          <a:prstGeom prst="rect">
            <a:avLst/>
          </a:prstGeom>
          <a:noFill/>
        </p:spPr>
        <p:txBody>
          <a:bodyPr wrap="square" anchor="t" lIns="0" rIns="0" tIns="0" bIns="0">
            <a:spAutoFit/>
          </a:bodyPr>
          <a:lstStyle/>
          <a:p>
            <a:pPr algn="l">
              <a:lnSpc>
                <a:spcPct val="105000"/>
              </a:lnSpc>
              <a:spcAft>
                <a:spcPts val="600"/>
              </a:spcAft>
            </a:pPr>
            <a:r>
              <a:rPr sz="1900" b="0" i="0">
                <a:solidFill>
                  <a:srgbClr val="595959"/>
                </a:solidFill>
              </a:rPr>
              <a:t>excluded</a:t>
            </a:r>
          </a:p>
        </p:txBody>
      </p:sp>
      <p:sp>
        <p:nvSpPr>
          <p:cNvPr id="22" name="Rounded Rectangle 21"/>
          <p:cNvSpPr/>
          <p:nvPr/>
        </p:nvSpPr>
        <p:spPr>
          <a:xfrm>
            <a:off x="8330183" y="3611880"/>
            <a:ext cx="3264408" cy="1600200"/>
          </a:xfrm>
          <a:prstGeom prst="roundRect">
            <a:avLst>
              <a:gd name="adj" fmla="val 6000"/>
            </a:avLst>
          </a:prstGeom>
          <a:solidFill>
            <a:srgbClr val="EBE5E0"/>
          </a:solidFill>
          <a:ln>
            <a:noFill/>
          </a:ln>
          <a:effectLst/>
        </p:spPr>
        <p:style>
          <a:lnRef idx="1">
            <a:schemeClr val="accent1"/>
          </a:lnRef>
          <a:fillRef idx="3">
            <a:schemeClr val="accent1"/>
          </a:fillRef>
          <a:effectRef idx="2">
            <a:schemeClr val="accent1"/>
          </a:effectRef>
          <a:fontRef idx="minor">
            <a:schemeClr val="lt1"/>
          </a:fontRef>
        </p:style>
        <p:txBody>
          <a:bodyPr rtlCol="0" anchor="ctr" lIns="201168" rIns="201168" tIns="201168" bIns="201168" wrap="square"/>
          <a:lstStyle/>
          <a:p>
            <a:pPr algn="l">
              <a:lnSpc>
                <a:spcPct val="105000"/>
              </a:lnSpc>
              <a:spcAft>
                <a:spcPts val="200"/>
              </a:spcAft>
            </a:pPr>
            <a:r>
              <a:rPr sz="2800" b="1" i="0">
                <a:solidFill>
                  <a:srgbClr val="000061"/>
                </a:solidFill>
              </a:rPr>
              <a:t>1,286</a:t>
            </a:r>
            <a:r>
              <a:rPr sz="1800" b="0" i="0">
                <a:solidFill>
                  <a:srgbClr val="323232"/>
                </a:solidFill>
              </a:rPr>
              <a:t> questions</a:t>
            </a:r>
          </a:p>
          <a:p>
            <a:pPr algn="l">
              <a:lnSpc>
                <a:spcPct val="105000"/>
              </a:lnSpc>
              <a:spcAft>
                <a:spcPts val="200"/>
              </a:spcAft>
            </a:pPr>
            <a:r>
              <a:rPr sz="1700" b="0" i="0">
                <a:solidFill>
                  <a:srgbClr val="323232"/>
                </a:solidFill>
              </a:rPr>
              <a:t>25% Mix required</a:t>
            </a:r>
          </a:p>
          <a:p>
            <a:pPr algn="l">
              <a:lnSpc>
                <a:spcPct val="100000"/>
              </a:lnSpc>
              <a:spcAft>
                <a:spcPts val="600"/>
              </a:spcAft>
            </a:pPr>
            <a:r>
              <a:rPr sz="1500" b="0" i="0">
                <a:solidFill>
                  <a:srgbClr val="323232"/>
                </a:solidFill>
              </a:rPr>
              <a:t>split 900 / 193 / 193, stratified by question type and label</a:t>
            </a:r>
          </a:p>
        </p:txBody>
      </p:sp>
      <p:sp>
        <p:nvSpPr>
          <p:cNvPr id="23" name="TextBox 22"/>
          <p:cNvSpPr txBox="1"/>
          <p:nvPr/>
        </p:nvSpPr>
        <p:spPr>
          <a:xfrm>
            <a:off x="603504" y="5440680"/>
            <a:ext cx="10991088" cy="640080"/>
          </a:xfrm>
          <a:prstGeom prst="rect">
            <a:avLst/>
          </a:prstGeom>
          <a:noFill/>
        </p:spPr>
        <p:txBody>
          <a:bodyPr wrap="square" anchor="t" lIns="0" rIns="0" tIns="0" bIns="0">
            <a:spAutoFit/>
          </a:bodyPr>
          <a:lstStyle/>
          <a:p>
            <a:pPr algn="l">
              <a:lnSpc>
                <a:spcPct val="105000"/>
              </a:lnSpc>
              <a:spcAft>
                <a:spcPts val="600"/>
              </a:spcAft>
            </a:pPr>
            <a:r>
              <a:rPr sz="1700" b="0" i="0">
                <a:solidFill>
                  <a:srgbClr val="323232"/>
                </a:solidFill>
              </a:rPr>
              <a:t>If both modes are correct, the judge is told to choose Naive: the label records the minimum sufficient mode, not the better-looking answer.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03504" y="868680"/>
            <a:ext cx="10991088" cy="960120"/>
          </a:xfrm>
        </p:spPr>
        <p:txBody>
          <a:bodyPr anchor="t" wrap="square"/>
          <a:lstStyle/>
          <a:p>
            <a:pPr>
              <a:lnSpc>
                <a:spcPct val="95000"/>
              </a:lnSpc>
            </a:pPr>
            <a:r>
              <a:rPr sz="3000"/>
              <a:t>Two query-only routers: a lexical baseline and a fine-tuned encoder</a:t>
            </a:r>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t>Adaptive Hybrid RAG  ·  Dante Wesslund  ·  KTH 2026</a:t>
            </a:r>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sp>
        <p:nvSpPr>
          <p:cNvPr id="6" name="Rounded Rectangle 5"/>
          <p:cNvSpPr/>
          <p:nvPr/>
        </p:nvSpPr>
        <p:spPr>
          <a:xfrm>
            <a:off x="603504" y="2103120"/>
            <a:ext cx="5358384" cy="2880360"/>
          </a:xfrm>
          <a:prstGeom prst="roundRect">
            <a:avLst>
              <a:gd name="adj" fmla="val 6000"/>
            </a:avLst>
          </a:prstGeom>
          <a:solidFill>
            <a:srgbClr val="DEF0FF"/>
          </a:solidFill>
          <a:ln>
            <a:noFill/>
          </a:ln>
          <a:effectLst/>
        </p:spPr>
        <p:style>
          <a:lnRef idx="1">
            <a:schemeClr val="accent1"/>
          </a:lnRef>
          <a:fillRef idx="3">
            <a:schemeClr val="accent1"/>
          </a:fillRef>
          <a:effectRef idx="2">
            <a:schemeClr val="accent1"/>
          </a:effectRef>
          <a:fontRef idx="minor">
            <a:schemeClr val="lt1"/>
          </a:fontRef>
        </p:style>
        <p:txBody>
          <a:bodyPr rtlCol="0" anchor="t" lIns="274320" rIns="274320" tIns="274320" bIns="274320" wrap="square"/>
          <a:lstStyle/>
          <a:p>
            <a:pPr algn="l">
              <a:lnSpc>
                <a:spcPct val="105000"/>
              </a:lnSpc>
              <a:spcAft>
                <a:spcPts val="1000"/>
              </a:spcAft>
            </a:pPr>
            <a:r>
              <a:rPr sz="2400" b="1" i="0">
                <a:solidFill>
                  <a:srgbClr val="000061"/>
                </a:solidFill>
              </a:rPr>
              <a:t>TF-IDF + logistic regression</a:t>
            </a:r>
          </a:p>
          <a:p>
            <a:pPr algn="l" marL="256032" indent="-256032">
              <a:lnSpc>
                <a:spcPct val="105000"/>
              </a:lnSpc>
              <a:spcAft>
                <a:spcPts val="600"/>
              </a:spcAft>
              <a:buFont typeface="Arial"/>
              <a:buChar char="•"/>
            </a:pPr>
            <a:r>
              <a:rPr sz="1900" b="0" i="0">
                <a:solidFill>
                  <a:srgbClr val="323232"/>
                </a:solidFill>
              </a:rPr>
              <a:t>Word and word-pair counts, weighted by rarity</a:t>
            </a:r>
          </a:p>
          <a:p>
            <a:pPr algn="l" marL="256032" indent="-256032">
              <a:lnSpc>
                <a:spcPct val="105000"/>
              </a:lnSpc>
              <a:spcAft>
                <a:spcPts val="600"/>
              </a:spcAft>
              <a:buFont typeface="Arial"/>
              <a:buChar char="•"/>
            </a:pPr>
            <a:r>
              <a:rPr sz="1900" b="0" i="0">
                <a:solidFill>
                  <a:srgbClr val="323232"/>
                </a:solidFill>
              </a:rPr>
              <a:t>Balanced class weights</a:t>
            </a:r>
          </a:p>
          <a:p>
            <a:pPr algn="l" marL="256032" indent="-256032">
              <a:lnSpc>
                <a:spcPct val="105000"/>
              </a:lnSpc>
              <a:spcAft>
                <a:spcPts val="600"/>
              </a:spcAft>
              <a:buFont typeface="Arial"/>
              <a:buChar char="•"/>
            </a:pPr>
            <a:r>
              <a:rPr sz="1900" b="0" i="0">
                <a:solidFill>
                  <a:srgbClr val="323232"/>
                </a:solidFill>
              </a:rPr>
              <a:t>Trains in seconds on a CPU</a:t>
            </a:r>
          </a:p>
          <a:p>
            <a:pPr algn="l" marL="256032" indent="-256032">
              <a:lnSpc>
                <a:spcPct val="105000"/>
              </a:lnSpc>
              <a:spcAft>
                <a:spcPts val="600"/>
              </a:spcAft>
              <a:buFont typeface="Arial"/>
              <a:buChar char="•"/>
            </a:pPr>
            <a:r>
              <a:rPr sz="1900" b="0" i="0">
                <a:solidFill>
                  <a:srgbClr val="323232"/>
                </a:solidFill>
              </a:rPr>
              <a:t>Tests how much of the signal is lexical</a:t>
            </a:r>
          </a:p>
        </p:txBody>
      </p:sp>
      <p:sp>
        <p:nvSpPr>
          <p:cNvPr id="7" name="Rounded Rectangle 6"/>
          <p:cNvSpPr/>
          <p:nvPr/>
        </p:nvSpPr>
        <p:spPr>
          <a:xfrm>
            <a:off x="6236208" y="2103120"/>
            <a:ext cx="5358384" cy="2880360"/>
          </a:xfrm>
          <a:prstGeom prst="roundRect">
            <a:avLst>
              <a:gd name="adj" fmla="val 6000"/>
            </a:avLst>
          </a:prstGeom>
          <a:solidFill>
            <a:srgbClr val="004791"/>
          </a:solidFill>
          <a:ln>
            <a:noFill/>
          </a:ln>
          <a:effectLst/>
        </p:spPr>
        <p:style>
          <a:lnRef idx="1">
            <a:schemeClr val="accent1"/>
          </a:lnRef>
          <a:fillRef idx="3">
            <a:schemeClr val="accent1"/>
          </a:fillRef>
          <a:effectRef idx="2">
            <a:schemeClr val="accent1"/>
          </a:effectRef>
          <a:fontRef idx="minor">
            <a:schemeClr val="lt1"/>
          </a:fontRef>
        </p:style>
        <p:txBody>
          <a:bodyPr rtlCol="0" anchor="t" lIns="274320" rIns="274320" tIns="274320" bIns="274320" wrap="square"/>
          <a:lstStyle/>
          <a:p>
            <a:pPr algn="l">
              <a:lnSpc>
                <a:spcPct val="105000"/>
              </a:lnSpc>
              <a:spcAft>
                <a:spcPts val="1000"/>
              </a:spcAft>
            </a:pPr>
            <a:r>
              <a:rPr sz="2400" b="1" i="0">
                <a:solidFill>
                  <a:srgbClr val="FFFFFF"/>
                </a:solidFill>
              </a:rPr>
              <a:t>Fine-tuned ModernBERT</a:t>
            </a:r>
          </a:p>
          <a:p>
            <a:pPr algn="l" marL="256032" indent="-256032">
              <a:lnSpc>
                <a:spcPct val="105000"/>
              </a:lnSpc>
              <a:spcAft>
                <a:spcPts val="600"/>
              </a:spcAft>
              <a:buFont typeface="Arial"/>
              <a:buChar char="•"/>
            </a:pPr>
            <a:r>
              <a:rPr sz="1900" b="0" i="0">
                <a:solidFill>
                  <a:srgbClr val="FFFFFF"/>
                </a:solidFill>
              </a:rPr>
              <a:t>Pretrained encoder + classification head</a:t>
            </a:r>
          </a:p>
          <a:p>
            <a:pPr algn="l" marL="256032" indent="-256032">
              <a:lnSpc>
                <a:spcPct val="105000"/>
              </a:lnSpc>
              <a:spcAft>
                <a:spcPts val="600"/>
              </a:spcAft>
              <a:buFont typeface="Arial"/>
              <a:buChar char="•"/>
            </a:pPr>
            <a:r>
              <a:rPr sz="1900" b="0" i="0">
                <a:solidFill>
                  <a:srgbClr val="FFFFFF"/>
                </a:solidFill>
              </a:rPr>
              <a:t>Class-balanced loss, early stopping</a:t>
            </a:r>
          </a:p>
          <a:p>
            <a:pPr algn="l" marL="256032" indent="-256032">
              <a:lnSpc>
                <a:spcPct val="105000"/>
              </a:lnSpc>
              <a:spcAft>
                <a:spcPts val="600"/>
              </a:spcAft>
              <a:buFont typeface="Arial"/>
              <a:buChar char="•"/>
            </a:pPr>
            <a:r>
              <a:rPr sz="1900" b="0" i="0">
                <a:solidFill>
                  <a:srgbClr val="FFFFFF"/>
                </a:solidFill>
              </a:rPr>
              <a:t>3 seeds averaged into one ensemble</a:t>
            </a:r>
          </a:p>
          <a:p>
            <a:pPr algn="l" marL="256032" indent="-256032">
              <a:lnSpc>
                <a:spcPct val="105000"/>
              </a:lnSpc>
              <a:spcAft>
                <a:spcPts val="600"/>
              </a:spcAft>
              <a:buFont typeface="Arial"/>
              <a:buChar char="•"/>
            </a:pPr>
            <a:r>
              <a:rPr sz="1900" b="0" i="0">
                <a:solidFill>
                  <a:srgbClr val="FFFFFF"/>
                </a:solidFill>
              </a:rPr>
              <a:t>Trains in hours on a CPU</a:t>
            </a:r>
          </a:p>
        </p:txBody>
      </p:sp>
      <p:sp>
        <p:nvSpPr>
          <p:cNvPr id="8" name="Rounded Rectangle 7"/>
          <p:cNvSpPr/>
          <p:nvPr/>
        </p:nvSpPr>
        <p:spPr>
          <a:xfrm>
            <a:off x="603504" y="5257800"/>
            <a:ext cx="10991088" cy="868680"/>
          </a:xfrm>
          <a:prstGeom prst="roundRect">
            <a:avLst>
              <a:gd name="adj" fmla="val 6000"/>
            </a:avLst>
          </a:prstGeom>
          <a:solidFill>
            <a:srgbClr val="EBE5E0"/>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rIns="228600" tIns="228600" bIns="228600" wrap="square"/>
          <a:lstStyle/>
          <a:p>
            <a:pPr algn="l">
              <a:lnSpc>
                <a:spcPct val="105000"/>
              </a:lnSpc>
              <a:spcAft>
                <a:spcPts val="600"/>
              </a:spcAft>
            </a:pPr>
            <a:r>
              <a:rPr sz="1800" b="1" i="0">
                <a:solidFill>
                  <a:srgbClr val="000061"/>
                </a:solidFill>
              </a:rPr>
              <a:t>Both: </a:t>
            </a:r>
            <a:r>
              <a:rPr sz="1800" b="0" i="0">
                <a:solidFill>
                  <a:srgbClr val="323232"/>
                </a:solidFill>
              </a:rPr>
              <a:t>threshold chosen on validation F1, then frozen.   </a:t>
            </a:r>
            <a:r>
              <a:rPr sz="1800" b="1" i="0">
                <a:solidFill>
                  <a:srgbClr val="000061"/>
                </a:solidFill>
              </a:rPr>
              <a:t>Reference: </a:t>
            </a:r>
            <a:r>
              <a:rPr sz="1800" b="0" i="0">
                <a:solidFill>
                  <a:srgbClr val="323232"/>
                </a:solidFill>
              </a:rPr>
              <a:t>type-only rule (Mix if the question is compositional); not deployable, since real queries have no type label.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03504" y="868680"/>
            <a:ext cx="10991088" cy="960120"/>
          </a:xfrm>
        </p:spPr>
        <p:txBody>
          <a:bodyPr anchor="t" wrap="square"/>
          <a:lstStyle/>
          <a:p>
            <a:pPr>
              <a:lnSpc>
                <a:spcPct val="95000"/>
              </a:lnSpc>
            </a:pPr>
            <a:r>
              <a:rPr sz="3000"/>
              <a:t>Each router is evaluated as a classifier and as a routing policy, with paired tests</a:t>
            </a:r>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t>Adaptive Hybrid RAG  ·  Dante Wesslund  ·  KTH 2026</a:t>
            </a:r>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sp>
        <p:nvSpPr>
          <p:cNvPr id="6" name="Rounded Rectangle 5"/>
          <p:cNvSpPr/>
          <p:nvPr/>
        </p:nvSpPr>
        <p:spPr>
          <a:xfrm>
            <a:off x="603504" y="2103120"/>
            <a:ext cx="3480816" cy="3886200"/>
          </a:xfrm>
          <a:prstGeom prst="roundRect">
            <a:avLst>
              <a:gd name="adj" fmla="val 6000"/>
            </a:avLst>
          </a:prstGeom>
          <a:solidFill>
            <a:srgbClr val="DEF0FF"/>
          </a:solidFill>
          <a:ln>
            <a:noFill/>
          </a:ln>
          <a:effectLst/>
        </p:spPr>
        <p:style>
          <a:lnRef idx="1">
            <a:schemeClr val="accent1"/>
          </a:lnRef>
          <a:fillRef idx="3">
            <a:schemeClr val="accent1"/>
          </a:fillRef>
          <a:effectRef idx="2">
            <a:schemeClr val="accent1"/>
          </a:effectRef>
          <a:fontRef idx="minor">
            <a:schemeClr val="lt1"/>
          </a:fontRef>
        </p:style>
        <p:txBody>
          <a:bodyPr rtlCol="0" anchor="t" lIns="256032" rIns="256032" tIns="256032" bIns="256032" wrap="square"/>
          <a:lstStyle/>
          <a:p>
            <a:pPr algn="l">
              <a:lnSpc>
                <a:spcPct val="105000"/>
              </a:lnSpc>
              <a:spcAft>
                <a:spcPts val="1200"/>
              </a:spcAft>
            </a:pPr>
            <a:r>
              <a:rPr sz="2300" b="1" i="0">
                <a:solidFill>
                  <a:srgbClr val="000061"/>
                </a:solidFill>
              </a:rPr>
              <a:t>Classification</a:t>
            </a:r>
          </a:p>
          <a:p>
            <a:pPr algn="l" marL="256032" indent="-256032">
              <a:lnSpc>
                <a:spcPct val="100000"/>
              </a:lnSpc>
              <a:spcAft>
                <a:spcPts val="800"/>
              </a:spcAft>
              <a:buFont typeface="Arial"/>
              <a:buChar char="•"/>
            </a:pPr>
            <a:r>
              <a:rPr sz="1800" b="0" i="0">
                <a:solidFill>
                  <a:srgbClr val="323232"/>
                </a:solidFill>
              </a:rPr>
              <a:t>AUPRC on mix_required (primary, chance 0.254)</a:t>
            </a:r>
          </a:p>
          <a:p>
            <a:pPr algn="l" marL="256032" indent="-256032">
              <a:lnSpc>
                <a:spcPct val="100000"/>
              </a:lnSpc>
              <a:spcAft>
                <a:spcPts val="800"/>
              </a:spcAft>
              <a:buFont typeface="Arial"/>
              <a:buChar char="•"/>
            </a:pPr>
            <a:r>
              <a:rPr sz="1800" b="0" i="0">
                <a:solidFill>
                  <a:srgbClr val="323232"/>
                </a:solidFill>
              </a:rPr>
              <a:t>Precision, recall, F1</a:t>
            </a:r>
          </a:p>
          <a:p>
            <a:pPr algn="l" marL="256032" indent="-256032">
              <a:lnSpc>
                <a:spcPct val="100000"/>
              </a:lnSpc>
              <a:spcAft>
                <a:spcPts val="800"/>
              </a:spcAft>
              <a:buFont typeface="Arial"/>
              <a:buChar char="•"/>
            </a:pPr>
            <a:r>
              <a:rPr sz="1800" b="0" i="0">
                <a:solidFill>
                  <a:srgbClr val="323232"/>
                </a:solidFill>
              </a:rPr>
              <a:t>Routing-label accuracy</a:t>
            </a:r>
          </a:p>
        </p:txBody>
      </p:sp>
      <p:sp>
        <p:nvSpPr>
          <p:cNvPr id="7" name="Rounded Rectangle 6"/>
          <p:cNvSpPr/>
          <p:nvPr/>
        </p:nvSpPr>
        <p:spPr>
          <a:xfrm>
            <a:off x="4358640" y="2103120"/>
            <a:ext cx="3480816" cy="3886200"/>
          </a:xfrm>
          <a:prstGeom prst="roundRect">
            <a:avLst>
              <a:gd name="adj" fmla="val 6000"/>
            </a:avLst>
          </a:prstGeom>
          <a:solidFill>
            <a:srgbClr val="EBE5E0"/>
          </a:solidFill>
          <a:ln>
            <a:noFill/>
          </a:ln>
          <a:effectLst/>
        </p:spPr>
        <p:style>
          <a:lnRef idx="1">
            <a:schemeClr val="accent1"/>
          </a:lnRef>
          <a:fillRef idx="3">
            <a:schemeClr val="accent1"/>
          </a:fillRef>
          <a:effectRef idx="2">
            <a:schemeClr val="accent1"/>
          </a:effectRef>
          <a:fontRef idx="minor">
            <a:schemeClr val="lt1"/>
          </a:fontRef>
        </p:style>
        <p:txBody>
          <a:bodyPr rtlCol="0" anchor="t" lIns="256032" rIns="256032" tIns="256032" bIns="256032" wrap="square"/>
          <a:lstStyle/>
          <a:p>
            <a:pPr algn="l">
              <a:lnSpc>
                <a:spcPct val="105000"/>
              </a:lnSpc>
              <a:spcAft>
                <a:spcPts val="1200"/>
              </a:spcAft>
            </a:pPr>
            <a:r>
              <a:rPr sz="2300" b="1" i="0">
                <a:solidFill>
                  <a:srgbClr val="000061"/>
                </a:solidFill>
              </a:rPr>
              <a:t>Routing policy</a:t>
            </a:r>
          </a:p>
          <a:p>
            <a:pPr algn="l" marL="256032" indent="-256032">
              <a:lnSpc>
                <a:spcPct val="100000"/>
              </a:lnSpc>
              <a:spcAft>
                <a:spcPts val="800"/>
              </a:spcAft>
              <a:buFont typeface="Arial"/>
              <a:buChar char="•"/>
            </a:pPr>
            <a:r>
              <a:rPr sz="1800" b="0" i="0">
                <a:solidFill>
                  <a:srgbClr val="323232"/>
                </a:solidFill>
              </a:rPr>
              <a:t>Mean routed time (measured)</a:t>
            </a:r>
          </a:p>
          <a:p>
            <a:pPr algn="l" marL="256032" indent="-256032">
              <a:lnSpc>
                <a:spcPct val="100000"/>
              </a:lnSpc>
              <a:spcAft>
                <a:spcPts val="800"/>
              </a:spcAft>
              <a:buFont typeface="Arial"/>
              <a:buChar char="•"/>
            </a:pPr>
            <a:r>
              <a:rPr sz="1800" b="0" i="0">
                <a:solidFill>
                  <a:srgbClr val="323232"/>
                </a:solidFill>
              </a:rPr>
              <a:t>Model tokens (estimated per mode)</a:t>
            </a:r>
          </a:p>
          <a:p>
            <a:pPr algn="l" marL="256032" indent="-256032">
              <a:lnSpc>
                <a:spcPct val="100000"/>
              </a:lnSpc>
              <a:spcAft>
                <a:spcPts val="800"/>
              </a:spcAft>
              <a:buFont typeface="Arial"/>
              <a:buChar char="•"/>
            </a:pPr>
            <a:r>
              <a:rPr sz="1800" b="0" i="0">
                <a:solidFill>
                  <a:srgbClr val="323232"/>
                </a:solidFill>
              </a:rPr>
              <a:t>Under-routing: missed Mix call (answer risk)</a:t>
            </a:r>
          </a:p>
          <a:p>
            <a:pPr algn="l" marL="256032" indent="-256032">
              <a:lnSpc>
                <a:spcPct val="100000"/>
              </a:lnSpc>
              <a:spcAft>
                <a:spcPts val="800"/>
              </a:spcAft>
              <a:buFont typeface="Arial"/>
              <a:buChar char="•"/>
            </a:pPr>
            <a:r>
              <a:rPr sz="1800" b="0" i="0">
                <a:solidFill>
                  <a:srgbClr val="323232"/>
                </a:solidFill>
              </a:rPr>
              <a:t>Over-routing: unneeded Mix call (wasted cost)</a:t>
            </a:r>
          </a:p>
        </p:txBody>
      </p:sp>
      <p:sp>
        <p:nvSpPr>
          <p:cNvPr id="8" name="Rounded Rectangle 7"/>
          <p:cNvSpPr/>
          <p:nvPr/>
        </p:nvSpPr>
        <p:spPr>
          <a:xfrm>
            <a:off x="8113776" y="2103120"/>
            <a:ext cx="3480816" cy="3886200"/>
          </a:xfrm>
          <a:prstGeom prst="roundRect">
            <a:avLst>
              <a:gd name="adj" fmla="val 6000"/>
            </a:avLst>
          </a:prstGeom>
          <a:solidFill>
            <a:srgbClr val="004791"/>
          </a:solidFill>
          <a:ln>
            <a:noFill/>
          </a:ln>
          <a:effectLst/>
        </p:spPr>
        <p:style>
          <a:lnRef idx="1">
            <a:schemeClr val="accent1"/>
          </a:lnRef>
          <a:fillRef idx="3">
            <a:schemeClr val="accent1"/>
          </a:fillRef>
          <a:effectRef idx="2">
            <a:schemeClr val="accent1"/>
          </a:effectRef>
          <a:fontRef idx="minor">
            <a:schemeClr val="lt1"/>
          </a:fontRef>
        </p:style>
        <p:txBody>
          <a:bodyPr rtlCol="0" anchor="t" lIns="256032" rIns="256032" tIns="256032" bIns="256032" wrap="square"/>
          <a:lstStyle/>
          <a:p>
            <a:pPr algn="l">
              <a:lnSpc>
                <a:spcPct val="105000"/>
              </a:lnSpc>
              <a:spcAft>
                <a:spcPts val="1200"/>
              </a:spcAft>
            </a:pPr>
            <a:r>
              <a:rPr sz="2300" b="1" i="0">
                <a:solidFill>
                  <a:srgbClr val="FFFFFF"/>
                </a:solidFill>
              </a:rPr>
              <a:t>Statistics</a:t>
            </a:r>
          </a:p>
          <a:p>
            <a:pPr algn="l" marL="256032" indent="-256032">
              <a:lnSpc>
                <a:spcPct val="100000"/>
              </a:lnSpc>
              <a:spcAft>
                <a:spcPts val="800"/>
              </a:spcAft>
              <a:buFont typeface="Arial"/>
              <a:buChar char="•"/>
            </a:pPr>
            <a:r>
              <a:rPr sz="1800" b="0" i="0">
                <a:solidFill>
                  <a:srgbClr val="FFFFFF"/>
                </a:solidFill>
              </a:rPr>
              <a:t>Same 193 test questions for all routers, so tests are paired</a:t>
            </a:r>
          </a:p>
          <a:p>
            <a:pPr algn="l" marL="256032" indent="-256032">
              <a:lnSpc>
                <a:spcPct val="100000"/>
              </a:lnSpc>
              <a:spcAft>
                <a:spcPts val="800"/>
              </a:spcAft>
              <a:buFont typeface="Arial"/>
              <a:buChar char="•"/>
            </a:pPr>
            <a:r>
              <a:rPr sz="1800" b="0" i="0">
                <a:solidFill>
                  <a:srgbClr val="FFFFFF"/>
                </a:solidFill>
              </a:rPr>
              <a:t>Paired bootstrap 95% intervals</a:t>
            </a:r>
          </a:p>
          <a:p>
            <a:pPr algn="l" marL="256032" indent="-256032">
              <a:lnSpc>
                <a:spcPct val="100000"/>
              </a:lnSpc>
              <a:spcAft>
                <a:spcPts val="800"/>
              </a:spcAft>
              <a:buFont typeface="Arial"/>
              <a:buChar char="•"/>
            </a:pPr>
            <a:r>
              <a:rPr sz="1800" b="0" i="0">
                <a:solidFill>
                  <a:srgbClr val="FFFFFF"/>
                </a:solidFill>
              </a:rPr>
              <a:t>Permutation tests, McNemar</a:t>
            </a:r>
          </a:p>
          <a:p>
            <a:pPr algn="l" marL="256032" indent="-256032">
              <a:lnSpc>
                <a:spcPct val="100000"/>
              </a:lnSpc>
              <a:spcAft>
                <a:spcPts val="800"/>
              </a:spcAft>
              <a:buFont typeface="Arial"/>
              <a:buChar char="•"/>
            </a:pPr>
            <a:r>
              <a:rPr sz="1800" b="0" i="0">
                <a:solidFill>
                  <a:srgbClr val="FFFFFF"/>
                </a:solidFill>
              </a:rPr>
              <a:t>Holm correction (7 metrics)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Results</a:t>
            </a:r>
          </a:p>
        </p:txBody>
      </p:sp>
      <p:sp>
        <p:nvSpPr>
          <p:cNvPr id="3" name="Text Placeholder 2"/>
          <p:cNvSpPr>
            <a:spLocks noGrp="1"/>
          </p:cNvSpPr>
          <p:nvPr>
            <p:ph type="body" idx="1"/>
          </p:nvPr>
        </p:nvSpPr>
        <p:spPr/>
        <p:txBody>
          <a:bodyPr/>
          <a:lstStyle/>
          <a:p>
            <a:r>
              <a:t>Prediction (sub-question 1), then cost and risk (sub-question 2), then where the signal comes from</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03504" y="868680"/>
            <a:ext cx="10991088" cy="960120"/>
          </a:xfrm>
        </p:spPr>
        <p:txBody>
          <a:bodyPr anchor="t" wrap="square"/>
          <a:lstStyle/>
          <a:p>
            <a:pPr>
              <a:lnSpc>
                <a:spcPct val="95000"/>
              </a:lnSpc>
            </a:pPr>
            <a:r>
              <a:rPr sz="3000"/>
              <a:t>Both routers find Mix-needing questions far above chance, and ModernBERT is more precise</a:t>
            </a:r>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t>Adaptive Hybrid RAG  ·  Dante Wesslund  ·  KTH 2026</a:t>
            </a:r>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Picture 5" descr="Bar chart comparing TF-IDF and ModernBERT on AUPRC, AUROC, precision, recall, F1 and accuracy on the 193-question test set; precision and accuracy differences significant."/>
          <p:cNvPicPr>
            <a:picLocks noChangeAspect="1"/>
          </p:cNvPicPr>
          <p:nvPr/>
        </p:nvPicPr>
        <p:blipFill>
          <a:blip r:embed="rId2"/>
          <a:stretch>
            <a:fillRect/>
          </a:stretch>
        </p:blipFill>
        <p:spPr>
          <a:xfrm>
            <a:off x="603504" y="1965960"/>
            <a:ext cx="7863840" cy="4160520"/>
          </a:xfrm>
          <a:prstGeom prst="rect">
            <a:avLst/>
          </a:prstGeom>
        </p:spPr>
      </p:pic>
      <p:sp>
        <p:nvSpPr>
          <p:cNvPr id="7" name="Rounded Rectangle 6"/>
          <p:cNvSpPr/>
          <p:nvPr/>
        </p:nvSpPr>
        <p:spPr>
          <a:xfrm>
            <a:off x="8732520" y="2103120"/>
            <a:ext cx="2862072" cy="3931920"/>
          </a:xfrm>
          <a:prstGeom prst="roundRect">
            <a:avLst>
              <a:gd name="adj" fmla="val 6000"/>
            </a:avLst>
          </a:prstGeom>
          <a:solidFill>
            <a:srgbClr val="DEF0FF"/>
          </a:solidFill>
          <a:ln>
            <a:noFill/>
          </a:ln>
          <a:effectLst/>
        </p:spPr>
        <p:style>
          <a:lnRef idx="1">
            <a:schemeClr val="accent1"/>
          </a:lnRef>
          <a:fillRef idx="3">
            <a:schemeClr val="accent1"/>
          </a:fillRef>
          <a:effectRef idx="2">
            <a:schemeClr val="accent1"/>
          </a:effectRef>
          <a:fontRef idx="minor">
            <a:schemeClr val="lt1"/>
          </a:fontRef>
        </p:style>
        <p:txBody>
          <a:bodyPr rtlCol="0" anchor="t" lIns="228600" rIns="228600" tIns="228600" bIns="228600" wrap="square"/>
          <a:lstStyle/>
          <a:p>
            <a:pPr algn="l">
              <a:lnSpc>
                <a:spcPct val="105000"/>
              </a:lnSpc>
              <a:spcAft>
                <a:spcPts val="200"/>
              </a:spcAft>
            </a:pPr>
            <a:r>
              <a:rPr sz="1800" b="1" i="0">
                <a:solidFill>
                  <a:srgbClr val="000061"/>
                </a:solidFill>
              </a:rPr>
              <a:t>Chance level</a:t>
            </a:r>
          </a:p>
          <a:p>
            <a:pPr algn="l">
              <a:lnSpc>
                <a:spcPct val="105000"/>
              </a:lnSpc>
              <a:spcAft>
                <a:spcPts val="0"/>
              </a:spcAft>
            </a:pPr>
            <a:r>
              <a:rPr sz="1700" b="0" i="0">
                <a:solidFill>
                  <a:srgbClr val="323232"/>
                </a:solidFill>
              </a:rPr>
              <a:t>AUPRC 0.254</a:t>
            </a:r>
          </a:p>
          <a:p>
            <a:pPr algn="l">
              <a:lnSpc>
                <a:spcPct val="105000"/>
              </a:lnSpc>
              <a:spcAft>
                <a:spcPts val="1400"/>
              </a:spcAft>
            </a:pPr>
            <a:r>
              <a:rPr sz="1700" b="0" i="0">
                <a:solidFill>
                  <a:srgbClr val="323232"/>
                </a:solidFill>
              </a:rPr>
              <a:t>AUROC 0.5</a:t>
            </a:r>
          </a:p>
          <a:p>
            <a:pPr algn="l">
              <a:lnSpc>
                <a:spcPct val="105000"/>
              </a:lnSpc>
              <a:spcAft>
                <a:spcPts val="200"/>
              </a:spcAft>
            </a:pPr>
            <a:r>
              <a:rPr sz="1800" b="1" i="0">
                <a:solidFill>
                  <a:srgbClr val="000061"/>
                </a:solidFill>
              </a:rPr>
              <a:t>Significant (Holm) *</a:t>
            </a:r>
          </a:p>
          <a:p>
            <a:pPr algn="l">
              <a:lnSpc>
                <a:spcPct val="105000"/>
              </a:lnSpc>
              <a:spcAft>
                <a:spcPts val="1400"/>
              </a:spcAft>
            </a:pPr>
            <a:r>
              <a:rPr sz="1700" b="0" i="0">
                <a:solidFill>
                  <a:srgbClr val="323232"/>
                </a:solidFill>
              </a:rPr>
              <a:t>Precision, accuracy</a:t>
            </a:r>
          </a:p>
          <a:p>
            <a:pPr algn="l">
              <a:lnSpc>
                <a:spcPct val="105000"/>
              </a:lnSpc>
              <a:spcAft>
                <a:spcPts val="200"/>
              </a:spcAft>
            </a:pPr>
            <a:r>
              <a:rPr sz="1800" b="1" i="0">
                <a:solidFill>
                  <a:srgbClr val="000061"/>
                </a:solidFill>
              </a:rPr>
              <a:t>Recall is lower</a:t>
            </a:r>
          </a:p>
          <a:p>
            <a:pPr algn="l">
              <a:lnSpc>
                <a:spcPct val="105000"/>
              </a:lnSpc>
              <a:spcAft>
                <a:spcPts val="600"/>
              </a:spcAft>
            </a:pPr>
            <a:r>
              <a:rPr sz="1700" b="0" i="0">
                <a:solidFill>
                  <a:srgbClr val="323232"/>
                </a:solidFill>
              </a:rPr>
              <a:t>0.67 vs 0.78, not significant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03504" y="868680"/>
            <a:ext cx="10991088" cy="960120"/>
          </a:xfrm>
        </p:spPr>
        <p:txBody>
          <a:bodyPr anchor="t" wrap="square"/>
          <a:lstStyle/>
          <a:p>
            <a:pPr>
              <a:lnSpc>
                <a:spcPct val="95000"/>
              </a:lnSpc>
            </a:pPr>
            <a:r>
              <a:rPr sz="3000"/>
              <a:t>Paired tests: the precision and accuracy gains are significant; the ranking gains are not resolved</a:t>
            </a:r>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t>Adaptive Hybrid RAG  ·  Dante Wesslund  ·  KTH 2026</a:t>
            </a:r>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sp>
        <p:nvSpPr>
          <p:cNvPr id="6" name="TextBox 5"/>
          <p:cNvSpPr txBox="1"/>
          <p:nvPr/>
        </p:nvSpPr>
        <p:spPr>
          <a:xfrm>
            <a:off x="8375904" y="1874519"/>
            <a:ext cx="3291840" cy="320040"/>
          </a:xfrm>
          <a:prstGeom prst="rect">
            <a:avLst/>
          </a:prstGeom>
          <a:noFill/>
        </p:spPr>
        <p:txBody>
          <a:bodyPr wrap="square" anchor="t" lIns="0" rIns="0" tIns="0" bIns="0">
            <a:spAutoFit/>
          </a:bodyPr>
          <a:lstStyle/>
          <a:p>
            <a:pPr algn="l">
              <a:lnSpc>
                <a:spcPct val="105000"/>
              </a:lnSpc>
              <a:spcAft>
                <a:spcPts val="600"/>
              </a:spcAft>
            </a:pPr>
            <a:r>
              <a:rPr sz="1400" b="0" i="0">
                <a:solidFill>
                  <a:srgbClr val="595959"/>
                </a:solidFill>
              </a:rPr>
              <a:t>difference  [95% interval]       Holm p</a:t>
            </a:r>
          </a:p>
        </p:txBody>
      </p:sp>
      <p:sp>
        <p:nvSpPr>
          <p:cNvPr id="7" name="TextBox 6"/>
          <p:cNvSpPr txBox="1"/>
          <p:nvPr/>
        </p:nvSpPr>
        <p:spPr>
          <a:xfrm>
            <a:off x="603504" y="2267712"/>
            <a:ext cx="2240280" cy="384048"/>
          </a:xfrm>
          <a:prstGeom prst="rect">
            <a:avLst/>
          </a:prstGeom>
          <a:noFill/>
        </p:spPr>
        <p:txBody>
          <a:bodyPr wrap="square" anchor="t" lIns="0" rIns="0" tIns="0" bIns="0">
            <a:spAutoFit/>
          </a:bodyPr>
          <a:lstStyle/>
          <a:p>
            <a:pPr algn="l">
              <a:lnSpc>
                <a:spcPct val="105000"/>
              </a:lnSpc>
              <a:spcAft>
                <a:spcPts val="600"/>
              </a:spcAft>
            </a:pPr>
            <a:r>
              <a:rPr sz="1800" b="1" i="0">
                <a:solidFill>
                  <a:srgbClr val="000061"/>
                </a:solidFill>
              </a:rPr>
              <a:t>Precision</a:t>
            </a:r>
          </a:p>
        </p:txBody>
      </p:sp>
      <p:cxnSp>
        <p:nvCxnSpPr>
          <p:cNvPr id="8" name="Connector 7"/>
          <p:cNvCxnSpPr/>
          <p:nvPr/>
        </p:nvCxnSpPr>
        <p:spPr>
          <a:xfrm>
            <a:off x="6132336" y="2468880"/>
            <a:ext cx="1732075" cy="0"/>
          </a:xfrm>
          <a:prstGeom prst="line">
            <a:avLst/>
          </a:prstGeom>
          <a:ln w="44450">
            <a:solidFill>
              <a:srgbClr val="004791"/>
            </a:solidFill>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6853512" y="2368296"/>
            <a:ext cx="201168" cy="201168"/>
          </a:xfrm>
          <a:prstGeom prst="ellipse">
            <a:avLst/>
          </a:prstGeom>
          <a:solidFill>
            <a:srgbClr val="0047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75904" y="2267712"/>
            <a:ext cx="2377440" cy="384048"/>
          </a:xfrm>
          <a:prstGeom prst="rect">
            <a:avLst/>
          </a:prstGeom>
          <a:noFill/>
        </p:spPr>
        <p:txBody>
          <a:bodyPr wrap="square" anchor="t" lIns="0" rIns="0" tIns="0" bIns="0">
            <a:spAutoFit/>
          </a:bodyPr>
          <a:lstStyle/>
          <a:p>
            <a:pPr algn="l">
              <a:lnSpc>
                <a:spcPct val="105000"/>
              </a:lnSpc>
              <a:spcAft>
                <a:spcPts val="600"/>
              </a:spcAft>
            </a:pPr>
            <a:r>
              <a:rPr sz="1500" b="1" i="0">
                <a:solidFill>
                  <a:srgbClr val="000061"/>
                </a:solidFill>
              </a:rPr>
              <a:t>+0.209  [+0.115, +0.312]</a:t>
            </a:r>
          </a:p>
        </p:txBody>
      </p:sp>
      <p:sp>
        <p:nvSpPr>
          <p:cNvPr id="11" name="TextBox 10"/>
          <p:cNvSpPr txBox="1"/>
          <p:nvPr/>
        </p:nvSpPr>
        <p:spPr>
          <a:xfrm>
            <a:off x="10753344" y="2267712"/>
            <a:ext cx="868680" cy="384048"/>
          </a:xfrm>
          <a:prstGeom prst="rect">
            <a:avLst/>
          </a:prstGeom>
          <a:noFill/>
        </p:spPr>
        <p:txBody>
          <a:bodyPr wrap="square" anchor="t" lIns="0" rIns="0" tIns="0" bIns="0">
            <a:spAutoFit/>
          </a:bodyPr>
          <a:lstStyle/>
          <a:p>
            <a:pPr algn="l">
              <a:lnSpc>
                <a:spcPct val="105000"/>
              </a:lnSpc>
              <a:spcAft>
                <a:spcPts val="600"/>
              </a:spcAft>
            </a:pPr>
            <a:r>
              <a:rPr sz="1500" b="1" i="0">
                <a:solidFill>
                  <a:srgbClr val="000061"/>
                </a:solidFill>
              </a:rPr>
              <a:t>&lt;0.001</a:t>
            </a:r>
          </a:p>
        </p:txBody>
      </p:sp>
      <p:sp>
        <p:nvSpPr>
          <p:cNvPr id="12" name="TextBox 11"/>
          <p:cNvSpPr txBox="1"/>
          <p:nvPr/>
        </p:nvSpPr>
        <p:spPr>
          <a:xfrm>
            <a:off x="603504" y="2683764"/>
            <a:ext cx="2240280" cy="384048"/>
          </a:xfrm>
          <a:prstGeom prst="rect">
            <a:avLst/>
          </a:prstGeom>
          <a:noFill/>
        </p:spPr>
        <p:txBody>
          <a:bodyPr wrap="square" anchor="t" lIns="0" rIns="0" tIns="0" bIns="0">
            <a:spAutoFit/>
          </a:bodyPr>
          <a:lstStyle/>
          <a:p>
            <a:pPr algn="l">
              <a:lnSpc>
                <a:spcPct val="105000"/>
              </a:lnSpc>
              <a:spcAft>
                <a:spcPts val="600"/>
              </a:spcAft>
            </a:pPr>
            <a:r>
              <a:rPr sz="1800" b="1" i="0">
                <a:solidFill>
                  <a:srgbClr val="000061"/>
                </a:solidFill>
              </a:rPr>
              <a:t>Accuracy</a:t>
            </a:r>
          </a:p>
        </p:txBody>
      </p:sp>
      <p:cxnSp>
        <p:nvCxnSpPr>
          <p:cNvPr id="13" name="Connector 12"/>
          <p:cNvCxnSpPr/>
          <p:nvPr/>
        </p:nvCxnSpPr>
        <p:spPr>
          <a:xfrm>
            <a:off x="5352994" y="2884932"/>
            <a:ext cx="908083" cy="0"/>
          </a:xfrm>
          <a:prstGeom prst="line">
            <a:avLst/>
          </a:prstGeom>
          <a:ln w="44450">
            <a:solidFill>
              <a:srgbClr val="004791"/>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5706452" y="2784348"/>
            <a:ext cx="201168" cy="201168"/>
          </a:xfrm>
          <a:prstGeom prst="ellipse">
            <a:avLst/>
          </a:prstGeom>
          <a:solidFill>
            <a:srgbClr val="0047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75904" y="2683764"/>
            <a:ext cx="2377440" cy="384048"/>
          </a:xfrm>
          <a:prstGeom prst="rect">
            <a:avLst/>
          </a:prstGeom>
          <a:noFill/>
        </p:spPr>
        <p:txBody>
          <a:bodyPr wrap="square" anchor="t" lIns="0" rIns="0" tIns="0" bIns="0">
            <a:spAutoFit/>
          </a:bodyPr>
          <a:lstStyle/>
          <a:p>
            <a:pPr algn="l">
              <a:lnSpc>
                <a:spcPct val="105000"/>
              </a:lnSpc>
              <a:spcAft>
                <a:spcPts val="600"/>
              </a:spcAft>
            </a:pPr>
            <a:r>
              <a:rPr sz="1500" b="1" i="0">
                <a:solidFill>
                  <a:srgbClr val="000061"/>
                </a:solidFill>
              </a:rPr>
              <a:t>+0.078  [+0.026, +0.130]</a:t>
            </a:r>
          </a:p>
        </p:txBody>
      </p:sp>
      <p:sp>
        <p:nvSpPr>
          <p:cNvPr id="16" name="TextBox 15"/>
          <p:cNvSpPr txBox="1"/>
          <p:nvPr/>
        </p:nvSpPr>
        <p:spPr>
          <a:xfrm>
            <a:off x="10753344" y="2683764"/>
            <a:ext cx="868680" cy="384048"/>
          </a:xfrm>
          <a:prstGeom prst="rect">
            <a:avLst/>
          </a:prstGeom>
          <a:noFill/>
        </p:spPr>
        <p:txBody>
          <a:bodyPr wrap="square" anchor="t" lIns="0" rIns="0" tIns="0" bIns="0">
            <a:spAutoFit/>
          </a:bodyPr>
          <a:lstStyle/>
          <a:p>
            <a:pPr algn="l">
              <a:lnSpc>
                <a:spcPct val="105000"/>
              </a:lnSpc>
              <a:spcAft>
                <a:spcPts val="600"/>
              </a:spcAft>
            </a:pPr>
            <a:r>
              <a:rPr sz="1500" b="1" i="0">
                <a:solidFill>
                  <a:srgbClr val="000061"/>
                </a:solidFill>
              </a:rPr>
              <a:t>0.035</a:t>
            </a:r>
          </a:p>
        </p:txBody>
      </p:sp>
      <p:sp>
        <p:nvSpPr>
          <p:cNvPr id="17" name="TextBox 16"/>
          <p:cNvSpPr txBox="1"/>
          <p:nvPr/>
        </p:nvSpPr>
        <p:spPr>
          <a:xfrm>
            <a:off x="603504" y="3099816"/>
            <a:ext cx="2240280" cy="384048"/>
          </a:xfrm>
          <a:prstGeom prst="rect">
            <a:avLst/>
          </a:prstGeom>
          <a:noFill/>
        </p:spPr>
        <p:txBody>
          <a:bodyPr wrap="square" anchor="t" lIns="0" rIns="0" tIns="0" bIns="0">
            <a:spAutoFit/>
          </a:bodyPr>
          <a:lstStyle/>
          <a:p>
            <a:pPr algn="l">
              <a:lnSpc>
                <a:spcPct val="105000"/>
              </a:lnSpc>
              <a:spcAft>
                <a:spcPts val="600"/>
              </a:spcAft>
            </a:pPr>
            <a:r>
              <a:rPr sz="1800" b="0" i="0">
                <a:solidFill>
                  <a:srgbClr val="323232"/>
                </a:solidFill>
              </a:rPr>
              <a:t>F1</a:t>
            </a:r>
          </a:p>
        </p:txBody>
      </p:sp>
      <p:cxnSp>
        <p:nvCxnSpPr>
          <p:cNvPr id="18" name="Connector 17"/>
          <p:cNvCxnSpPr/>
          <p:nvPr/>
        </p:nvCxnSpPr>
        <p:spPr>
          <a:xfrm>
            <a:off x="4929604" y="3300984"/>
            <a:ext cx="1558251" cy="0"/>
          </a:xfrm>
          <a:prstGeom prst="line">
            <a:avLst/>
          </a:prstGeom>
          <a:ln w="31750">
            <a:solidFill>
              <a:srgbClr val="A5A5A5"/>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5619684" y="3200400"/>
            <a:ext cx="201168" cy="201168"/>
          </a:xfrm>
          <a:prstGeom prst="ellipse">
            <a:avLst/>
          </a:prstGeom>
          <a:solidFill>
            <a:srgbClr val="FFFFFF"/>
          </a:solidFill>
          <a:ln w="25400">
            <a:solidFill>
              <a:srgbClr val="A5A5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75904" y="3099816"/>
            <a:ext cx="2377440" cy="384048"/>
          </a:xfrm>
          <a:prstGeom prst="rect">
            <a:avLst/>
          </a:prstGeom>
          <a:noFill/>
        </p:spPr>
        <p:txBody>
          <a:bodyPr wrap="square" anchor="t" lIns="0" rIns="0" tIns="0" bIns="0">
            <a:spAutoFit/>
          </a:bodyPr>
          <a:lstStyle/>
          <a:p>
            <a:pPr algn="l">
              <a:lnSpc>
                <a:spcPct val="105000"/>
              </a:lnSpc>
              <a:spcAft>
                <a:spcPts val="600"/>
              </a:spcAft>
            </a:pPr>
            <a:r>
              <a:rPr sz="1500" b="0" i="0">
                <a:solidFill>
                  <a:srgbClr val="323232"/>
                </a:solidFill>
              </a:rPr>
              <a:t>+0.068  [−0.022, +0.155]</a:t>
            </a:r>
          </a:p>
        </p:txBody>
      </p:sp>
      <p:sp>
        <p:nvSpPr>
          <p:cNvPr id="21" name="TextBox 20"/>
          <p:cNvSpPr txBox="1"/>
          <p:nvPr/>
        </p:nvSpPr>
        <p:spPr>
          <a:xfrm>
            <a:off x="10753344" y="3099816"/>
            <a:ext cx="868680" cy="384048"/>
          </a:xfrm>
          <a:prstGeom prst="rect">
            <a:avLst/>
          </a:prstGeom>
          <a:noFill/>
        </p:spPr>
        <p:txBody>
          <a:bodyPr wrap="square" anchor="t" lIns="0" rIns="0" tIns="0" bIns="0">
            <a:spAutoFit/>
          </a:bodyPr>
          <a:lstStyle/>
          <a:p>
            <a:pPr algn="l">
              <a:lnSpc>
                <a:spcPct val="105000"/>
              </a:lnSpc>
              <a:spcAft>
                <a:spcPts val="600"/>
              </a:spcAft>
            </a:pPr>
            <a:r>
              <a:rPr sz="1500" b="0" i="0">
                <a:solidFill>
                  <a:srgbClr val="323232"/>
                </a:solidFill>
              </a:rPr>
              <a:t>0.56</a:t>
            </a:r>
          </a:p>
        </p:txBody>
      </p:sp>
      <p:sp>
        <p:nvSpPr>
          <p:cNvPr id="22" name="TextBox 21"/>
          <p:cNvSpPr txBox="1"/>
          <p:nvPr/>
        </p:nvSpPr>
        <p:spPr>
          <a:xfrm>
            <a:off x="603504" y="3515868"/>
            <a:ext cx="2240280" cy="384048"/>
          </a:xfrm>
          <a:prstGeom prst="rect">
            <a:avLst/>
          </a:prstGeom>
          <a:noFill/>
        </p:spPr>
        <p:txBody>
          <a:bodyPr wrap="square" anchor="t" lIns="0" rIns="0" tIns="0" bIns="0">
            <a:spAutoFit/>
          </a:bodyPr>
          <a:lstStyle/>
          <a:p>
            <a:pPr algn="l">
              <a:lnSpc>
                <a:spcPct val="105000"/>
              </a:lnSpc>
              <a:spcAft>
                <a:spcPts val="600"/>
              </a:spcAft>
            </a:pPr>
            <a:r>
              <a:rPr sz="1800" b="0" i="0">
                <a:solidFill>
                  <a:srgbClr val="323232"/>
                </a:solidFill>
              </a:rPr>
              <a:t>AUPRC</a:t>
            </a:r>
          </a:p>
        </p:txBody>
      </p:sp>
      <p:cxnSp>
        <p:nvCxnSpPr>
          <p:cNvPr id="23" name="Connector 22"/>
          <p:cNvCxnSpPr/>
          <p:nvPr/>
        </p:nvCxnSpPr>
        <p:spPr>
          <a:xfrm>
            <a:off x="4664269" y="3717036"/>
            <a:ext cx="1382838" cy="0"/>
          </a:xfrm>
          <a:prstGeom prst="line">
            <a:avLst/>
          </a:prstGeom>
          <a:ln w="31750">
            <a:solidFill>
              <a:srgbClr val="A5A5A5"/>
            </a:solidFill>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5263370" y="3616452"/>
            <a:ext cx="201168" cy="201168"/>
          </a:xfrm>
          <a:prstGeom prst="ellipse">
            <a:avLst/>
          </a:prstGeom>
          <a:solidFill>
            <a:srgbClr val="FFFFFF"/>
          </a:solidFill>
          <a:ln w="25400">
            <a:solidFill>
              <a:srgbClr val="A5A5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75904" y="3515868"/>
            <a:ext cx="2377440" cy="384048"/>
          </a:xfrm>
          <a:prstGeom prst="rect">
            <a:avLst/>
          </a:prstGeom>
          <a:noFill/>
        </p:spPr>
        <p:txBody>
          <a:bodyPr wrap="square" anchor="t" lIns="0" rIns="0" tIns="0" bIns="0">
            <a:spAutoFit/>
          </a:bodyPr>
          <a:lstStyle/>
          <a:p>
            <a:pPr algn="l">
              <a:lnSpc>
                <a:spcPct val="105000"/>
              </a:lnSpc>
              <a:spcAft>
                <a:spcPts val="600"/>
              </a:spcAft>
            </a:pPr>
            <a:r>
              <a:rPr sz="1500" b="0" i="0">
                <a:solidFill>
                  <a:srgbClr val="323232"/>
                </a:solidFill>
              </a:rPr>
              <a:t>+0.027  [−0.053, +0.105]</a:t>
            </a:r>
          </a:p>
        </p:txBody>
      </p:sp>
      <p:sp>
        <p:nvSpPr>
          <p:cNvPr id="26" name="TextBox 25"/>
          <p:cNvSpPr txBox="1"/>
          <p:nvPr/>
        </p:nvSpPr>
        <p:spPr>
          <a:xfrm>
            <a:off x="10753344" y="3515868"/>
            <a:ext cx="868680" cy="384048"/>
          </a:xfrm>
          <a:prstGeom prst="rect">
            <a:avLst/>
          </a:prstGeom>
          <a:noFill/>
        </p:spPr>
        <p:txBody>
          <a:bodyPr wrap="square" anchor="t" lIns="0" rIns="0" tIns="0" bIns="0">
            <a:spAutoFit/>
          </a:bodyPr>
          <a:lstStyle/>
          <a:p>
            <a:pPr algn="l">
              <a:lnSpc>
                <a:spcPct val="105000"/>
              </a:lnSpc>
              <a:spcAft>
                <a:spcPts val="600"/>
              </a:spcAft>
            </a:pPr>
            <a:r>
              <a:rPr sz="1500" b="0" i="0">
                <a:solidFill>
                  <a:srgbClr val="323232"/>
                </a:solidFill>
              </a:rPr>
              <a:t>1.00</a:t>
            </a:r>
          </a:p>
        </p:txBody>
      </p:sp>
      <p:sp>
        <p:nvSpPr>
          <p:cNvPr id="27" name="TextBox 26"/>
          <p:cNvSpPr txBox="1"/>
          <p:nvPr/>
        </p:nvSpPr>
        <p:spPr>
          <a:xfrm>
            <a:off x="603504" y="3931920"/>
            <a:ext cx="2240280" cy="384048"/>
          </a:xfrm>
          <a:prstGeom prst="rect">
            <a:avLst/>
          </a:prstGeom>
          <a:noFill/>
        </p:spPr>
        <p:txBody>
          <a:bodyPr wrap="square" anchor="t" lIns="0" rIns="0" tIns="0" bIns="0">
            <a:spAutoFit/>
          </a:bodyPr>
          <a:lstStyle/>
          <a:p>
            <a:pPr algn="l">
              <a:lnSpc>
                <a:spcPct val="105000"/>
              </a:lnSpc>
              <a:spcAft>
                <a:spcPts val="600"/>
              </a:spcAft>
            </a:pPr>
            <a:r>
              <a:rPr sz="1800" b="0" i="0">
                <a:solidFill>
                  <a:srgbClr val="323232"/>
                </a:solidFill>
              </a:rPr>
              <a:t>AUROC</a:t>
            </a:r>
          </a:p>
        </p:txBody>
      </p:sp>
      <p:cxnSp>
        <p:nvCxnSpPr>
          <p:cNvPr id="28" name="Connector 27"/>
          <p:cNvCxnSpPr/>
          <p:nvPr/>
        </p:nvCxnSpPr>
        <p:spPr>
          <a:xfrm>
            <a:off x="5051206" y="4133088"/>
            <a:ext cx="483523" cy="0"/>
          </a:xfrm>
          <a:prstGeom prst="line">
            <a:avLst/>
          </a:prstGeom>
          <a:ln w="31750">
            <a:solidFill>
              <a:srgbClr val="A5A5A5"/>
            </a:solidFill>
          </a:ln>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5187460" y="4032504"/>
            <a:ext cx="201168" cy="201168"/>
          </a:xfrm>
          <a:prstGeom prst="ellipse">
            <a:avLst/>
          </a:prstGeom>
          <a:solidFill>
            <a:srgbClr val="FFFFFF"/>
          </a:solidFill>
          <a:ln w="25400">
            <a:solidFill>
              <a:srgbClr val="A5A5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75904" y="3931920"/>
            <a:ext cx="2377440" cy="384048"/>
          </a:xfrm>
          <a:prstGeom prst="rect">
            <a:avLst/>
          </a:prstGeom>
          <a:noFill/>
        </p:spPr>
        <p:txBody>
          <a:bodyPr wrap="square" anchor="t" lIns="0" rIns="0" tIns="0" bIns="0">
            <a:spAutoFit/>
          </a:bodyPr>
          <a:lstStyle/>
          <a:p>
            <a:pPr algn="l">
              <a:lnSpc>
                <a:spcPct val="105000"/>
              </a:lnSpc>
              <a:spcAft>
                <a:spcPts val="600"/>
              </a:spcAft>
            </a:pPr>
            <a:r>
              <a:rPr sz="1500" b="0" i="0">
                <a:solidFill>
                  <a:srgbClr val="323232"/>
                </a:solidFill>
              </a:rPr>
              <a:t>+0.018  [−0.009, +0.047]</a:t>
            </a:r>
          </a:p>
        </p:txBody>
      </p:sp>
      <p:sp>
        <p:nvSpPr>
          <p:cNvPr id="31" name="TextBox 30"/>
          <p:cNvSpPr txBox="1"/>
          <p:nvPr/>
        </p:nvSpPr>
        <p:spPr>
          <a:xfrm>
            <a:off x="10753344" y="3931920"/>
            <a:ext cx="868680" cy="384048"/>
          </a:xfrm>
          <a:prstGeom prst="rect">
            <a:avLst/>
          </a:prstGeom>
          <a:noFill/>
        </p:spPr>
        <p:txBody>
          <a:bodyPr wrap="square" anchor="t" lIns="0" rIns="0" tIns="0" bIns="0">
            <a:spAutoFit/>
          </a:bodyPr>
          <a:lstStyle/>
          <a:p>
            <a:pPr algn="l">
              <a:lnSpc>
                <a:spcPct val="105000"/>
              </a:lnSpc>
              <a:spcAft>
                <a:spcPts val="600"/>
              </a:spcAft>
            </a:pPr>
            <a:r>
              <a:rPr sz="1500" b="0" i="0">
                <a:solidFill>
                  <a:srgbClr val="323232"/>
                </a:solidFill>
              </a:rPr>
              <a:t>0.56</a:t>
            </a:r>
          </a:p>
        </p:txBody>
      </p:sp>
      <p:sp>
        <p:nvSpPr>
          <p:cNvPr id="32" name="TextBox 31"/>
          <p:cNvSpPr txBox="1"/>
          <p:nvPr/>
        </p:nvSpPr>
        <p:spPr>
          <a:xfrm>
            <a:off x="603504" y="4347972"/>
            <a:ext cx="2240280" cy="384048"/>
          </a:xfrm>
          <a:prstGeom prst="rect">
            <a:avLst/>
          </a:prstGeom>
          <a:noFill/>
        </p:spPr>
        <p:txBody>
          <a:bodyPr wrap="square" anchor="t" lIns="0" rIns="0" tIns="0" bIns="0">
            <a:spAutoFit/>
          </a:bodyPr>
          <a:lstStyle/>
          <a:p>
            <a:pPr algn="l">
              <a:lnSpc>
                <a:spcPct val="105000"/>
              </a:lnSpc>
              <a:spcAft>
                <a:spcPts val="600"/>
              </a:spcAft>
            </a:pPr>
            <a:r>
              <a:rPr sz="1800" b="0" i="0">
                <a:solidFill>
                  <a:srgbClr val="323232"/>
                </a:solidFill>
              </a:rPr>
              <a:t>Balanced accuracy</a:t>
            </a:r>
          </a:p>
        </p:txBody>
      </p:sp>
      <p:cxnSp>
        <p:nvCxnSpPr>
          <p:cNvPr id="33" name="Connector 32"/>
          <p:cNvCxnSpPr/>
          <p:nvPr/>
        </p:nvCxnSpPr>
        <p:spPr>
          <a:xfrm>
            <a:off x="4749036" y="4549140"/>
            <a:ext cx="1038216" cy="0"/>
          </a:xfrm>
          <a:prstGeom prst="line">
            <a:avLst/>
          </a:prstGeom>
          <a:ln w="31750">
            <a:solidFill>
              <a:srgbClr val="A5A5A5"/>
            </a:solidFill>
          </a:ln>
        </p:spPr>
        <p:style>
          <a:lnRef idx="2">
            <a:schemeClr val="accent1"/>
          </a:lnRef>
          <a:fillRef idx="0">
            <a:schemeClr val="accent1"/>
          </a:fillRef>
          <a:effectRef idx="1">
            <a:schemeClr val="accent1"/>
          </a:effectRef>
          <a:fontRef idx="minor">
            <a:schemeClr val="tx1"/>
          </a:fontRef>
        </p:style>
      </p:cxnSp>
      <p:sp>
        <p:nvSpPr>
          <p:cNvPr id="34" name="Oval 33"/>
          <p:cNvSpPr/>
          <p:nvPr/>
        </p:nvSpPr>
        <p:spPr>
          <a:xfrm>
            <a:off x="5186839" y="4448556"/>
            <a:ext cx="201168" cy="201168"/>
          </a:xfrm>
          <a:prstGeom prst="ellipse">
            <a:avLst/>
          </a:prstGeom>
          <a:solidFill>
            <a:srgbClr val="FFFFFF"/>
          </a:solidFill>
          <a:ln w="25400">
            <a:solidFill>
              <a:srgbClr val="A5A5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75904" y="4347972"/>
            <a:ext cx="2377440" cy="384048"/>
          </a:xfrm>
          <a:prstGeom prst="rect">
            <a:avLst/>
          </a:prstGeom>
          <a:noFill/>
        </p:spPr>
        <p:txBody>
          <a:bodyPr wrap="square" anchor="t" lIns="0" rIns="0" tIns="0" bIns="0">
            <a:spAutoFit/>
          </a:bodyPr>
          <a:lstStyle/>
          <a:p>
            <a:pPr algn="l">
              <a:lnSpc>
                <a:spcPct val="105000"/>
              </a:lnSpc>
              <a:spcAft>
                <a:spcPts val="600"/>
              </a:spcAft>
            </a:pPr>
            <a:r>
              <a:rPr sz="1500" b="0" i="0">
                <a:solidFill>
                  <a:srgbClr val="323232"/>
                </a:solidFill>
              </a:rPr>
              <a:t>+0.018  [−0.043, +0.075]</a:t>
            </a:r>
          </a:p>
        </p:txBody>
      </p:sp>
      <p:sp>
        <p:nvSpPr>
          <p:cNvPr id="36" name="TextBox 35"/>
          <p:cNvSpPr txBox="1"/>
          <p:nvPr/>
        </p:nvSpPr>
        <p:spPr>
          <a:xfrm>
            <a:off x="10753344" y="4347972"/>
            <a:ext cx="868680" cy="384048"/>
          </a:xfrm>
          <a:prstGeom prst="rect">
            <a:avLst/>
          </a:prstGeom>
          <a:noFill/>
        </p:spPr>
        <p:txBody>
          <a:bodyPr wrap="square" anchor="t" lIns="0" rIns="0" tIns="0" bIns="0">
            <a:spAutoFit/>
          </a:bodyPr>
          <a:lstStyle/>
          <a:p>
            <a:pPr algn="l">
              <a:lnSpc>
                <a:spcPct val="105000"/>
              </a:lnSpc>
              <a:spcAft>
                <a:spcPts val="600"/>
              </a:spcAft>
            </a:pPr>
            <a:r>
              <a:rPr sz="1500" b="0" i="0">
                <a:solidFill>
                  <a:srgbClr val="323232"/>
                </a:solidFill>
              </a:rPr>
              <a:t>1.00</a:t>
            </a:r>
          </a:p>
        </p:txBody>
      </p:sp>
      <p:sp>
        <p:nvSpPr>
          <p:cNvPr id="37" name="TextBox 36"/>
          <p:cNvSpPr txBox="1"/>
          <p:nvPr/>
        </p:nvSpPr>
        <p:spPr>
          <a:xfrm>
            <a:off x="603504" y="4764024"/>
            <a:ext cx="2240280" cy="384048"/>
          </a:xfrm>
          <a:prstGeom prst="rect">
            <a:avLst/>
          </a:prstGeom>
          <a:noFill/>
        </p:spPr>
        <p:txBody>
          <a:bodyPr wrap="square" anchor="t" lIns="0" rIns="0" tIns="0" bIns="0">
            <a:spAutoFit/>
          </a:bodyPr>
          <a:lstStyle/>
          <a:p>
            <a:pPr algn="l">
              <a:lnSpc>
                <a:spcPct val="105000"/>
              </a:lnSpc>
              <a:spcAft>
                <a:spcPts val="600"/>
              </a:spcAft>
            </a:pPr>
            <a:r>
              <a:rPr sz="1800" b="0" i="0">
                <a:solidFill>
                  <a:srgbClr val="323232"/>
                </a:solidFill>
              </a:rPr>
              <a:t>Recall</a:t>
            </a:r>
          </a:p>
        </p:txBody>
      </p:sp>
      <p:cxnSp>
        <p:nvCxnSpPr>
          <p:cNvPr id="38" name="Connector 37"/>
          <p:cNvCxnSpPr/>
          <p:nvPr/>
        </p:nvCxnSpPr>
        <p:spPr>
          <a:xfrm>
            <a:off x="3272262" y="4965192"/>
            <a:ext cx="1853712" cy="0"/>
          </a:xfrm>
          <a:prstGeom prst="line">
            <a:avLst/>
          </a:prstGeom>
          <a:ln w="31750">
            <a:solidFill>
              <a:srgbClr val="A5A5A5"/>
            </a:solidFill>
          </a:ln>
        </p:spPr>
        <p:style>
          <a:lnRef idx="2">
            <a:schemeClr val="accent1"/>
          </a:lnRef>
          <a:fillRef idx="0">
            <a:schemeClr val="accent1"/>
          </a:fillRef>
          <a:effectRef idx="1">
            <a:schemeClr val="accent1"/>
          </a:effectRef>
          <a:fontRef idx="minor">
            <a:schemeClr val="tx1"/>
          </a:fontRef>
        </p:style>
      </p:cxnSp>
      <p:sp>
        <p:nvSpPr>
          <p:cNvPr id="39" name="Oval 38"/>
          <p:cNvSpPr/>
          <p:nvPr/>
        </p:nvSpPr>
        <p:spPr>
          <a:xfrm>
            <a:off x="4131206" y="4864608"/>
            <a:ext cx="201168" cy="201168"/>
          </a:xfrm>
          <a:prstGeom prst="ellipse">
            <a:avLst/>
          </a:prstGeom>
          <a:solidFill>
            <a:srgbClr val="FFFFFF"/>
          </a:solidFill>
          <a:ln w="25400">
            <a:solidFill>
              <a:srgbClr val="A5A5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375904" y="4764024"/>
            <a:ext cx="2377440" cy="384048"/>
          </a:xfrm>
          <a:prstGeom prst="rect">
            <a:avLst/>
          </a:prstGeom>
          <a:noFill/>
        </p:spPr>
        <p:txBody>
          <a:bodyPr wrap="square" anchor="t" lIns="0" rIns="0" tIns="0" bIns="0">
            <a:spAutoFit/>
          </a:bodyPr>
          <a:lstStyle/>
          <a:p>
            <a:pPr algn="l">
              <a:lnSpc>
                <a:spcPct val="105000"/>
              </a:lnSpc>
              <a:spcAft>
                <a:spcPts val="600"/>
              </a:spcAft>
            </a:pPr>
            <a:r>
              <a:rPr sz="1500" b="0" i="0">
                <a:solidFill>
                  <a:srgbClr val="323232"/>
                </a:solidFill>
              </a:rPr>
              <a:t>−0.102  [−0.212, +0.000]</a:t>
            </a:r>
          </a:p>
        </p:txBody>
      </p:sp>
      <p:sp>
        <p:nvSpPr>
          <p:cNvPr id="41" name="TextBox 40"/>
          <p:cNvSpPr txBox="1"/>
          <p:nvPr/>
        </p:nvSpPr>
        <p:spPr>
          <a:xfrm>
            <a:off x="10753344" y="4764024"/>
            <a:ext cx="868680" cy="384048"/>
          </a:xfrm>
          <a:prstGeom prst="rect">
            <a:avLst/>
          </a:prstGeom>
          <a:noFill/>
        </p:spPr>
        <p:txBody>
          <a:bodyPr wrap="square" anchor="t" lIns="0" rIns="0" tIns="0" bIns="0">
            <a:spAutoFit/>
          </a:bodyPr>
          <a:lstStyle/>
          <a:p>
            <a:pPr algn="l">
              <a:lnSpc>
                <a:spcPct val="105000"/>
              </a:lnSpc>
              <a:spcAft>
                <a:spcPts val="600"/>
              </a:spcAft>
            </a:pPr>
            <a:r>
              <a:rPr sz="1500" b="0" i="0">
                <a:solidFill>
                  <a:srgbClr val="323232"/>
                </a:solidFill>
              </a:rPr>
              <a:t>0.56</a:t>
            </a:r>
          </a:p>
        </p:txBody>
      </p:sp>
      <p:cxnSp>
        <p:nvCxnSpPr>
          <p:cNvPr id="42" name="Connector 41"/>
          <p:cNvCxnSpPr/>
          <p:nvPr/>
        </p:nvCxnSpPr>
        <p:spPr>
          <a:xfrm>
            <a:off x="5125974" y="2148840"/>
            <a:ext cx="0" cy="3095244"/>
          </a:xfrm>
          <a:prstGeom prst="line">
            <a:avLst/>
          </a:prstGeom>
          <a:ln w="15875">
            <a:solidFill>
              <a:srgbClr val="323232"/>
            </a:solidFill>
            <a:prstDash val="dash"/>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2935224" y="5244084"/>
            <a:ext cx="5257800" cy="0"/>
          </a:xfrm>
          <a:prstGeom prst="line">
            <a:avLst/>
          </a:prstGeom>
          <a:ln w="12700">
            <a:solidFill>
              <a:srgbClr val="A5A5A5"/>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3007614" y="5289804"/>
            <a:ext cx="731520" cy="274320"/>
          </a:xfrm>
          <a:prstGeom prst="rect">
            <a:avLst/>
          </a:prstGeom>
          <a:noFill/>
        </p:spPr>
        <p:txBody>
          <a:bodyPr wrap="square" anchor="t" lIns="0" rIns="0" tIns="0" bIns="0">
            <a:spAutoFit/>
          </a:bodyPr>
          <a:lstStyle/>
          <a:p>
            <a:pPr algn="ctr">
              <a:lnSpc>
                <a:spcPct val="105000"/>
              </a:lnSpc>
              <a:spcAft>
                <a:spcPts val="600"/>
              </a:spcAft>
            </a:pPr>
            <a:r>
              <a:rPr sz="1300" b="0" i="0">
                <a:solidFill>
                  <a:srgbClr val="595959"/>
                </a:solidFill>
              </a:rPr>
              <a:t>−0.2</a:t>
            </a:r>
          </a:p>
        </p:txBody>
      </p:sp>
      <p:sp>
        <p:nvSpPr>
          <p:cNvPr id="45" name="TextBox 44"/>
          <p:cNvSpPr txBox="1"/>
          <p:nvPr/>
        </p:nvSpPr>
        <p:spPr>
          <a:xfrm>
            <a:off x="3883913" y="5289804"/>
            <a:ext cx="731520" cy="274320"/>
          </a:xfrm>
          <a:prstGeom prst="rect">
            <a:avLst/>
          </a:prstGeom>
          <a:noFill/>
        </p:spPr>
        <p:txBody>
          <a:bodyPr wrap="square" anchor="t" lIns="0" rIns="0" tIns="0" bIns="0">
            <a:spAutoFit/>
          </a:bodyPr>
          <a:lstStyle/>
          <a:p>
            <a:pPr algn="ctr">
              <a:lnSpc>
                <a:spcPct val="105000"/>
              </a:lnSpc>
              <a:spcAft>
                <a:spcPts val="600"/>
              </a:spcAft>
            </a:pPr>
            <a:r>
              <a:rPr sz="1300" b="0" i="0">
                <a:solidFill>
                  <a:srgbClr val="595959"/>
                </a:solidFill>
              </a:rPr>
              <a:t>−0.1</a:t>
            </a:r>
          </a:p>
        </p:txBody>
      </p:sp>
      <p:sp>
        <p:nvSpPr>
          <p:cNvPr id="46" name="TextBox 45"/>
          <p:cNvSpPr txBox="1"/>
          <p:nvPr/>
        </p:nvSpPr>
        <p:spPr>
          <a:xfrm>
            <a:off x="4760214" y="5289804"/>
            <a:ext cx="731520" cy="274320"/>
          </a:xfrm>
          <a:prstGeom prst="rect">
            <a:avLst/>
          </a:prstGeom>
          <a:noFill/>
        </p:spPr>
        <p:txBody>
          <a:bodyPr wrap="square" anchor="t" lIns="0" rIns="0" tIns="0" bIns="0">
            <a:spAutoFit/>
          </a:bodyPr>
          <a:lstStyle/>
          <a:p>
            <a:pPr algn="ctr">
              <a:lnSpc>
                <a:spcPct val="105000"/>
              </a:lnSpc>
              <a:spcAft>
                <a:spcPts val="600"/>
              </a:spcAft>
            </a:pPr>
            <a:r>
              <a:rPr sz="1300" b="0" i="0">
                <a:solidFill>
                  <a:srgbClr val="595959"/>
                </a:solidFill>
              </a:rPr>
              <a:t>0</a:t>
            </a:r>
          </a:p>
        </p:txBody>
      </p:sp>
      <p:sp>
        <p:nvSpPr>
          <p:cNvPr id="47" name="TextBox 46"/>
          <p:cNvSpPr txBox="1"/>
          <p:nvPr/>
        </p:nvSpPr>
        <p:spPr>
          <a:xfrm>
            <a:off x="5636514" y="5289804"/>
            <a:ext cx="731520" cy="274320"/>
          </a:xfrm>
          <a:prstGeom prst="rect">
            <a:avLst/>
          </a:prstGeom>
          <a:noFill/>
        </p:spPr>
        <p:txBody>
          <a:bodyPr wrap="square" anchor="t" lIns="0" rIns="0" tIns="0" bIns="0">
            <a:spAutoFit/>
          </a:bodyPr>
          <a:lstStyle/>
          <a:p>
            <a:pPr algn="ctr">
              <a:lnSpc>
                <a:spcPct val="105000"/>
              </a:lnSpc>
              <a:spcAft>
                <a:spcPts val="600"/>
              </a:spcAft>
            </a:pPr>
            <a:r>
              <a:rPr sz="1300" b="0" i="0">
                <a:solidFill>
                  <a:srgbClr val="595959"/>
                </a:solidFill>
              </a:rPr>
              <a:t>+0.1</a:t>
            </a:r>
          </a:p>
        </p:txBody>
      </p:sp>
      <p:sp>
        <p:nvSpPr>
          <p:cNvPr id="48" name="TextBox 47"/>
          <p:cNvSpPr txBox="1"/>
          <p:nvPr/>
        </p:nvSpPr>
        <p:spPr>
          <a:xfrm>
            <a:off x="6512814" y="5289804"/>
            <a:ext cx="731520" cy="274320"/>
          </a:xfrm>
          <a:prstGeom prst="rect">
            <a:avLst/>
          </a:prstGeom>
          <a:noFill/>
        </p:spPr>
        <p:txBody>
          <a:bodyPr wrap="square" anchor="t" lIns="0" rIns="0" tIns="0" bIns="0">
            <a:spAutoFit/>
          </a:bodyPr>
          <a:lstStyle/>
          <a:p>
            <a:pPr algn="ctr">
              <a:lnSpc>
                <a:spcPct val="105000"/>
              </a:lnSpc>
              <a:spcAft>
                <a:spcPts val="600"/>
              </a:spcAft>
            </a:pPr>
            <a:r>
              <a:rPr sz="1300" b="0" i="0">
                <a:solidFill>
                  <a:srgbClr val="595959"/>
                </a:solidFill>
              </a:rPr>
              <a:t>+0.2</a:t>
            </a:r>
          </a:p>
        </p:txBody>
      </p:sp>
      <p:sp>
        <p:nvSpPr>
          <p:cNvPr id="49" name="TextBox 48"/>
          <p:cNvSpPr txBox="1"/>
          <p:nvPr/>
        </p:nvSpPr>
        <p:spPr>
          <a:xfrm>
            <a:off x="7389114" y="5289804"/>
            <a:ext cx="731520" cy="274320"/>
          </a:xfrm>
          <a:prstGeom prst="rect">
            <a:avLst/>
          </a:prstGeom>
          <a:noFill/>
        </p:spPr>
        <p:txBody>
          <a:bodyPr wrap="square" anchor="t" lIns="0" rIns="0" tIns="0" bIns="0">
            <a:spAutoFit/>
          </a:bodyPr>
          <a:lstStyle/>
          <a:p>
            <a:pPr algn="ctr">
              <a:lnSpc>
                <a:spcPct val="105000"/>
              </a:lnSpc>
              <a:spcAft>
                <a:spcPts val="600"/>
              </a:spcAft>
            </a:pPr>
            <a:r>
              <a:rPr sz="1300" b="0" i="0">
                <a:solidFill>
                  <a:srgbClr val="595959"/>
                </a:solidFill>
              </a:rPr>
              <a:t>+0.3</a:t>
            </a:r>
          </a:p>
        </p:txBody>
      </p:sp>
      <p:sp>
        <p:nvSpPr>
          <p:cNvPr id="50" name="TextBox 49"/>
          <p:cNvSpPr txBox="1"/>
          <p:nvPr/>
        </p:nvSpPr>
        <p:spPr>
          <a:xfrm>
            <a:off x="2569464" y="5545836"/>
            <a:ext cx="5989320" cy="274320"/>
          </a:xfrm>
          <a:prstGeom prst="rect">
            <a:avLst/>
          </a:prstGeom>
          <a:noFill/>
        </p:spPr>
        <p:txBody>
          <a:bodyPr wrap="square" anchor="t" lIns="0" rIns="0" tIns="0" bIns="0">
            <a:spAutoFit/>
          </a:bodyPr>
          <a:lstStyle/>
          <a:p>
            <a:pPr algn="ctr">
              <a:lnSpc>
                <a:spcPct val="105000"/>
              </a:lnSpc>
              <a:spcAft>
                <a:spcPts val="600"/>
              </a:spcAft>
            </a:pPr>
            <a:r>
              <a:rPr sz="1400" b="0" i="0">
                <a:solidFill>
                  <a:srgbClr val="595959"/>
                </a:solidFill>
              </a:rPr>
              <a:t>ModernBERT − TF-IDF  (right of zero favours ModernBERT)</a:t>
            </a:r>
          </a:p>
        </p:txBody>
      </p:sp>
      <p:sp>
        <p:nvSpPr>
          <p:cNvPr id="51" name="Rounded Rectangle 50"/>
          <p:cNvSpPr/>
          <p:nvPr/>
        </p:nvSpPr>
        <p:spPr>
          <a:xfrm>
            <a:off x="603504" y="5833872"/>
            <a:ext cx="10991088" cy="530352"/>
          </a:xfrm>
          <a:prstGeom prst="roundRect">
            <a:avLst>
              <a:gd name="adj" fmla="val 6000"/>
            </a:avLst>
          </a:prstGeom>
          <a:solidFill>
            <a:srgbClr val="EBE5E0"/>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182880" bIns="182880" wrap="square"/>
          <a:lstStyle/>
          <a:p>
            <a:pPr algn="l">
              <a:lnSpc>
                <a:spcPct val="105000"/>
              </a:lnSpc>
              <a:spcAft>
                <a:spcPts val="600"/>
              </a:spcAft>
            </a:pPr>
            <a:r>
              <a:rPr sz="1700" b="1" i="0">
                <a:solidFill>
                  <a:srgbClr val="000061"/>
                </a:solidFill>
              </a:rPr>
              <a:t>Reading: </a:t>
            </a:r>
            <a:r>
              <a:rPr sz="1700" b="0" i="0">
                <a:solidFill>
                  <a:srgbClr val="323232"/>
                </a:solidFill>
              </a:rPr>
              <a:t>ModernBERT is the more selective router. Whether it also ranks questions better cannot be decided with 49 Mix-required test questions.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03504" y="868680"/>
            <a:ext cx="10991088" cy="960120"/>
          </a:xfrm>
        </p:spPr>
        <p:txBody>
          <a:bodyPr anchor="t" wrap="square"/>
          <a:lstStyle/>
          <a:p>
            <a:pPr>
              <a:lnSpc>
                <a:spcPct val="95000"/>
              </a:lnSpc>
            </a:pPr>
            <a:r>
              <a:rPr sz="3000"/>
              <a:t>ModernBERT makes a third as many unnecessary Mix calls, at a small cost in missed ones</a:t>
            </a:r>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t>Adaptive Hybrid RAG  ·  Dante Wesslund  ·  KTH 2026</a:t>
            </a:r>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Picture 5" descr="Bar chart of routing errors: unnecessary Mix calls TF-IDF 30 vs ModernBERT 10; missed Mix calls TF-IDF 11 vs ModernBERT 16."/>
          <p:cNvPicPr>
            <a:picLocks noChangeAspect="1"/>
          </p:cNvPicPr>
          <p:nvPr/>
        </p:nvPicPr>
        <p:blipFill>
          <a:blip r:embed="rId2"/>
          <a:stretch>
            <a:fillRect/>
          </a:stretch>
        </p:blipFill>
        <p:spPr>
          <a:xfrm>
            <a:off x="603504" y="1965960"/>
            <a:ext cx="6949440" cy="4206240"/>
          </a:xfrm>
          <a:prstGeom prst="rect">
            <a:avLst/>
          </a:prstGeom>
        </p:spPr>
      </p:pic>
      <p:sp>
        <p:nvSpPr>
          <p:cNvPr id="7" name="Rounded Rectangle 6"/>
          <p:cNvSpPr/>
          <p:nvPr/>
        </p:nvSpPr>
        <p:spPr>
          <a:xfrm>
            <a:off x="7863840" y="2103120"/>
            <a:ext cx="3730752" cy="1874519"/>
          </a:xfrm>
          <a:prstGeom prst="roundRect">
            <a:avLst>
              <a:gd name="adj" fmla="val 6000"/>
            </a:avLst>
          </a:prstGeom>
          <a:solidFill>
            <a:srgbClr val="DEF0FF"/>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201168" bIns="201168" wrap="square"/>
          <a:lstStyle/>
          <a:p>
            <a:pPr algn="l">
              <a:lnSpc>
                <a:spcPct val="105000"/>
              </a:lnSpc>
              <a:spcAft>
                <a:spcPts val="600"/>
              </a:spcAft>
            </a:pPr>
            <a:r>
              <a:rPr sz="1900" b="1" i="0">
                <a:solidFill>
                  <a:srgbClr val="000061"/>
                </a:solidFill>
              </a:rPr>
              <a:t>Over-routing: wasted cost</a:t>
            </a:r>
          </a:p>
          <a:p>
            <a:pPr algn="l">
              <a:lnSpc>
                <a:spcPct val="105000"/>
              </a:lnSpc>
              <a:spcAft>
                <a:spcPts val="400"/>
              </a:spcAft>
            </a:pPr>
            <a:r>
              <a:rPr sz="1800" b="0" i="0">
                <a:solidFill>
                  <a:srgbClr val="323232"/>
                </a:solidFill>
              </a:rPr>
              <a:t>30 → 10 unnecessary Mix calls</a:t>
            </a:r>
          </a:p>
          <a:p>
            <a:pPr algn="l">
              <a:lnSpc>
                <a:spcPct val="105000"/>
              </a:lnSpc>
              <a:spcAft>
                <a:spcPts val="600"/>
              </a:spcAft>
            </a:pPr>
            <a:r>
              <a:rPr sz="1700" b="1" i="0">
                <a:solidFill>
                  <a:srgbClr val="004791"/>
                </a:solidFill>
              </a:rPr>
              <a:t>McNemar: 20 vs 0, p &lt; 0.001</a:t>
            </a:r>
          </a:p>
        </p:txBody>
      </p:sp>
      <p:sp>
        <p:nvSpPr>
          <p:cNvPr id="8" name="Rounded Rectangle 7"/>
          <p:cNvSpPr/>
          <p:nvPr/>
        </p:nvSpPr>
        <p:spPr>
          <a:xfrm>
            <a:off x="7863840" y="4114800"/>
            <a:ext cx="3730752" cy="1874519"/>
          </a:xfrm>
          <a:prstGeom prst="roundRect">
            <a:avLst>
              <a:gd name="adj" fmla="val 6000"/>
            </a:avLst>
          </a:prstGeom>
          <a:solidFill>
            <a:srgbClr val="EBE5E0"/>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201168" bIns="201168" wrap="square"/>
          <a:lstStyle/>
          <a:p>
            <a:pPr algn="l">
              <a:lnSpc>
                <a:spcPct val="105000"/>
              </a:lnSpc>
              <a:spcAft>
                <a:spcPts val="600"/>
              </a:spcAft>
            </a:pPr>
            <a:r>
              <a:rPr sz="1900" b="1" i="0">
                <a:solidFill>
                  <a:srgbClr val="000061"/>
                </a:solidFill>
              </a:rPr>
              <a:t>Under-routing: answer risk</a:t>
            </a:r>
          </a:p>
          <a:p>
            <a:pPr algn="l">
              <a:lnSpc>
                <a:spcPct val="105000"/>
              </a:lnSpc>
              <a:spcAft>
                <a:spcPts val="400"/>
              </a:spcAft>
            </a:pPr>
            <a:r>
              <a:rPr sz="1800" b="0" i="0">
                <a:solidFill>
                  <a:srgbClr val="323232"/>
                </a:solidFill>
              </a:rPr>
              <a:t>11 → 16 missed Mix calls</a:t>
            </a:r>
          </a:p>
          <a:p>
            <a:pPr algn="l">
              <a:lnSpc>
                <a:spcPct val="105000"/>
              </a:lnSpc>
              <a:spcAft>
                <a:spcPts val="600"/>
              </a:spcAft>
            </a:pPr>
            <a:r>
              <a:rPr sz="1700" b="0" i="0">
                <a:solidFill>
                  <a:srgbClr val="323232"/>
                </a:solidFill>
              </a:rPr>
              <a:t>McNemar: 6 vs 1, p = 0.125 (not significant)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03504" y="868680"/>
            <a:ext cx="10991088" cy="960120"/>
          </a:xfrm>
        </p:spPr>
        <p:txBody>
          <a:bodyPr anchor="t" wrap="square"/>
          <a:lstStyle/>
          <a:p>
            <a:pPr>
              <a:lnSpc>
                <a:spcPct val="95000"/>
              </a:lnSpc>
            </a:pPr>
            <a:r>
              <a:rPr sz="3000"/>
              <a:t>ModernBERT routing cuts mean time by 42% and estimated tokens by 63% compared with always-Mix</a:t>
            </a:r>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t>Adaptive Hybrid RAG  ·  Dante Wesslund  ·  KTH 2026</a:t>
            </a:r>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Picture 5" descr="Two bar charts: mean time per query and estimated model tokens per query for always-Naive, type-only rule, TF-IDF, ModernBERT and always-Mix."/>
          <p:cNvPicPr>
            <a:picLocks noChangeAspect="1"/>
          </p:cNvPicPr>
          <p:nvPr/>
        </p:nvPicPr>
        <p:blipFill>
          <a:blip r:embed="rId2"/>
          <a:stretch>
            <a:fillRect/>
          </a:stretch>
        </p:blipFill>
        <p:spPr>
          <a:xfrm>
            <a:off x="603504" y="2011680"/>
            <a:ext cx="10991088" cy="3611880"/>
          </a:xfrm>
          <a:prstGeom prst="rect">
            <a:avLst/>
          </a:prstGeom>
        </p:spPr>
      </p:pic>
      <p:sp>
        <p:nvSpPr>
          <p:cNvPr id="7" name="Rounded Rectangle 6"/>
          <p:cNvSpPr/>
          <p:nvPr/>
        </p:nvSpPr>
        <p:spPr>
          <a:xfrm>
            <a:off x="603504" y="5687568"/>
            <a:ext cx="10991088" cy="658368"/>
          </a:xfrm>
          <a:prstGeom prst="roundRect">
            <a:avLst>
              <a:gd name="adj" fmla="val 6000"/>
            </a:avLst>
          </a:prstGeom>
          <a:solidFill>
            <a:srgbClr val="DEF0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rIns="164592" tIns="164592" bIns="164592" wrap="square"/>
          <a:lstStyle/>
          <a:p>
            <a:pPr algn="l">
              <a:lnSpc>
                <a:spcPct val="105000"/>
              </a:lnSpc>
              <a:spcAft>
                <a:spcPts val="0"/>
              </a:spcAft>
            </a:pPr>
            <a:r>
              <a:rPr sz="1600" b="1" i="0">
                <a:solidFill>
                  <a:srgbClr val="000061"/>
                </a:solidFill>
              </a:rPr>
              <a:t>ModernBERT vs TF-IDF time: </a:t>
            </a:r>
            <a:r>
              <a:rPr sz="1600" b="0" i="0">
                <a:solidFill>
                  <a:srgbClr val="323232"/>
                </a:solidFill>
              </a:rPr>
              <a:t>−2.9 s per query, 95% interval [−5.6, −0.9], p = 0.003.</a:t>
            </a:r>
          </a:p>
          <a:p>
            <a:pPr algn="l">
              <a:lnSpc>
                <a:spcPct val="105000"/>
              </a:lnSpc>
              <a:spcAft>
                <a:spcPts val="600"/>
              </a:spcAft>
            </a:pPr>
            <a:r>
              <a:rPr sz="1400" b="0" i="0">
                <a:solidFill>
                  <a:srgbClr val="595959"/>
                </a:solidFill>
              </a:rPr>
              <a:t>*Tokens: per-mode means from 15 instrumented queries, no interval. The router's own inference time is not included in either chart.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03504" y="868680"/>
            <a:ext cx="10991088" cy="960120"/>
          </a:xfrm>
        </p:spPr>
        <p:txBody>
          <a:bodyPr anchor="t" wrap="square"/>
          <a:lstStyle/>
          <a:p>
            <a:pPr>
              <a:lnSpc>
                <a:spcPct val="95000"/>
              </a:lnSpc>
            </a:pPr>
            <a:r>
              <a:rPr sz="3000"/>
              <a:t>ModernBERT keeps about 92% of judged-correct answers at 37% of always-Mix's tokens</a:t>
            </a:r>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t>Adaptive Hybrid RAG  ·  Dante Wesslund  ·  KTH 2026</a:t>
            </a:r>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Picture 5" descr="Scatter of estimated tokens per query against share of always-Mix's judged-correct answers kept, for five routing policies."/>
          <p:cNvPicPr>
            <a:picLocks noChangeAspect="1"/>
          </p:cNvPicPr>
          <p:nvPr/>
        </p:nvPicPr>
        <p:blipFill>
          <a:blip r:embed="rId2"/>
          <a:stretch>
            <a:fillRect/>
          </a:stretch>
        </p:blipFill>
        <p:spPr>
          <a:xfrm>
            <a:off x="603504" y="1965960"/>
            <a:ext cx="7589520" cy="4251960"/>
          </a:xfrm>
          <a:prstGeom prst="rect">
            <a:avLst/>
          </a:prstGeom>
        </p:spPr>
      </p:pic>
      <p:sp>
        <p:nvSpPr>
          <p:cNvPr id="7" name="Rounded Rectangle 6"/>
          <p:cNvSpPr/>
          <p:nvPr/>
        </p:nvSpPr>
        <p:spPr>
          <a:xfrm>
            <a:off x="8412480" y="2103120"/>
            <a:ext cx="3182112" cy="2286000"/>
          </a:xfrm>
          <a:prstGeom prst="roundRect">
            <a:avLst>
              <a:gd name="adj" fmla="val 6000"/>
            </a:avLst>
          </a:prstGeom>
          <a:solidFill>
            <a:srgbClr val="DEF0FF"/>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201168" bIns="201168" wrap="square"/>
          <a:lstStyle/>
          <a:p>
            <a:pPr algn="l">
              <a:lnSpc>
                <a:spcPct val="105000"/>
              </a:lnSpc>
              <a:spcAft>
                <a:spcPts val="400"/>
              </a:spcAft>
            </a:pPr>
            <a:r>
              <a:rPr sz="2000" b="1" i="0">
                <a:solidFill>
                  <a:srgbClr val="000061"/>
                </a:solidFill>
              </a:rPr>
              <a:t>ModernBERT</a:t>
            </a:r>
          </a:p>
          <a:p>
            <a:pPr algn="l">
              <a:lnSpc>
                <a:spcPct val="105000"/>
              </a:lnSpc>
              <a:spcAft>
                <a:spcPts val="1000"/>
              </a:spcAft>
            </a:pPr>
            <a:r>
              <a:rPr sz="1800" b="0" i="0">
                <a:solidFill>
                  <a:srgbClr val="323232"/>
                </a:solidFill>
              </a:rPr>
              <a:t>keeps 91.7% of the answers at 37% of always-Mix's token cost</a:t>
            </a:r>
          </a:p>
          <a:p>
            <a:pPr algn="l">
              <a:lnSpc>
                <a:spcPct val="105000"/>
              </a:lnSpc>
              <a:spcAft>
                <a:spcPts val="400"/>
              </a:spcAft>
            </a:pPr>
            <a:r>
              <a:rPr sz="2000" b="1" i="0">
                <a:solidFill>
                  <a:srgbClr val="000061"/>
                </a:solidFill>
              </a:rPr>
              <a:t>TF-IDF</a:t>
            </a:r>
          </a:p>
          <a:p>
            <a:pPr algn="l">
              <a:lnSpc>
                <a:spcPct val="105000"/>
              </a:lnSpc>
              <a:spcAft>
                <a:spcPts val="600"/>
              </a:spcAft>
            </a:pPr>
            <a:r>
              <a:rPr sz="1800" b="0" i="0">
                <a:solidFill>
                  <a:srgbClr val="323232"/>
                </a:solidFill>
              </a:rPr>
              <a:t>keeps 94.3% at 48%</a:t>
            </a:r>
          </a:p>
        </p:txBody>
      </p:sp>
      <p:sp>
        <p:nvSpPr>
          <p:cNvPr id="8" name="Rounded Rectangle 7"/>
          <p:cNvSpPr/>
          <p:nvPr/>
        </p:nvSpPr>
        <p:spPr>
          <a:xfrm>
            <a:off x="8412480" y="4617720"/>
            <a:ext cx="3182112" cy="1600200"/>
          </a:xfrm>
          <a:prstGeom prst="roundRect">
            <a:avLst>
              <a:gd name="adj" fmla="val 6000"/>
            </a:avLst>
          </a:prstGeom>
          <a:solidFill>
            <a:srgbClr val="EBE5E0"/>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182880" bIns="182880" wrap="square"/>
          <a:lstStyle/>
          <a:p>
            <a:pPr algn="l">
              <a:lnSpc>
                <a:spcPct val="105000"/>
              </a:lnSpc>
              <a:spcAft>
                <a:spcPts val="600"/>
              </a:spcAft>
            </a:pPr>
            <a:r>
              <a:rPr sz="1500" b="0" i="0">
                <a:solidFill>
                  <a:srgbClr val="323232"/>
                </a:solidFill>
              </a:rPr>
              <a:t>Assumes Mix is correct wherever Naive was, so kept answers = 1 − under-routing. Answers were not re-judged per policy.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03504" y="868680"/>
            <a:ext cx="10991088" cy="960120"/>
          </a:xfrm>
        </p:spPr>
        <p:txBody>
          <a:bodyPr anchor="t" wrap="square"/>
          <a:lstStyle/>
          <a:p>
            <a:pPr>
              <a:lnSpc>
                <a:spcPct val="95000"/>
              </a:lnSpc>
            </a:pPr>
            <a:r>
              <a:rPr sz="3000"/>
              <a:t>The threshold is a cost dial, and both chosen operating points sit well above the static policies</a:t>
            </a:r>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t>Adaptive Hybrid RAG  ·  Dante Wesslund  ·  KTH 2026</a:t>
            </a:r>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Picture 5" descr="Cost-performance frontier: F1 on mix_required against mean routed time for TF-IDF and ModernBERT as the threshold sweeps, with the two static policies."/>
          <p:cNvPicPr>
            <a:picLocks noChangeAspect="1"/>
          </p:cNvPicPr>
          <p:nvPr/>
        </p:nvPicPr>
        <p:blipFill>
          <a:blip r:embed="rId2"/>
          <a:stretch>
            <a:fillRect/>
          </a:stretch>
        </p:blipFill>
        <p:spPr>
          <a:xfrm>
            <a:off x="603504" y="1965960"/>
            <a:ext cx="7863840" cy="4251960"/>
          </a:xfrm>
          <a:prstGeom prst="rect">
            <a:avLst/>
          </a:prstGeom>
        </p:spPr>
      </p:pic>
      <p:sp>
        <p:nvSpPr>
          <p:cNvPr id="7" name="Rounded Rectangle 6"/>
          <p:cNvSpPr/>
          <p:nvPr/>
        </p:nvSpPr>
        <p:spPr>
          <a:xfrm>
            <a:off x="8732520" y="2103120"/>
            <a:ext cx="2862072" cy="4023360"/>
          </a:xfrm>
          <a:prstGeom prst="roundRect">
            <a:avLst>
              <a:gd name="adj" fmla="val 6000"/>
            </a:avLst>
          </a:prstGeom>
          <a:solidFill>
            <a:srgbClr val="DEF0FF"/>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201168" bIns="201168" wrap="square"/>
          <a:lstStyle/>
          <a:p>
            <a:pPr algn="l">
              <a:lnSpc>
                <a:spcPct val="105000"/>
              </a:lnSpc>
              <a:spcAft>
                <a:spcPts val="800"/>
              </a:spcAft>
            </a:pPr>
            <a:r>
              <a:rPr sz="1900" b="1" i="0">
                <a:solidFill>
                  <a:srgbClr val="000061"/>
                </a:solidFill>
              </a:rPr>
              <a:t>Reading the curve</a:t>
            </a:r>
          </a:p>
          <a:p>
            <a:pPr algn="l">
              <a:lnSpc>
                <a:spcPct val="100000"/>
              </a:lnSpc>
              <a:spcAft>
                <a:spcPts val="1000"/>
              </a:spcAft>
            </a:pPr>
            <a:r>
              <a:rPr sz="1700" b="0" i="0">
                <a:solidFill>
                  <a:srgbClr val="323232"/>
                </a:solidFill>
              </a:rPr>
              <a:t>Each point is one threshold; lowering it sends more questions to Mix.</a:t>
            </a:r>
          </a:p>
          <a:p>
            <a:pPr algn="l">
              <a:lnSpc>
                <a:spcPct val="100000"/>
              </a:lnSpc>
              <a:spcAft>
                <a:spcPts val="1000"/>
              </a:spcAft>
            </a:pPr>
            <a:r>
              <a:rPr sz="1700" b="0" i="0">
                <a:solidFill>
                  <a:srgbClr val="323232"/>
                </a:solidFill>
              </a:rPr>
              <a:t>ModernBERT's chosen threshold sits near its peak; TF-IDF's is a few hundredths below its own (0.65 vs 0.69).</a:t>
            </a:r>
          </a:p>
          <a:p>
            <a:pPr algn="l">
              <a:lnSpc>
                <a:spcPct val="100000"/>
              </a:lnSpc>
              <a:spcAft>
                <a:spcPts val="600"/>
              </a:spcAft>
            </a:pPr>
            <a:r>
              <a:rPr sz="1700" b="1" i="0">
                <a:solidFill>
                  <a:srgbClr val="000061"/>
                </a:solidFill>
              </a:rPr>
              <a:t>In deployment the threshold sets the cost.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03504" y="868680"/>
            <a:ext cx="10991088" cy="960120"/>
          </a:xfrm>
        </p:spPr>
        <p:txBody>
          <a:bodyPr anchor="t" wrap="square"/>
          <a:lstStyle/>
          <a:p>
            <a:pPr>
              <a:lnSpc>
                <a:spcPct val="95000"/>
              </a:lnSpc>
            </a:pPr>
            <a:r>
              <a:rPr sz="3000"/>
              <a:t>Much of the signal is question structure: compositional questions are the ones that usually need Mix</a:t>
            </a:r>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t>Adaptive Hybrid RAG  ·  Dante Wesslund  ·  KTH 2026</a:t>
            </a:r>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Picture 5" descr="Bar chart of the share of Mix-required questions per 2WikiMultihopQA question type in the binary dataset; compositional 58 percent."/>
          <p:cNvPicPr>
            <a:picLocks noChangeAspect="1"/>
          </p:cNvPicPr>
          <p:nvPr/>
        </p:nvPicPr>
        <p:blipFill>
          <a:blip r:embed="rId2"/>
          <a:stretch>
            <a:fillRect/>
          </a:stretch>
        </p:blipFill>
        <p:spPr>
          <a:xfrm>
            <a:off x="603504" y="2423160"/>
            <a:ext cx="5669280" cy="3657600"/>
          </a:xfrm>
          <a:prstGeom prst="rect">
            <a:avLst/>
          </a:prstGeom>
        </p:spPr>
      </p:pic>
      <p:sp>
        <p:nvSpPr>
          <p:cNvPr id="7" name="TextBox 6"/>
          <p:cNvSpPr txBox="1"/>
          <p:nvPr/>
        </p:nvSpPr>
        <p:spPr>
          <a:xfrm>
            <a:off x="603504" y="2011680"/>
            <a:ext cx="5669280" cy="365760"/>
          </a:xfrm>
          <a:prstGeom prst="rect">
            <a:avLst/>
          </a:prstGeom>
          <a:noFill/>
        </p:spPr>
        <p:txBody>
          <a:bodyPr wrap="square" anchor="t" lIns="0" rIns="0" tIns="0" bIns="0">
            <a:spAutoFit/>
          </a:bodyPr>
          <a:lstStyle/>
          <a:p>
            <a:pPr algn="l">
              <a:lnSpc>
                <a:spcPct val="105000"/>
              </a:lnSpc>
              <a:spcAft>
                <a:spcPts val="600"/>
              </a:spcAft>
            </a:pPr>
            <a:r>
              <a:rPr sz="1700" b="1" i="0">
                <a:solidFill>
                  <a:srgbClr val="000061"/>
                </a:solidFill>
              </a:rPr>
              <a:t>Mix-required rate by question type (all 1,286 labelled questions)</a:t>
            </a:r>
          </a:p>
        </p:txBody>
      </p:sp>
      <p:sp>
        <p:nvSpPr>
          <p:cNvPr id="8" name="Rounded Rectangle 7"/>
          <p:cNvSpPr/>
          <p:nvPr/>
        </p:nvSpPr>
        <p:spPr>
          <a:xfrm>
            <a:off x="6629400" y="2057400"/>
            <a:ext cx="4965192" cy="960120"/>
          </a:xfrm>
          <a:prstGeom prst="roundRect">
            <a:avLst>
              <a:gd name="adj" fmla="val 6000"/>
            </a:avLst>
          </a:prstGeom>
          <a:solidFill>
            <a:srgbClr val="EBE5E0"/>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rIns="164592" tIns="164592" bIns="164592" wrap="square"/>
          <a:lstStyle/>
          <a:p>
            <a:pPr algn="l">
              <a:lnSpc>
                <a:spcPct val="105000"/>
              </a:lnSpc>
              <a:spcAft>
                <a:spcPts val="200"/>
              </a:spcAft>
            </a:pPr>
            <a:r>
              <a:rPr sz="1800" b="1" i="0">
                <a:solidFill>
                  <a:srgbClr val="000061"/>
                </a:solidFill>
              </a:rPr>
              <a:t>Type-only rule</a:t>
            </a:r>
          </a:p>
          <a:p>
            <a:pPr algn="l">
              <a:lnSpc>
                <a:spcPct val="100000"/>
              </a:lnSpc>
              <a:spcAft>
                <a:spcPts val="600"/>
              </a:spcAft>
            </a:pPr>
            <a:r>
              <a:rPr sz="1500" b="0" i="0">
                <a:solidFill>
                  <a:srgbClr val="323232"/>
                </a:solidFill>
              </a:rPr>
              <a:t>F1 0.67, using the benchmark's type label, which real queries do not have</a:t>
            </a:r>
          </a:p>
        </p:txBody>
      </p:sp>
      <p:sp>
        <p:nvSpPr>
          <p:cNvPr id="9" name="Rounded Rectangle 8"/>
          <p:cNvSpPr/>
          <p:nvPr/>
        </p:nvSpPr>
        <p:spPr>
          <a:xfrm>
            <a:off x="6629400" y="3108960"/>
            <a:ext cx="4965192" cy="960120"/>
          </a:xfrm>
          <a:prstGeom prst="roundRect">
            <a:avLst>
              <a:gd name="adj" fmla="val 6000"/>
            </a:avLst>
          </a:prstGeom>
          <a:solidFill>
            <a:srgbClr val="DEF0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rIns="164592" tIns="164592" bIns="164592" wrap="square"/>
          <a:lstStyle/>
          <a:p>
            <a:pPr algn="l">
              <a:lnSpc>
                <a:spcPct val="105000"/>
              </a:lnSpc>
              <a:spcAft>
                <a:spcPts val="200"/>
              </a:spcAft>
            </a:pPr>
            <a:r>
              <a:rPr sz="1800" b="1" i="0">
                <a:solidFill>
                  <a:srgbClr val="000061"/>
                </a:solidFill>
              </a:rPr>
              <a:t>ModernBERT vs the rule (text only)</a:t>
            </a:r>
          </a:p>
          <a:p>
            <a:pPr algn="l">
              <a:lnSpc>
                <a:spcPct val="100000"/>
              </a:lnSpc>
              <a:spcAft>
                <a:spcPts val="600"/>
              </a:spcAft>
            </a:pPr>
            <a:r>
              <a:rPr sz="1500" b="0" i="0">
                <a:solidFill>
                  <a:srgbClr val="323232"/>
                </a:solidFill>
              </a:rPr>
              <a:t>Precision 0.77 vs 0.58 (Holm p = 0.002); accuracy higher only before correction</a:t>
            </a:r>
          </a:p>
        </p:txBody>
      </p:sp>
      <p:sp>
        <p:nvSpPr>
          <p:cNvPr id="10" name="Rounded Rectangle 9"/>
          <p:cNvSpPr/>
          <p:nvPr/>
        </p:nvSpPr>
        <p:spPr>
          <a:xfrm>
            <a:off x="6629400" y="4160520"/>
            <a:ext cx="4965192" cy="960120"/>
          </a:xfrm>
          <a:prstGeom prst="roundRect">
            <a:avLst>
              <a:gd name="adj" fmla="val 6000"/>
            </a:avLst>
          </a:prstGeom>
          <a:solidFill>
            <a:srgbClr val="DEF0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rIns="164592" tIns="164592" bIns="164592" wrap="square"/>
          <a:lstStyle/>
          <a:p>
            <a:pPr algn="l">
              <a:lnSpc>
                <a:spcPct val="105000"/>
              </a:lnSpc>
              <a:spcAft>
                <a:spcPts val="200"/>
              </a:spcAft>
            </a:pPr>
            <a:r>
              <a:rPr sz="1800" b="1" i="0">
                <a:solidFill>
                  <a:srgbClr val="000061"/>
                </a:solidFill>
              </a:rPr>
              <a:t>Within compositional questions</a:t>
            </a:r>
          </a:p>
          <a:p>
            <a:pPr algn="l">
              <a:lnSpc>
                <a:spcPct val="100000"/>
              </a:lnSpc>
              <a:spcAft>
                <a:spcPts val="600"/>
              </a:spcAft>
            </a:pPr>
            <a:r>
              <a:rPr sz="1500" b="0" i="0">
                <a:solidFill>
                  <a:srgbClr val="323232"/>
                </a:solidFill>
              </a:rPr>
              <a:t>ModernBERT precision 0.78 vs TF-IDF 0.64 (p = 0.003, exploratory)</a:t>
            </a:r>
          </a:p>
        </p:txBody>
      </p:sp>
      <p:sp>
        <p:nvSpPr>
          <p:cNvPr id="11" name="Rounded Rectangle 10"/>
          <p:cNvSpPr/>
          <p:nvPr/>
        </p:nvSpPr>
        <p:spPr>
          <a:xfrm>
            <a:off x="6629400" y="5212079"/>
            <a:ext cx="4965192" cy="960120"/>
          </a:xfrm>
          <a:prstGeom prst="roundRect">
            <a:avLst>
              <a:gd name="adj" fmla="val 6000"/>
            </a:avLst>
          </a:prstGeom>
          <a:solidFill>
            <a:srgbClr val="FFCCC4"/>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rIns="164592" tIns="164592" bIns="164592" wrap="square"/>
          <a:lstStyle/>
          <a:p>
            <a:pPr algn="l">
              <a:lnSpc>
                <a:spcPct val="105000"/>
              </a:lnSpc>
              <a:spcAft>
                <a:spcPts val="200"/>
              </a:spcAft>
            </a:pPr>
            <a:r>
              <a:rPr sz="1800" b="1" i="0">
                <a:solidFill>
                  <a:srgbClr val="000061"/>
                </a:solidFill>
              </a:rPr>
              <a:t>Weak spot: bridge-comparison</a:t>
            </a:r>
          </a:p>
          <a:p>
            <a:pPr algn="l">
              <a:lnSpc>
                <a:spcPct val="100000"/>
              </a:lnSpc>
              <a:spcAft>
                <a:spcPts val="600"/>
              </a:spcAft>
            </a:pPr>
            <a:r>
              <a:rPr sz="1500" b="0" i="0">
                <a:solidFill>
                  <a:srgbClr val="323232"/>
                </a:solidFill>
              </a:rPr>
              <a:t>ModernBERT finds 1 of 8 Mix-required questions (backup 26)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03504" y="868680"/>
            <a:ext cx="10991088" cy="960120"/>
          </a:xfrm>
        </p:spPr>
        <p:txBody>
          <a:bodyPr anchor="t" wrap="square"/>
          <a:lstStyle/>
          <a:p>
            <a:pPr>
              <a:lnSpc>
                <a:spcPct val="95000"/>
              </a:lnSpc>
            </a:pPr>
            <a:r>
              <a:rPr sz="3000"/>
              <a:t>What this means for a deployment like Ericsson's</a:t>
            </a:r>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t>Adaptive Hybrid RAG  ·  Dante Wesslund  ·  KTH 2026</a:t>
            </a:r>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sp>
        <p:nvSpPr>
          <p:cNvPr id="6" name="Rounded Rectangle 5"/>
          <p:cNvSpPr/>
          <p:nvPr/>
        </p:nvSpPr>
        <p:spPr>
          <a:xfrm>
            <a:off x="603504" y="2103120"/>
            <a:ext cx="3480816" cy="3977639"/>
          </a:xfrm>
          <a:prstGeom prst="roundRect">
            <a:avLst>
              <a:gd name="adj" fmla="val 6000"/>
            </a:avLst>
          </a:prstGeom>
          <a:solidFill>
            <a:srgbClr val="DEF0FF"/>
          </a:solidFill>
          <a:ln>
            <a:noFill/>
          </a:ln>
          <a:effectLst/>
        </p:spPr>
        <p:style>
          <a:lnRef idx="1">
            <a:schemeClr val="accent1"/>
          </a:lnRef>
          <a:fillRef idx="3">
            <a:schemeClr val="accent1"/>
          </a:fillRef>
          <a:effectRef idx="2">
            <a:schemeClr val="accent1"/>
          </a:effectRef>
          <a:fontRef idx="minor">
            <a:schemeClr val="lt1"/>
          </a:fontRef>
        </p:style>
        <p:txBody>
          <a:bodyPr rtlCol="0" anchor="t" lIns="274320" rIns="274320" tIns="274320" bIns="274320" wrap="square"/>
          <a:lstStyle/>
          <a:p>
            <a:pPr algn="l">
              <a:lnSpc>
                <a:spcPct val="100000"/>
              </a:lnSpc>
              <a:spcAft>
                <a:spcPts val="1400"/>
              </a:spcAft>
            </a:pPr>
            <a:r>
              <a:rPr sz="2200" b="1" i="0">
                <a:solidFill>
                  <a:srgbClr val="000061"/>
                </a:solidFill>
              </a:rPr>
              <a:t>Cheap to run, tunable</a:t>
            </a:r>
          </a:p>
          <a:p>
            <a:pPr algn="l">
              <a:lnSpc>
                <a:spcPct val="108000"/>
              </a:lnSpc>
              <a:spcAft>
                <a:spcPts val="600"/>
              </a:spcAft>
            </a:pPr>
            <a:r>
              <a:rPr sz="1800" b="0" i="0">
                <a:solidFill>
                  <a:srgbClr val="323232"/>
                </a:solidFill>
              </a:rPr>
              <a:t>No language-model call at query time; the threshold sets the cost. Trains in hours on a CPU. Labels cost one run of both modes plus the judge per training question.</a:t>
            </a:r>
          </a:p>
        </p:txBody>
      </p:sp>
      <p:sp>
        <p:nvSpPr>
          <p:cNvPr id="7" name="Rounded Rectangle 6"/>
          <p:cNvSpPr/>
          <p:nvPr/>
        </p:nvSpPr>
        <p:spPr>
          <a:xfrm>
            <a:off x="4358640" y="2103120"/>
            <a:ext cx="3480816" cy="3977639"/>
          </a:xfrm>
          <a:prstGeom prst="roundRect">
            <a:avLst>
              <a:gd name="adj" fmla="val 6000"/>
            </a:avLst>
          </a:prstGeom>
          <a:solidFill>
            <a:srgbClr val="EBE5E0"/>
          </a:solidFill>
          <a:ln>
            <a:noFill/>
          </a:ln>
          <a:effectLst/>
        </p:spPr>
        <p:style>
          <a:lnRef idx="1">
            <a:schemeClr val="accent1"/>
          </a:lnRef>
          <a:fillRef idx="3">
            <a:schemeClr val="accent1"/>
          </a:fillRef>
          <a:effectRef idx="2">
            <a:schemeClr val="accent1"/>
          </a:effectRef>
          <a:fontRef idx="minor">
            <a:schemeClr val="lt1"/>
          </a:fontRef>
        </p:style>
        <p:txBody>
          <a:bodyPr rtlCol="0" anchor="t" lIns="274320" rIns="274320" tIns="274320" bIns="274320" wrap="square"/>
          <a:lstStyle/>
          <a:p>
            <a:pPr algn="l">
              <a:lnSpc>
                <a:spcPct val="100000"/>
              </a:lnSpc>
              <a:spcAft>
                <a:spcPts val="1400"/>
              </a:spcAft>
            </a:pPr>
            <a:r>
              <a:rPr sz="2200" b="1" i="0">
                <a:solidFill>
                  <a:srgbClr val="000061"/>
                </a:solidFill>
              </a:rPr>
              <a:t>Validate on the target workload</a:t>
            </a:r>
          </a:p>
          <a:p>
            <a:pPr algn="l">
              <a:lnSpc>
                <a:spcPct val="108000"/>
              </a:lnSpc>
              <a:spcAft>
                <a:spcPts val="600"/>
              </a:spcAft>
            </a:pPr>
            <a:r>
              <a:rPr sz="1800" b="0" i="0">
                <a:solidFill>
                  <a:srgbClr val="323232"/>
                </a:solidFill>
              </a:rPr>
              <a:t>Part of the signal is benchmark structure. Real queries need their own labels: a small human-labelled set or a judge that does not rely on gold answers.</a:t>
            </a:r>
          </a:p>
        </p:txBody>
      </p:sp>
      <p:sp>
        <p:nvSpPr>
          <p:cNvPr id="8" name="Rounded Rectangle 7"/>
          <p:cNvSpPr/>
          <p:nvPr/>
        </p:nvSpPr>
        <p:spPr>
          <a:xfrm>
            <a:off x="8113776" y="2103120"/>
            <a:ext cx="3480816" cy="3977639"/>
          </a:xfrm>
          <a:prstGeom prst="roundRect">
            <a:avLst>
              <a:gd name="adj" fmla="val 6000"/>
            </a:avLst>
          </a:prstGeom>
          <a:solidFill>
            <a:srgbClr val="004791"/>
          </a:solidFill>
          <a:ln>
            <a:noFill/>
          </a:ln>
          <a:effectLst/>
        </p:spPr>
        <p:style>
          <a:lnRef idx="1">
            <a:schemeClr val="accent1"/>
          </a:lnRef>
          <a:fillRef idx="3">
            <a:schemeClr val="accent1"/>
          </a:fillRef>
          <a:effectRef idx="2">
            <a:schemeClr val="accent1"/>
          </a:effectRef>
          <a:fontRef idx="minor">
            <a:schemeClr val="lt1"/>
          </a:fontRef>
        </p:style>
        <p:txBody>
          <a:bodyPr rtlCol="0" anchor="t" lIns="274320" rIns="274320" tIns="274320" bIns="274320" wrap="square"/>
          <a:lstStyle/>
          <a:p>
            <a:pPr algn="l">
              <a:lnSpc>
                <a:spcPct val="100000"/>
              </a:lnSpc>
              <a:spcAft>
                <a:spcPts val="1400"/>
              </a:spcAft>
            </a:pPr>
            <a:r>
              <a:rPr sz="2200" b="1" i="0">
                <a:solidFill>
                  <a:srgbClr val="FFFFFF"/>
                </a:solidFill>
              </a:rPr>
              <a:t>Routing cannot fix everything</a:t>
            </a:r>
          </a:p>
          <a:p>
            <a:pPr algn="l">
              <a:lnSpc>
                <a:spcPct val="108000"/>
              </a:lnSpc>
              <a:spcAft>
                <a:spcPts val="600"/>
              </a:spcAft>
            </a:pPr>
            <a:r>
              <a:rPr sz="1800" b="0" i="0">
                <a:solidFill>
                  <a:srgbClr val="FFFFFF"/>
                </a:solidFill>
              </a:rPr>
              <a:t>36% of the questions failed in both modes. They need a better answering pipeline or a fallback, not a better router.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03504" y="868680"/>
            <a:ext cx="10991088" cy="960120"/>
          </a:xfrm>
        </p:spPr>
        <p:txBody>
          <a:bodyPr anchor="t" wrap="square"/>
          <a:lstStyle/>
          <a:p>
            <a:pPr>
              <a:lnSpc>
                <a:spcPct val="95000"/>
              </a:lnSpc>
            </a:pPr>
            <a:r>
              <a:rPr sz="3000"/>
              <a:t>Limitations, and what would remove them</a:t>
            </a:r>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t>Adaptive Hybrid RAG  ·  Dante Wesslund  ·  KTH 2026</a:t>
            </a:r>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sp>
        <p:nvSpPr>
          <p:cNvPr id="6" name="TextBox 5"/>
          <p:cNvSpPr txBox="1"/>
          <p:nvPr/>
        </p:nvSpPr>
        <p:spPr>
          <a:xfrm>
            <a:off x="603504" y="1965960"/>
            <a:ext cx="6035040" cy="365760"/>
          </a:xfrm>
          <a:prstGeom prst="rect">
            <a:avLst/>
          </a:prstGeom>
          <a:noFill/>
        </p:spPr>
        <p:txBody>
          <a:bodyPr wrap="square" anchor="t" lIns="0" rIns="0" tIns="0" bIns="0">
            <a:spAutoFit/>
          </a:bodyPr>
          <a:lstStyle/>
          <a:p>
            <a:pPr algn="l">
              <a:lnSpc>
                <a:spcPct val="105000"/>
              </a:lnSpc>
              <a:spcAft>
                <a:spcPts val="600"/>
              </a:spcAft>
            </a:pPr>
            <a:r>
              <a:rPr sz="1700" b="1" i="0">
                <a:solidFill>
                  <a:srgbClr val="004791"/>
                </a:solidFill>
              </a:rPr>
              <a:t>Limitation</a:t>
            </a:r>
          </a:p>
        </p:txBody>
      </p:sp>
      <p:sp>
        <p:nvSpPr>
          <p:cNvPr id="7" name="TextBox 6"/>
          <p:cNvSpPr txBox="1"/>
          <p:nvPr/>
        </p:nvSpPr>
        <p:spPr>
          <a:xfrm>
            <a:off x="7004304" y="1965960"/>
            <a:ext cx="4572000" cy="365760"/>
          </a:xfrm>
          <a:prstGeom prst="rect">
            <a:avLst/>
          </a:prstGeom>
          <a:noFill/>
        </p:spPr>
        <p:txBody>
          <a:bodyPr wrap="square" anchor="t" lIns="0" rIns="0" tIns="0" bIns="0">
            <a:spAutoFit/>
          </a:bodyPr>
          <a:lstStyle/>
          <a:p>
            <a:pPr algn="l">
              <a:lnSpc>
                <a:spcPct val="105000"/>
              </a:lnSpc>
              <a:spcAft>
                <a:spcPts val="600"/>
              </a:spcAft>
            </a:pPr>
            <a:r>
              <a:rPr sz="1700" b="1" i="0">
                <a:solidFill>
                  <a:srgbClr val="004791"/>
                </a:solidFill>
              </a:rPr>
              <a:t>Next step</a:t>
            </a:r>
          </a:p>
        </p:txBody>
      </p:sp>
      <p:sp>
        <p:nvSpPr>
          <p:cNvPr id="8" name="TextBox 7"/>
          <p:cNvSpPr txBox="1"/>
          <p:nvPr/>
        </p:nvSpPr>
        <p:spPr>
          <a:xfrm>
            <a:off x="603504" y="2377440"/>
            <a:ext cx="6035040" cy="731520"/>
          </a:xfrm>
          <a:prstGeom prst="rect">
            <a:avLst/>
          </a:prstGeom>
          <a:noFill/>
        </p:spPr>
        <p:txBody>
          <a:bodyPr wrap="square" anchor="ctr" lIns="0" rIns="0" tIns="0" bIns="0">
            <a:spAutoFit/>
          </a:bodyPr>
          <a:lstStyle/>
          <a:p>
            <a:pPr algn="l">
              <a:lnSpc>
                <a:spcPct val="100000"/>
              </a:lnSpc>
              <a:spcAft>
                <a:spcPts val="600"/>
              </a:spcAft>
            </a:pPr>
            <a:r>
              <a:rPr sz="1800" b="0" i="0">
                <a:solidFill>
                  <a:srgbClr val="323232"/>
                </a:solidFill>
              </a:rPr>
              <a:t>Labels come from an LLM judge, using the same Gemini model that wrote the answers; no human check</a:t>
            </a:r>
          </a:p>
        </p:txBody>
      </p:sp>
      <p:cxnSp>
        <p:nvCxnSpPr>
          <p:cNvPr id="9" name="Connector 8"/>
          <p:cNvCxnSpPr/>
          <p:nvPr/>
        </p:nvCxnSpPr>
        <p:spPr>
          <a:xfrm>
            <a:off x="6684264" y="2743200"/>
            <a:ext cx="274320" cy="0"/>
          </a:xfrm>
          <a:prstGeom prst="line">
            <a:avLst/>
          </a:prstGeom>
          <a:ln w="19050">
            <a:solidFill>
              <a:srgbClr val="A5A5A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7004304" y="2414016"/>
            <a:ext cx="4590288" cy="658368"/>
          </a:xfrm>
          <a:prstGeom prst="roundRect">
            <a:avLst>
              <a:gd name="adj" fmla="val 6000"/>
            </a:avLst>
          </a:prstGeom>
          <a:solidFill>
            <a:srgbClr val="DEF0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wrap="square"/>
          <a:lstStyle/>
          <a:p>
            <a:pPr algn="l">
              <a:lnSpc>
                <a:spcPct val="100000"/>
              </a:lnSpc>
              <a:spcAft>
                <a:spcPts val="600"/>
              </a:spcAft>
            </a:pPr>
            <a:r>
              <a:rPr sz="1700" b="0" i="0">
                <a:solidFill>
                  <a:srgbClr val="000061"/>
                </a:solidFill>
              </a:rPr>
              <a:t>Hand-validate a sample; re-judge with a second model family</a:t>
            </a:r>
          </a:p>
        </p:txBody>
      </p:sp>
      <p:sp>
        <p:nvSpPr>
          <p:cNvPr id="11" name="TextBox 10"/>
          <p:cNvSpPr txBox="1"/>
          <p:nvPr/>
        </p:nvSpPr>
        <p:spPr>
          <a:xfrm>
            <a:off x="603504" y="3163824"/>
            <a:ext cx="6035040" cy="731520"/>
          </a:xfrm>
          <a:prstGeom prst="rect">
            <a:avLst/>
          </a:prstGeom>
          <a:noFill/>
        </p:spPr>
        <p:txBody>
          <a:bodyPr wrap="square" anchor="ctr" lIns="0" rIns="0" tIns="0" bIns="0">
            <a:spAutoFit/>
          </a:bodyPr>
          <a:lstStyle/>
          <a:p>
            <a:pPr algn="l">
              <a:lnSpc>
                <a:spcPct val="100000"/>
              </a:lnSpc>
              <a:spcAft>
                <a:spcPts val="600"/>
              </a:spcAft>
            </a:pPr>
            <a:r>
              <a:rPr sz="1800" b="0" i="0">
                <a:solidFill>
                  <a:srgbClr val="323232"/>
                </a:solidFill>
              </a:rPr>
              <a:t>Token cost estimated from 15 instrumented queries</a:t>
            </a:r>
          </a:p>
        </p:txBody>
      </p:sp>
      <p:cxnSp>
        <p:nvCxnSpPr>
          <p:cNvPr id="12" name="Connector 11"/>
          <p:cNvCxnSpPr/>
          <p:nvPr/>
        </p:nvCxnSpPr>
        <p:spPr>
          <a:xfrm>
            <a:off x="6684264" y="3529584"/>
            <a:ext cx="274320" cy="0"/>
          </a:xfrm>
          <a:prstGeom prst="line">
            <a:avLst/>
          </a:prstGeom>
          <a:ln w="19050">
            <a:solidFill>
              <a:srgbClr val="A5A5A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004304" y="3200400"/>
            <a:ext cx="4590288" cy="658368"/>
          </a:xfrm>
          <a:prstGeom prst="roundRect">
            <a:avLst>
              <a:gd name="adj" fmla="val 6000"/>
            </a:avLst>
          </a:prstGeom>
          <a:solidFill>
            <a:srgbClr val="DEF0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wrap="square"/>
          <a:lstStyle/>
          <a:p>
            <a:pPr algn="l">
              <a:lnSpc>
                <a:spcPct val="100000"/>
              </a:lnSpc>
              <a:spcAft>
                <a:spcPts val="600"/>
              </a:spcAft>
            </a:pPr>
            <a:r>
              <a:rPr sz="1700" b="0" i="0">
                <a:solidFill>
                  <a:srgbClr val="000061"/>
                </a:solidFill>
              </a:rPr>
              <a:t>Log tokens for every query</a:t>
            </a:r>
          </a:p>
        </p:txBody>
      </p:sp>
      <p:sp>
        <p:nvSpPr>
          <p:cNvPr id="14" name="TextBox 13"/>
          <p:cNvSpPr txBox="1"/>
          <p:nvPr/>
        </p:nvSpPr>
        <p:spPr>
          <a:xfrm>
            <a:off x="603504" y="3950208"/>
            <a:ext cx="6035040" cy="731520"/>
          </a:xfrm>
          <a:prstGeom prst="rect">
            <a:avLst/>
          </a:prstGeom>
          <a:noFill/>
        </p:spPr>
        <p:txBody>
          <a:bodyPr wrap="square" anchor="ctr" lIns="0" rIns="0" tIns="0" bIns="0">
            <a:spAutoFit/>
          </a:bodyPr>
          <a:lstStyle/>
          <a:p>
            <a:pPr algn="l">
              <a:lnSpc>
                <a:spcPct val="100000"/>
              </a:lnSpc>
              <a:spcAft>
                <a:spcPts val="600"/>
              </a:spcAft>
            </a:pPr>
            <a:r>
              <a:rPr sz="1800" b="0" i="0">
                <a:solidFill>
                  <a:srgbClr val="323232"/>
                </a:solidFill>
              </a:rPr>
              <a:t>One benchmark (chosen partly for label balance), one framework, row-random split</a:t>
            </a:r>
          </a:p>
        </p:txBody>
      </p:sp>
      <p:cxnSp>
        <p:nvCxnSpPr>
          <p:cNvPr id="15" name="Connector 14"/>
          <p:cNvCxnSpPr/>
          <p:nvPr/>
        </p:nvCxnSpPr>
        <p:spPr>
          <a:xfrm>
            <a:off x="6684264" y="4315968"/>
            <a:ext cx="274320" cy="0"/>
          </a:xfrm>
          <a:prstGeom prst="line">
            <a:avLst/>
          </a:prstGeom>
          <a:ln w="19050">
            <a:solidFill>
              <a:srgbClr val="A5A5A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004304" y="3986784"/>
            <a:ext cx="4590288" cy="658368"/>
          </a:xfrm>
          <a:prstGeom prst="roundRect">
            <a:avLst>
              <a:gd name="adj" fmla="val 6000"/>
            </a:avLst>
          </a:prstGeom>
          <a:solidFill>
            <a:srgbClr val="DEF0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wrap="square"/>
          <a:lstStyle/>
          <a:p>
            <a:pPr algn="l">
              <a:lnSpc>
                <a:spcPct val="100000"/>
              </a:lnSpc>
              <a:spcAft>
                <a:spcPts val="600"/>
              </a:spcAft>
            </a:pPr>
            <a:r>
              <a:rPr sz="1700" b="0" i="0">
                <a:solidFill>
                  <a:srgbClr val="000061"/>
                </a:solidFill>
              </a:rPr>
              <a:t>Template-grouped split; HotpotQA, MuSiQue; other frameworks</a:t>
            </a:r>
          </a:p>
        </p:txBody>
      </p:sp>
      <p:sp>
        <p:nvSpPr>
          <p:cNvPr id="17" name="TextBox 16"/>
          <p:cNvSpPr txBox="1"/>
          <p:nvPr/>
        </p:nvSpPr>
        <p:spPr>
          <a:xfrm>
            <a:off x="603504" y="4736592"/>
            <a:ext cx="6035040" cy="731520"/>
          </a:xfrm>
          <a:prstGeom prst="rect">
            <a:avLst/>
          </a:prstGeom>
          <a:noFill/>
        </p:spPr>
        <p:txBody>
          <a:bodyPr wrap="square" anchor="ctr" lIns="0" rIns="0" tIns="0" bIns="0">
            <a:spAutoFit/>
          </a:bodyPr>
          <a:lstStyle/>
          <a:p>
            <a:pPr algn="l">
              <a:lnSpc>
                <a:spcPct val="100000"/>
              </a:lnSpc>
              <a:spcAft>
                <a:spcPts val="600"/>
              </a:spcAft>
            </a:pPr>
            <a:r>
              <a:rPr sz="1800" b="0" i="0">
                <a:solidFill>
                  <a:srgbClr val="323232"/>
                </a:solidFill>
              </a:rPr>
              <a:t>193 test questions (49 Mix-required) cannot resolve small ranking differences</a:t>
            </a:r>
          </a:p>
        </p:txBody>
      </p:sp>
      <p:cxnSp>
        <p:nvCxnSpPr>
          <p:cNvPr id="18" name="Connector 17"/>
          <p:cNvCxnSpPr/>
          <p:nvPr/>
        </p:nvCxnSpPr>
        <p:spPr>
          <a:xfrm>
            <a:off x="6684264" y="5102352"/>
            <a:ext cx="274320" cy="0"/>
          </a:xfrm>
          <a:prstGeom prst="line">
            <a:avLst/>
          </a:prstGeom>
          <a:ln w="19050">
            <a:solidFill>
              <a:srgbClr val="A5A5A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004304" y="4773168"/>
            <a:ext cx="4590288" cy="658368"/>
          </a:xfrm>
          <a:prstGeom prst="roundRect">
            <a:avLst>
              <a:gd name="adj" fmla="val 6000"/>
            </a:avLst>
          </a:prstGeom>
          <a:solidFill>
            <a:srgbClr val="DEF0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wrap="square"/>
          <a:lstStyle/>
          <a:p>
            <a:pPr algn="l">
              <a:lnSpc>
                <a:spcPct val="100000"/>
              </a:lnSpc>
              <a:spcAft>
                <a:spcPts val="600"/>
              </a:spcAft>
            </a:pPr>
            <a:r>
              <a:rPr sz="1700" b="0" i="0">
                <a:solidFill>
                  <a:srgbClr val="000061"/>
                </a:solidFill>
              </a:rPr>
              <a:t>A test set 5 to 20 times larger</a:t>
            </a:r>
          </a:p>
        </p:txBody>
      </p:sp>
      <p:sp>
        <p:nvSpPr>
          <p:cNvPr id="20" name="TextBox 19"/>
          <p:cNvSpPr txBox="1"/>
          <p:nvPr/>
        </p:nvSpPr>
        <p:spPr>
          <a:xfrm>
            <a:off x="603504" y="5522976"/>
            <a:ext cx="6035040" cy="731520"/>
          </a:xfrm>
          <a:prstGeom prst="rect">
            <a:avLst/>
          </a:prstGeom>
          <a:noFill/>
        </p:spPr>
        <p:txBody>
          <a:bodyPr wrap="square" anchor="ctr" lIns="0" rIns="0" tIns="0" bIns="0">
            <a:spAutoFit/>
          </a:bodyPr>
          <a:lstStyle/>
          <a:p>
            <a:pPr algn="l">
              <a:lnSpc>
                <a:spcPct val="100000"/>
              </a:lnSpc>
              <a:spcAft>
                <a:spcPts val="600"/>
              </a:spcAft>
            </a:pPr>
            <a:r>
              <a:rPr sz="1800" b="0" i="0">
                <a:solidFill>
                  <a:srgbClr val="323232"/>
                </a:solidFill>
              </a:rPr>
              <a:t>Kept answers assume Mix is correct wherever Naive was</a:t>
            </a:r>
          </a:p>
        </p:txBody>
      </p:sp>
      <p:cxnSp>
        <p:nvCxnSpPr>
          <p:cNvPr id="21" name="Connector 20"/>
          <p:cNvCxnSpPr/>
          <p:nvPr/>
        </p:nvCxnSpPr>
        <p:spPr>
          <a:xfrm>
            <a:off x="6684264" y="5888736"/>
            <a:ext cx="274320" cy="0"/>
          </a:xfrm>
          <a:prstGeom prst="line">
            <a:avLst/>
          </a:prstGeom>
          <a:ln w="19050">
            <a:solidFill>
              <a:srgbClr val="A5A5A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004304" y="5559552"/>
            <a:ext cx="4590288" cy="658368"/>
          </a:xfrm>
          <a:prstGeom prst="roundRect">
            <a:avLst>
              <a:gd name="adj" fmla="val 6000"/>
            </a:avLst>
          </a:prstGeom>
          <a:solidFill>
            <a:srgbClr val="DEF0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wrap="square"/>
          <a:lstStyle/>
          <a:p>
            <a:pPr algn="l">
              <a:lnSpc>
                <a:spcPct val="100000"/>
              </a:lnSpc>
              <a:spcAft>
                <a:spcPts val="600"/>
              </a:spcAft>
            </a:pPr>
            <a:r>
              <a:rPr sz="1700" b="0" i="0">
                <a:solidFill>
                  <a:srgbClr val="000061"/>
                </a:solidFill>
              </a:rPr>
              <a:t>Re-judge the answer each policy picks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Conclusions</a:t>
            </a:r>
          </a:p>
        </p:txBody>
      </p:sp>
      <p:sp>
        <p:nvSpPr>
          <p:cNvPr id="3" name="Content Placeholder 2"/>
          <p:cNvSpPr>
            <a:spLocks noGrp="1"/>
          </p:cNvSpPr>
          <p:nvPr>
            <p:ph idx="1" sz="half"/>
          </p:nvPr>
        </p:nvSpPr>
        <p:spPr/>
        <p:txBody>
          <a:bodyPr wrap="square"/>
          <a:lstStyle/>
          <a:p>
            <a:pPr algn="l">
              <a:lnSpc>
                <a:spcPct val="105000"/>
              </a:lnSpc>
              <a:spcAft>
                <a:spcPts val="1200"/>
              </a:spcAft>
            </a:pPr>
            <a:r>
              <a:rPr sz="1700" b="1" i="0">
                <a:solidFill>
                  <a:srgbClr val="000061"/>
                </a:solidFill>
              </a:rPr>
              <a:t>Prediction (sub-question 1). </a:t>
            </a:r>
            <a:r>
              <a:rPr sz="1700" b="0" i="0">
                <a:solidFill>
                  <a:srgbClr val="323232"/>
                </a:solidFill>
              </a:rPr>
              <a:t>From the question alone, both routers find Mix-needing questions at about 3× chance. ModernBERT is significantly more precise than TF-IDF (0.77 vs 0.56) and than the type-only rule; ranking gains are unresolved.</a:t>
            </a:r>
          </a:p>
          <a:p>
            <a:pPr algn="l">
              <a:lnSpc>
                <a:spcPct val="105000"/>
              </a:lnSpc>
              <a:spcAft>
                <a:spcPts val="1200"/>
              </a:spcAft>
            </a:pPr>
            <a:r>
              <a:rPr sz="1700" b="1" i="0">
                <a:solidFill>
                  <a:srgbClr val="000061"/>
                </a:solidFill>
              </a:rPr>
              <a:t>Cost (sub-question 2). </a:t>
            </a:r>
            <a:r>
              <a:rPr sz="1700" b="0" i="0">
                <a:solidFill>
                  <a:srgbClr val="323232"/>
                </a:solidFill>
              </a:rPr>
              <a:t>ModernBERT routing cuts mean time by 42% and estimated tokens by 63% versus always-Mix, keeping about 92% of judged-correct answers (assuming Mix is correct wherever Naive was).</a:t>
            </a:r>
          </a:p>
          <a:p>
            <a:pPr algn="l">
              <a:lnSpc>
                <a:spcPct val="105000"/>
              </a:lnSpc>
              <a:spcAft>
                <a:spcPts val="600"/>
              </a:spcAft>
            </a:pPr>
            <a:r>
              <a:rPr sz="1700" b="1" i="0">
                <a:solidFill>
                  <a:srgbClr val="000061"/>
                </a:solidFill>
              </a:rPr>
              <a:t>Scope. </a:t>
            </a:r>
            <a:r>
              <a:rPr sz="1700" b="0" i="0">
                <a:solidFill>
                  <a:srgbClr val="323232"/>
                </a:solidFill>
              </a:rPr>
              <a:t>One benchmark, one framework, LLM-judged labels: validate on the target workload before deployment.</a:t>
            </a:r>
          </a:p>
        </p:txBody>
      </p:sp>
      <p:sp>
        <p:nvSpPr>
          <p:cNvPr id="4" name="Text Placeholder 3"/>
          <p:cNvSpPr>
            <a:spLocks noGrp="1"/>
          </p:cNvSpPr>
          <p:nvPr>
            <p:ph type="body" idx="14" sz="quarter"/>
          </p:nvPr>
        </p:nvSpPr>
        <p:spPr/>
        <p:txBody>
          <a:bodyPr/>
          <a:lstStyle/>
          <a:p>
            <a:r>
              <a:t>Contributions</a:t>
            </a:r>
          </a:p>
        </p:txBody>
      </p:sp>
      <p:sp>
        <p:nvSpPr>
          <p:cNvPr id="5" name="Content Placeholder 4"/>
          <p:cNvSpPr>
            <a:spLocks noGrp="1"/>
          </p:cNvSpPr>
          <p:nvPr>
            <p:ph idx="13" sz="half"/>
          </p:nvPr>
        </p:nvSpPr>
        <p:spPr/>
        <p:txBody>
          <a:bodyPr wrap="square"/>
          <a:lstStyle/>
          <a:p>
            <a:pPr algn="l" marL="256032" indent="-256032">
              <a:lnSpc>
                <a:spcPct val="105000"/>
              </a:lnSpc>
              <a:spcAft>
                <a:spcPts val="1200"/>
              </a:spcAft>
              <a:buFont typeface="Arial"/>
              <a:buChar char="•"/>
            </a:pPr>
            <a:r>
              <a:rPr sz="1800" b="0" i="0">
                <a:solidFill>
                  <a:srgbClr val="FFFFFF"/>
                </a:solidFill>
              </a:rPr>
              <a:t>A study of query-only routing between a vector and a graph-enhanced retrieval mode within one RAG framework</a:t>
            </a:r>
          </a:p>
          <a:p>
            <a:pPr algn="l" marL="256032" indent="-256032">
              <a:lnSpc>
                <a:spcPct val="105000"/>
              </a:lnSpc>
              <a:spcAft>
                <a:spcPts val="1200"/>
              </a:spcAft>
              <a:buFont typeface="Arial"/>
              <a:buChar char="•"/>
            </a:pPr>
            <a:r>
              <a:rPr sz="1800" b="0" i="0">
                <a:solidFill>
                  <a:srgbClr val="FFFFFF"/>
                </a:solidFill>
              </a:rPr>
              <a:t>A judge-labelled routing dataset and an open, reproducible pipeline</a:t>
            </a:r>
          </a:p>
          <a:p>
            <a:pPr algn="l" marL="256032" indent="-256032">
              <a:lnSpc>
                <a:spcPct val="105000"/>
              </a:lnSpc>
              <a:spcAft>
                <a:spcPts val="600"/>
              </a:spcAft>
              <a:buFont typeface="Arial"/>
              <a:buChar char="•"/>
            </a:pPr>
            <a:r>
              <a:rPr sz="1800" b="0" i="0">
                <a:solidFill>
                  <a:srgbClr val="FFFFFF"/>
                </a:solidFill>
              </a:rPr>
              <a:t>Evidence, from paired tests, that the encoder's gain lies in precision and therefore in cost</a:t>
            </a:r>
          </a:p>
        </p:txBody>
      </p:sp>
      <p:sp>
        <p:nvSpPr>
          <p:cNvPr id="6" name="TextBox 5"/>
          <p:cNvSpPr txBox="1"/>
          <p:nvPr/>
        </p:nvSpPr>
        <p:spPr>
          <a:xfrm>
            <a:off x="6665976" y="5257800"/>
            <a:ext cx="4928616" cy="914400"/>
          </a:xfrm>
          <a:prstGeom prst="rect">
            <a:avLst/>
          </a:prstGeom>
          <a:noFill/>
        </p:spPr>
        <p:txBody>
          <a:bodyPr wrap="square" anchor="t" lIns="0" rIns="0" tIns="0" bIns="0">
            <a:spAutoFit/>
          </a:bodyPr>
          <a:lstStyle/>
          <a:p>
            <a:pPr algn="l">
              <a:lnSpc>
                <a:spcPct val="105000"/>
              </a:lnSpc>
              <a:spcAft>
                <a:spcPts val="400"/>
              </a:spcAft>
            </a:pPr>
            <a:r>
              <a:rPr sz="2200" b="1" i="0">
                <a:solidFill>
                  <a:srgbClr val="FFFFFF"/>
                </a:solidFill>
              </a:rPr>
              <a:t>Thank you. Questions are welcome.</a:t>
            </a:r>
          </a:p>
          <a:p>
            <a:pPr algn="l">
              <a:lnSpc>
                <a:spcPct val="105000"/>
              </a:lnSpc>
              <a:spcAft>
                <a:spcPts val="600"/>
              </a:spcAft>
            </a:pPr>
            <a:r>
              <a:rPr sz="1400" b="0" i="0">
                <a:solidFill>
                  <a:srgbClr val="DEF0FF"/>
                </a:solidFill>
              </a:rPr>
              <a:t>github.com/Dantecool02/Thesis_ericsson</a:t>
            </a:r>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Backup slides</a:t>
            </a:r>
          </a:p>
        </p:txBody>
      </p:sp>
      <p:sp>
        <p:nvSpPr>
          <p:cNvPr id="3" name="Text Placeholder 2"/>
          <p:cNvSpPr>
            <a:spLocks noGrp="1"/>
          </p:cNvSpPr>
          <p:nvPr>
            <p:ph type="body" idx="1"/>
          </p:nvPr>
        </p:nvSpPr>
        <p:spPr/>
        <p:txBody>
          <a:bodyPr/>
          <a:lstStyle/>
          <a:p>
            <a:r>
              <a:t>Type the slide number in Keynote and press Return to jump</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7" name="TextBox 6"/>
          <p:cNvSpPr txBox="1"/>
          <p:nvPr/>
        </p:nvSpPr>
        <p:spPr>
          <a:xfrm>
            <a:off x="7909560" y="1143000"/>
            <a:ext cx="3840480" cy="4572000"/>
          </a:xfrm>
          <a:prstGeom prst="rect">
            <a:avLst/>
          </a:prstGeom>
          <a:noFill/>
        </p:spPr>
        <p:txBody>
          <a:bodyPr wrap="square" anchor="t" lIns="0" rIns="0" tIns="0" bIns="0">
            <a:spAutoFit/>
          </a:bodyPr>
          <a:lstStyle/>
          <a:p>
            <a:pPr algn="l">
              <a:lnSpc>
                <a:spcPct val="105000"/>
              </a:lnSpc>
              <a:spcAft>
                <a:spcPts val="600"/>
              </a:spcAft>
            </a:pPr>
            <a:r>
              <a:rPr sz="1700" b="1" i="0">
                <a:solidFill>
                  <a:srgbClr val="FFFFFF"/>
                </a:solidFill>
              </a:rPr>
              <a:t>24  </a:t>
            </a:r>
            <a:r>
              <a:rPr sz="1700" b="0" i="0">
                <a:solidFill>
                  <a:srgbClr val="DEF0FF"/>
                </a:solidFill>
              </a:rPr>
              <a:t>Full statistics table</a:t>
            </a:r>
          </a:p>
          <a:p>
            <a:pPr algn="l">
              <a:lnSpc>
                <a:spcPct val="105000"/>
              </a:lnSpc>
              <a:spcAft>
                <a:spcPts val="600"/>
              </a:spcAft>
            </a:pPr>
            <a:r>
              <a:rPr sz="1700" b="1" i="0">
                <a:solidFill>
                  <a:srgbClr val="FFFFFF"/>
                </a:solidFill>
              </a:rPr>
              <a:t>25  </a:t>
            </a:r>
            <a:r>
              <a:rPr sz="1700" b="0" i="0">
                <a:solidFill>
                  <a:srgbClr val="DEF0FF"/>
                </a:solidFill>
              </a:rPr>
              <a:t>Seed stability</a:t>
            </a:r>
          </a:p>
          <a:p>
            <a:pPr algn="l">
              <a:lnSpc>
                <a:spcPct val="105000"/>
              </a:lnSpc>
              <a:spcAft>
                <a:spcPts val="600"/>
              </a:spcAft>
            </a:pPr>
            <a:r>
              <a:rPr sz="1700" b="1" i="0">
                <a:solidFill>
                  <a:srgbClr val="FFFFFF"/>
                </a:solidFill>
              </a:rPr>
              <a:t>26  </a:t>
            </a:r>
            <a:r>
              <a:rPr sz="1700" b="0" i="0">
                <a:solidFill>
                  <a:srgbClr val="DEF0FF"/>
                </a:solidFill>
              </a:rPr>
              <a:t>Per question type</a:t>
            </a:r>
          </a:p>
          <a:p>
            <a:pPr algn="l">
              <a:lnSpc>
                <a:spcPct val="105000"/>
              </a:lnSpc>
              <a:spcAft>
                <a:spcPts val="600"/>
              </a:spcAft>
            </a:pPr>
            <a:r>
              <a:rPr sz="1700" b="1" i="0">
                <a:solidFill>
                  <a:srgbClr val="FFFFFF"/>
                </a:solidFill>
              </a:rPr>
              <a:t>27  </a:t>
            </a:r>
            <a:r>
              <a:rPr sz="1700" b="0" i="0">
                <a:solidFill>
                  <a:srgbClr val="DEF0FF"/>
                </a:solidFill>
              </a:rPr>
              <a:t>Cost and errors per policy</a:t>
            </a:r>
          </a:p>
          <a:p>
            <a:pPr algn="l">
              <a:lnSpc>
                <a:spcPct val="105000"/>
              </a:lnSpc>
              <a:spcAft>
                <a:spcPts val="600"/>
              </a:spcAft>
            </a:pPr>
            <a:r>
              <a:rPr sz="1700" b="1" i="0">
                <a:solidFill>
                  <a:srgbClr val="FFFFFF"/>
                </a:solidFill>
              </a:rPr>
              <a:t>28  </a:t>
            </a:r>
            <a:r>
              <a:rPr sz="1700" b="0" i="0">
                <a:solidFill>
                  <a:srgbClr val="DEF0FF"/>
                </a:solidFill>
              </a:rPr>
              <a:t>Dataset composition</a:t>
            </a:r>
          </a:p>
          <a:p>
            <a:pPr algn="l">
              <a:lnSpc>
                <a:spcPct val="105000"/>
              </a:lnSpc>
              <a:spcAft>
                <a:spcPts val="600"/>
              </a:spcAft>
            </a:pPr>
            <a:r>
              <a:rPr sz="1700" b="1" i="0">
                <a:solidFill>
                  <a:srgbClr val="FFFFFF"/>
                </a:solidFill>
              </a:rPr>
              <a:t>29  </a:t>
            </a:r>
            <a:r>
              <a:rPr sz="1700" b="0" i="0">
                <a:solidFill>
                  <a:srgbClr val="DEF0FF"/>
                </a:solidFill>
              </a:rPr>
              <a:t>Judge prompt</a:t>
            </a:r>
          </a:p>
          <a:p>
            <a:pPr algn="l">
              <a:lnSpc>
                <a:spcPct val="105000"/>
              </a:lnSpc>
              <a:spcAft>
                <a:spcPts val="600"/>
              </a:spcAft>
            </a:pPr>
            <a:r>
              <a:rPr sz="1700" b="1" i="0">
                <a:solidFill>
                  <a:srgbClr val="FFFFFF"/>
                </a:solidFill>
              </a:rPr>
              <a:t>30  </a:t>
            </a:r>
            <a:r>
              <a:rPr sz="1700" b="0" i="0">
                <a:solidFill>
                  <a:srgbClr val="DEF0FF"/>
                </a:solidFill>
              </a:rPr>
              <a:t>PR and ROC curves</a:t>
            </a:r>
          </a:p>
          <a:p>
            <a:pPr algn="l">
              <a:lnSpc>
                <a:spcPct val="105000"/>
              </a:lnSpc>
              <a:spcAft>
                <a:spcPts val="600"/>
              </a:spcAft>
            </a:pPr>
            <a:r>
              <a:rPr sz="1700" b="1" i="0">
                <a:solidFill>
                  <a:srgbClr val="FFFFFF"/>
                </a:solidFill>
              </a:rPr>
              <a:t>31  </a:t>
            </a:r>
            <a:r>
              <a:rPr sz="1700" b="0" i="0">
                <a:solidFill>
                  <a:srgbClr val="DEF0FF"/>
                </a:solidFill>
              </a:rPr>
              <a:t>Statistical power</a:t>
            </a:r>
          </a:p>
          <a:p>
            <a:pPr algn="l">
              <a:lnSpc>
                <a:spcPct val="105000"/>
              </a:lnSpc>
              <a:spcAft>
                <a:spcPts val="600"/>
              </a:spcAft>
            </a:pPr>
            <a:r>
              <a:rPr sz="1700" b="1" i="0">
                <a:solidFill>
                  <a:srgbClr val="FFFFFF"/>
                </a:solidFill>
              </a:rPr>
              <a:t>32  </a:t>
            </a:r>
            <a:r>
              <a:rPr sz="1700" b="0" i="0">
                <a:solidFill>
                  <a:srgbClr val="DEF0FF"/>
                </a:solidFill>
              </a:rPr>
              <a:t>Query-only vs Naive-first cascade</a:t>
            </a:r>
          </a:p>
          <a:p>
            <a:pPr algn="l">
              <a:lnSpc>
                <a:spcPct val="105000"/>
              </a:lnSpc>
              <a:spcAft>
                <a:spcPts val="600"/>
              </a:spcAft>
            </a:pPr>
            <a:r>
              <a:rPr sz="1700" b="1" i="0">
                <a:solidFill>
                  <a:srgbClr val="FFFFFF"/>
                </a:solidFill>
              </a:rPr>
              <a:t>33  </a:t>
            </a:r>
            <a:r>
              <a:rPr sz="1700" b="0" i="0">
                <a:solidFill>
                  <a:srgbClr val="DEF0FF"/>
                </a:solidFill>
              </a:rPr>
              <a:t>Configuration</a:t>
            </a:r>
          </a:p>
          <a:p>
            <a:pPr algn="l">
              <a:lnSpc>
                <a:spcPct val="105000"/>
              </a:lnSpc>
              <a:spcAft>
                <a:spcPts val="600"/>
              </a:spcAft>
            </a:pPr>
            <a:r>
              <a:rPr sz="1700" b="1" i="0">
                <a:solidFill>
                  <a:srgbClr val="FFFFFF"/>
                </a:solidFill>
              </a:rPr>
              <a:t>34  </a:t>
            </a:r>
            <a:r>
              <a:rPr sz="1700" b="0" i="0">
                <a:solidFill>
                  <a:srgbClr val="DEF0FF"/>
                </a:solidFill>
              </a:rPr>
              <a:t>Use of generative AI</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03504" y="868680"/>
            <a:ext cx="10991088" cy="960120"/>
          </a:xfrm>
        </p:spPr>
        <p:txBody>
          <a:bodyPr anchor="t" wrap="square"/>
          <a:lstStyle/>
          <a:p>
            <a:pPr>
              <a:lnSpc>
                <a:spcPct val="95000"/>
              </a:lnSpc>
            </a:pPr>
            <a:r>
              <a:rPr sz="3000"/>
              <a:t>Backup: full classification comparison with intervals and paired tests</a:t>
            </a:r>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t>Adaptive Hybrid RAG  ·  Dante Wesslund  ·  KTH 2026</a:t>
            </a:r>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graphicFrame>
        <p:nvGraphicFramePr>
          <p:cNvPr id="6" name="Table 5"/>
          <p:cNvGraphicFramePr>
            <a:graphicFrameLocks noGrp="1"/>
          </p:cNvGraphicFramePr>
          <p:nvPr/>
        </p:nvGraphicFramePr>
        <p:xfrm>
          <a:off x="603504" y="2057400"/>
          <a:ext cx="10991088" cy="3566160"/>
        </p:xfrm>
        <a:graphic>
          <a:graphicData uri="http://schemas.openxmlformats.org/drawingml/2006/table">
            <a:tbl>
              <a:tblPr firstRow="1" bandRow="1">
                <a:tableStyleId>{5940675A-B579-460E-94D1-54222C63F5DA}</a:tableStyleId>
              </a:tblPr>
              <a:tblGrid>
                <a:gridCol w="2057400"/>
                <a:gridCol w="2148840"/>
                <a:gridCol w="2331720"/>
                <a:gridCol w="2715768"/>
                <a:gridCol w="868680"/>
                <a:gridCol w="868680"/>
              </a:tblGrid>
              <a:tr h="445770">
                <a:tc>
                  <a:txBody>
                    <a:bodyPr wrap="square"/>
                    <a:lstStyle/>
                    <a:p>
                      <a:pPr algn="l"/>
                      <a:r>
                        <a:rPr sz="1500" b="1">
                          <a:solidFill>
                            <a:srgbClr val="FFFFFF"/>
                          </a:solidFill>
                        </a:rPr>
                        <a:t>Metric</a:t>
                      </a:r>
                    </a:p>
                  </a:txBody>
                  <a:tcPr marL="91440" marR="91440" marT="27432" marB="27432" anchor="ctr">
                    <a:solidFill>
                      <a:srgbClr val="004791"/>
                    </a:solidFill>
                  </a:tcPr>
                </a:tc>
                <a:tc>
                  <a:txBody>
                    <a:bodyPr wrap="square"/>
                    <a:lstStyle/>
                    <a:p>
                      <a:pPr algn="ctr"/>
                      <a:r>
                        <a:rPr sz="1500" b="1">
                          <a:solidFill>
                            <a:srgbClr val="FFFFFF"/>
                          </a:solidFill>
                        </a:rPr>
                        <a:t>TF-IDF  [95% CI]</a:t>
                      </a:r>
                    </a:p>
                  </a:txBody>
                  <a:tcPr marL="91440" marR="91440" marT="27432" marB="27432" anchor="ctr">
                    <a:solidFill>
                      <a:srgbClr val="004791"/>
                    </a:solidFill>
                  </a:tcPr>
                </a:tc>
                <a:tc>
                  <a:txBody>
                    <a:bodyPr wrap="square"/>
                    <a:lstStyle/>
                    <a:p>
                      <a:pPr algn="ctr"/>
                      <a:r>
                        <a:rPr sz="1500" b="1">
                          <a:solidFill>
                            <a:srgbClr val="FFFFFF"/>
                          </a:solidFill>
                        </a:rPr>
                        <a:t>ModernBERT  [95% CI]</a:t>
                      </a:r>
                    </a:p>
                  </a:txBody>
                  <a:tcPr marL="91440" marR="91440" marT="27432" marB="27432" anchor="ctr">
                    <a:solidFill>
                      <a:srgbClr val="004791"/>
                    </a:solidFill>
                  </a:tcPr>
                </a:tc>
                <a:tc>
                  <a:txBody>
                    <a:bodyPr wrap="square"/>
                    <a:lstStyle/>
                    <a:p>
                      <a:pPr algn="ctr"/>
                      <a:r>
                        <a:rPr sz="1500" b="1">
                          <a:solidFill>
                            <a:srgbClr val="FFFFFF"/>
                          </a:solidFill>
                        </a:rPr>
                        <a:t>Difference  [95% paired CI]</a:t>
                      </a:r>
                    </a:p>
                  </a:txBody>
                  <a:tcPr marL="91440" marR="91440" marT="27432" marB="27432" anchor="ctr">
                    <a:solidFill>
                      <a:srgbClr val="004791"/>
                    </a:solidFill>
                  </a:tcPr>
                </a:tc>
                <a:tc>
                  <a:txBody>
                    <a:bodyPr wrap="square"/>
                    <a:lstStyle/>
                    <a:p>
                      <a:pPr algn="ctr"/>
                      <a:r>
                        <a:rPr sz="1500" b="1">
                          <a:solidFill>
                            <a:srgbClr val="FFFFFF"/>
                          </a:solidFill>
                        </a:rPr>
                        <a:t>p</a:t>
                      </a:r>
                    </a:p>
                  </a:txBody>
                  <a:tcPr marL="91440" marR="91440" marT="27432" marB="27432" anchor="ctr">
                    <a:solidFill>
                      <a:srgbClr val="004791"/>
                    </a:solidFill>
                  </a:tcPr>
                </a:tc>
                <a:tc>
                  <a:txBody>
                    <a:bodyPr wrap="square"/>
                    <a:lstStyle/>
                    <a:p>
                      <a:pPr algn="ctr"/>
                      <a:r>
                        <a:rPr sz="1500" b="1">
                          <a:solidFill>
                            <a:srgbClr val="FFFFFF"/>
                          </a:solidFill>
                        </a:rPr>
                        <a:t>Holm p</a:t>
                      </a:r>
                    </a:p>
                  </a:txBody>
                  <a:tcPr marL="91440" marR="91440" marT="27432" marB="27432" anchor="ctr">
                    <a:solidFill>
                      <a:srgbClr val="004791"/>
                    </a:solidFill>
                  </a:tcPr>
                </a:tc>
              </a:tr>
              <a:tr h="445770">
                <a:tc>
                  <a:txBody>
                    <a:bodyPr wrap="square"/>
                    <a:lstStyle/>
                    <a:p>
                      <a:pPr algn="l"/>
                      <a:r>
                        <a:rPr sz="1500" b="0">
                          <a:solidFill>
                            <a:srgbClr val="323232"/>
                          </a:solidFill>
                        </a:rPr>
                        <a:t>AUPRC</a:t>
                      </a:r>
                    </a:p>
                  </a:txBody>
                  <a:tcPr marL="91440" marR="91440" marT="27432" marB="27432" anchor="ctr">
                    <a:solidFill>
                      <a:srgbClr val="FFFFFF"/>
                    </a:solidFill>
                  </a:tcPr>
                </a:tc>
                <a:tc>
                  <a:txBody>
                    <a:bodyPr wrap="square"/>
                    <a:lstStyle/>
                    <a:p>
                      <a:pPr algn="ctr"/>
                      <a:r>
                        <a:rPr sz="1500" b="0">
                          <a:solidFill>
                            <a:srgbClr val="323232"/>
                          </a:solidFill>
                        </a:rPr>
                        <a:t>0.742  [0.610, 0.853]</a:t>
                      </a:r>
                    </a:p>
                  </a:txBody>
                  <a:tcPr marL="91440" marR="91440" marT="27432" marB="27432" anchor="ctr">
                    <a:solidFill>
                      <a:srgbClr val="FFFFFF"/>
                    </a:solidFill>
                  </a:tcPr>
                </a:tc>
                <a:tc>
                  <a:txBody>
                    <a:bodyPr wrap="square"/>
                    <a:lstStyle/>
                    <a:p>
                      <a:pPr algn="ctr"/>
                      <a:r>
                        <a:rPr sz="1500" b="0">
                          <a:solidFill>
                            <a:srgbClr val="323232"/>
                          </a:solidFill>
                        </a:rPr>
                        <a:t>0.769  [0.645, 0.889]</a:t>
                      </a:r>
                    </a:p>
                  </a:txBody>
                  <a:tcPr marL="91440" marR="91440" marT="27432" marB="27432" anchor="ctr">
                    <a:solidFill>
                      <a:srgbClr val="FFFFFF"/>
                    </a:solidFill>
                  </a:tcPr>
                </a:tc>
                <a:tc>
                  <a:txBody>
                    <a:bodyPr wrap="square"/>
                    <a:lstStyle/>
                    <a:p>
                      <a:pPr algn="ctr"/>
                      <a:r>
                        <a:rPr sz="1500" b="0">
                          <a:solidFill>
                            <a:srgbClr val="323232"/>
                          </a:solidFill>
                        </a:rPr>
                        <a:t>+0.027  [−0.053, +0.105]</a:t>
                      </a:r>
                    </a:p>
                  </a:txBody>
                  <a:tcPr marL="91440" marR="91440" marT="27432" marB="27432" anchor="ctr">
                    <a:solidFill>
                      <a:srgbClr val="FFFFFF"/>
                    </a:solidFill>
                  </a:tcPr>
                </a:tc>
                <a:tc>
                  <a:txBody>
                    <a:bodyPr wrap="square"/>
                    <a:lstStyle/>
                    <a:p>
                      <a:pPr algn="ctr"/>
                      <a:r>
                        <a:rPr sz="1500" b="0">
                          <a:solidFill>
                            <a:srgbClr val="323232"/>
                          </a:solidFill>
                        </a:rPr>
                        <a:t>0.518</a:t>
                      </a:r>
                    </a:p>
                  </a:txBody>
                  <a:tcPr marL="91440" marR="91440" marT="27432" marB="27432" anchor="ctr">
                    <a:solidFill>
                      <a:srgbClr val="FFFFFF"/>
                    </a:solidFill>
                  </a:tcPr>
                </a:tc>
                <a:tc>
                  <a:txBody>
                    <a:bodyPr wrap="square"/>
                    <a:lstStyle/>
                    <a:p>
                      <a:pPr algn="ctr"/>
                      <a:r>
                        <a:rPr sz="1500" b="0">
                          <a:solidFill>
                            <a:srgbClr val="323232"/>
                          </a:solidFill>
                        </a:rPr>
                        <a:t>1.000</a:t>
                      </a:r>
                    </a:p>
                  </a:txBody>
                  <a:tcPr marL="91440" marR="91440" marT="27432" marB="27432" anchor="ctr">
                    <a:solidFill>
                      <a:srgbClr val="FFFFFF"/>
                    </a:solidFill>
                  </a:tcPr>
                </a:tc>
              </a:tr>
              <a:tr h="445770">
                <a:tc>
                  <a:txBody>
                    <a:bodyPr wrap="square"/>
                    <a:lstStyle/>
                    <a:p>
                      <a:pPr algn="l"/>
                      <a:r>
                        <a:rPr sz="1500" b="0">
                          <a:solidFill>
                            <a:srgbClr val="323232"/>
                          </a:solidFill>
                        </a:rPr>
                        <a:t>AUROC</a:t>
                      </a:r>
                    </a:p>
                  </a:txBody>
                  <a:tcPr marL="91440" marR="91440" marT="27432" marB="27432" anchor="ctr">
                    <a:solidFill>
                      <a:srgbClr val="DEF0FF"/>
                    </a:solidFill>
                  </a:tcPr>
                </a:tc>
                <a:tc>
                  <a:txBody>
                    <a:bodyPr wrap="square"/>
                    <a:lstStyle/>
                    <a:p>
                      <a:pPr algn="ctr"/>
                      <a:r>
                        <a:rPr sz="1500" b="0">
                          <a:solidFill>
                            <a:srgbClr val="323232"/>
                          </a:solidFill>
                        </a:rPr>
                        <a:t>0.892  [0.836, 0.936]</a:t>
                      </a:r>
                    </a:p>
                  </a:txBody>
                  <a:tcPr marL="91440" marR="91440" marT="27432" marB="27432" anchor="ctr">
                    <a:solidFill>
                      <a:srgbClr val="DEF0FF"/>
                    </a:solidFill>
                  </a:tcPr>
                </a:tc>
                <a:tc>
                  <a:txBody>
                    <a:bodyPr wrap="square"/>
                    <a:lstStyle/>
                    <a:p>
                      <a:pPr algn="ctr"/>
                      <a:r>
                        <a:rPr sz="1500" b="0">
                          <a:solidFill>
                            <a:srgbClr val="323232"/>
                          </a:solidFill>
                        </a:rPr>
                        <a:t>0.910  [0.865, 0.949]</a:t>
                      </a:r>
                    </a:p>
                  </a:txBody>
                  <a:tcPr marL="91440" marR="91440" marT="27432" marB="27432" anchor="ctr">
                    <a:solidFill>
                      <a:srgbClr val="DEF0FF"/>
                    </a:solidFill>
                  </a:tcPr>
                </a:tc>
                <a:tc>
                  <a:txBody>
                    <a:bodyPr wrap="square"/>
                    <a:lstStyle/>
                    <a:p>
                      <a:pPr algn="ctr"/>
                      <a:r>
                        <a:rPr sz="1500" b="0">
                          <a:solidFill>
                            <a:srgbClr val="323232"/>
                          </a:solidFill>
                        </a:rPr>
                        <a:t>+0.018  [−0.009, +0.047]</a:t>
                      </a:r>
                    </a:p>
                  </a:txBody>
                  <a:tcPr marL="91440" marR="91440" marT="27432" marB="27432" anchor="ctr">
                    <a:solidFill>
                      <a:srgbClr val="DEF0FF"/>
                    </a:solidFill>
                  </a:tcPr>
                </a:tc>
                <a:tc>
                  <a:txBody>
                    <a:bodyPr wrap="square"/>
                    <a:lstStyle/>
                    <a:p>
                      <a:pPr algn="ctr"/>
                      <a:r>
                        <a:rPr sz="1500" b="0">
                          <a:solidFill>
                            <a:srgbClr val="323232"/>
                          </a:solidFill>
                        </a:rPr>
                        <a:t>0.165</a:t>
                      </a:r>
                    </a:p>
                  </a:txBody>
                  <a:tcPr marL="91440" marR="91440" marT="27432" marB="27432" anchor="ctr">
                    <a:solidFill>
                      <a:srgbClr val="DEF0FF"/>
                    </a:solidFill>
                  </a:tcPr>
                </a:tc>
                <a:tc>
                  <a:txBody>
                    <a:bodyPr wrap="square"/>
                    <a:lstStyle/>
                    <a:p>
                      <a:pPr algn="ctr"/>
                      <a:r>
                        <a:rPr sz="1500" b="0">
                          <a:solidFill>
                            <a:srgbClr val="323232"/>
                          </a:solidFill>
                        </a:rPr>
                        <a:t>0.563</a:t>
                      </a:r>
                    </a:p>
                  </a:txBody>
                  <a:tcPr marL="91440" marR="91440" marT="27432" marB="27432" anchor="ctr">
                    <a:solidFill>
                      <a:srgbClr val="DEF0FF"/>
                    </a:solidFill>
                  </a:tcPr>
                </a:tc>
              </a:tr>
              <a:tr h="445770">
                <a:tc>
                  <a:txBody>
                    <a:bodyPr wrap="square"/>
                    <a:lstStyle/>
                    <a:p>
                      <a:pPr algn="l"/>
                      <a:r>
                        <a:rPr sz="1500" b="0">
                          <a:solidFill>
                            <a:srgbClr val="323232"/>
                          </a:solidFill>
                        </a:rPr>
                        <a:t>Balanced accuracy</a:t>
                      </a:r>
                    </a:p>
                  </a:txBody>
                  <a:tcPr marL="91440" marR="91440" marT="27432" marB="27432" anchor="ctr">
                    <a:solidFill>
                      <a:srgbClr val="FFFFFF"/>
                    </a:solidFill>
                  </a:tcPr>
                </a:tc>
                <a:tc>
                  <a:txBody>
                    <a:bodyPr wrap="square"/>
                    <a:lstStyle/>
                    <a:p>
                      <a:pPr algn="ctr"/>
                      <a:r>
                        <a:rPr sz="1500" b="0">
                          <a:solidFill>
                            <a:srgbClr val="323232"/>
                          </a:solidFill>
                        </a:rPr>
                        <a:t>0.784  [0.718, 0.848]</a:t>
                      </a:r>
                    </a:p>
                  </a:txBody>
                  <a:tcPr marL="91440" marR="91440" marT="27432" marB="27432" anchor="ctr">
                    <a:solidFill>
                      <a:srgbClr val="FFFFFF"/>
                    </a:solidFill>
                  </a:tcPr>
                </a:tc>
                <a:tc>
                  <a:txBody>
                    <a:bodyPr wrap="square"/>
                    <a:lstStyle/>
                    <a:p>
                      <a:pPr algn="ctr"/>
                      <a:r>
                        <a:rPr sz="1500" b="0">
                          <a:solidFill>
                            <a:srgbClr val="323232"/>
                          </a:solidFill>
                        </a:rPr>
                        <a:t>0.802  [0.730, 0.872]</a:t>
                      </a:r>
                    </a:p>
                  </a:txBody>
                  <a:tcPr marL="91440" marR="91440" marT="27432" marB="27432" anchor="ctr">
                    <a:solidFill>
                      <a:srgbClr val="FFFFFF"/>
                    </a:solidFill>
                  </a:tcPr>
                </a:tc>
                <a:tc>
                  <a:txBody>
                    <a:bodyPr wrap="square"/>
                    <a:lstStyle/>
                    <a:p>
                      <a:pPr algn="ctr"/>
                      <a:r>
                        <a:rPr sz="1500" b="0">
                          <a:solidFill>
                            <a:srgbClr val="323232"/>
                          </a:solidFill>
                        </a:rPr>
                        <a:t>+0.018  [−0.043, +0.075]</a:t>
                      </a:r>
                    </a:p>
                  </a:txBody>
                  <a:tcPr marL="91440" marR="91440" marT="27432" marB="27432" anchor="ctr">
                    <a:solidFill>
                      <a:srgbClr val="FFFFFF"/>
                    </a:solidFill>
                  </a:tcPr>
                </a:tc>
                <a:tc>
                  <a:txBody>
                    <a:bodyPr wrap="square"/>
                    <a:lstStyle/>
                    <a:p>
                      <a:pPr algn="ctr"/>
                      <a:r>
                        <a:rPr sz="1500" b="0">
                          <a:solidFill>
                            <a:srgbClr val="323232"/>
                          </a:solidFill>
                        </a:rPr>
                        <a:t>0.520</a:t>
                      </a:r>
                    </a:p>
                  </a:txBody>
                  <a:tcPr marL="91440" marR="91440" marT="27432" marB="27432" anchor="ctr">
                    <a:solidFill>
                      <a:srgbClr val="FFFFFF"/>
                    </a:solidFill>
                  </a:tcPr>
                </a:tc>
                <a:tc>
                  <a:txBody>
                    <a:bodyPr wrap="square"/>
                    <a:lstStyle/>
                    <a:p>
                      <a:pPr algn="ctr"/>
                      <a:r>
                        <a:rPr sz="1500" b="0">
                          <a:solidFill>
                            <a:srgbClr val="323232"/>
                          </a:solidFill>
                        </a:rPr>
                        <a:t>1.000</a:t>
                      </a:r>
                    </a:p>
                  </a:txBody>
                  <a:tcPr marL="91440" marR="91440" marT="27432" marB="27432" anchor="ctr">
                    <a:solidFill>
                      <a:srgbClr val="FFFFFF"/>
                    </a:solidFill>
                  </a:tcPr>
                </a:tc>
              </a:tr>
              <a:tr h="445770">
                <a:tc>
                  <a:txBody>
                    <a:bodyPr wrap="square"/>
                    <a:lstStyle/>
                    <a:p>
                      <a:pPr algn="l"/>
                      <a:r>
                        <a:rPr sz="1500" b="1">
                          <a:solidFill>
                            <a:srgbClr val="323232"/>
                          </a:solidFill>
                        </a:rPr>
                        <a:t>Precision (mix)</a:t>
                      </a:r>
                    </a:p>
                  </a:txBody>
                  <a:tcPr marL="91440" marR="91440" marT="27432" marB="27432" anchor="ctr">
                    <a:solidFill>
                      <a:srgbClr val="DEF0FF"/>
                    </a:solidFill>
                  </a:tcPr>
                </a:tc>
                <a:tc>
                  <a:txBody>
                    <a:bodyPr wrap="square"/>
                    <a:lstStyle/>
                    <a:p>
                      <a:pPr algn="ctr"/>
                      <a:r>
                        <a:rPr sz="1500" b="1">
                          <a:solidFill>
                            <a:srgbClr val="323232"/>
                          </a:solidFill>
                        </a:rPr>
                        <a:t>0.559  [0.437, 0.681]</a:t>
                      </a:r>
                    </a:p>
                  </a:txBody>
                  <a:tcPr marL="91440" marR="91440" marT="27432" marB="27432" anchor="ctr">
                    <a:solidFill>
                      <a:srgbClr val="DEF0FF"/>
                    </a:solidFill>
                  </a:tcPr>
                </a:tc>
                <a:tc>
                  <a:txBody>
                    <a:bodyPr wrap="square"/>
                    <a:lstStyle/>
                    <a:p>
                      <a:pPr algn="ctr"/>
                      <a:r>
                        <a:rPr sz="1500" b="1">
                          <a:solidFill>
                            <a:srgbClr val="323232"/>
                          </a:solidFill>
                        </a:rPr>
                        <a:t>0.767  [0.644, 0.889]</a:t>
                      </a:r>
                    </a:p>
                  </a:txBody>
                  <a:tcPr marL="91440" marR="91440" marT="27432" marB="27432" anchor="ctr">
                    <a:solidFill>
                      <a:srgbClr val="DEF0FF"/>
                    </a:solidFill>
                  </a:tcPr>
                </a:tc>
                <a:tc>
                  <a:txBody>
                    <a:bodyPr wrap="square"/>
                    <a:lstStyle/>
                    <a:p>
                      <a:pPr algn="ctr"/>
                      <a:r>
                        <a:rPr sz="1500" b="1">
                          <a:solidFill>
                            <a:srgbClr val="323232"/>
                          </a:solidFill>
                        </a:rPr>
                        <a:t>+0.209  [+0.115, +0.312]</a:t>
                      </a:r>
                    </a:p>
                  </a:txBody>
                  <a:tcPr marL="91440" marR="91440" marT="27432" marB="27432" anchor="ctr">
                    <a:solidFill>
                      <a:srgbClr val="DEF0FF"/>
                    </a:solidFill>
                  </a:tcPr>
                </a:tc>
                <a:tc>
                  <a:txBody>
                    <a:bodyPr wrap="square"/>
                    <a:lstStyle/>
                    <a:p>
                      <a:pPr algn="ctr"/>
                      <a:r>
                        <a:rPr sz="1500" b="1">
                          <a:solidFill>
                            <a:srgbClr val="323232"/>
                          </a:solidFill>
                        </a:rPr>
                        <a:t>&lt;0.001</a:t>
                      </a:r>
                    </a:p>
                  </a:txBody>
                  <a:tcPr marL="91440" marR="91440" marT="27432" marB="27432" anchor="ctr">
                    <a:solidFill>
                      <a:srgbClr val="DEF0FF"/>
                    </a:solidFill>
                  </a:tcPr>
                </a:tc>
                <a:tc>
                  <a:txBody>
                    <a:bodyPr wrap="square"/>
                    <a:lstStyle/>
                    <a:p>
                      <a:pPr algn="ctr"/>
                      <a:r>
                        <a:rPr sz="1500" b="1">
                          <a:solidFill>
                            <a:srgbClr val="323232"/>
                          </a:solidFill>
                        </a:rPr>
                        <a:t>&lt;0.001</a:t>
                      </a:r>
                    </a:p>
                  </a:txBody>
                  <a:tcPr marL="91440" marR="91440" marT="27432" marB="27432" anchor="ctr">
                    <a:solidFill>
                      <a:srgbClr val="DEF0FF"/>
                    </a:solidFill>
                  </a:tcPr>
                </a:tc>
              </a:tr>
              <a:tr h="445770">
                <a:tc>
                  <a:txBody>
                    <a:bodyPr wrap="square"/>
                    <a:lstStyle/>
                    <a:p>
                      <a:pPr algn="l"/>
                      <a:r>
                        <a:rPr sz="1500" b="0">
                          <a:solidFill>
                            <a:srgbClr val="323232"/>
                          </a:solidFill>
                        </a:rPr>
                        <a:t>Recall (mix)</a:t>
                      </a:r>
                    </a:p>
                  </a:txBody>
                  <a:tcPr marL="91440" marR="91440" marT="27432" marB="27432" anchor="ctr">
                    <a:solidFill>
                      <a:srgbClr val="FFFFFF"/>
                    </a:solidFill>
                  </a:tcPr>
                </a:tc>
                <a:tc>
                  <a:txBody>
                    <a:bodyPr wrap="square"/>
                    <a:lstStyle/>
                    <a:p>
                      <a:pPr algn="ctr"/>
                      <a:r>
                        <a:rPr sz="1500" b="0">
                          <a:solidFill>
                            <a:srgbClr val="323232"/>
                          </a:solidFill>
                        </a:rPr>
                        <a:t>0.776  [0.650, 0.885]</a:t>
                      </a:r>
                    </a:p>
                  </a:txBody>
                  <a:tcPr marL="91440" marR="91440" marT="27432" marB="27432" anchor="ctr">
                    <a:solidFill>
                      <a:srgbClr val="FFFFFF"/>
                    </a:solidFill>
                  </a:tcPr>
                </a:tc>
                <a:tc>
                  <a:txBody>
                    <a:bodyPr wrap="square"/>
                    <a:lstStyle/>
                    <a:p>
                      <a:pPr algn="ctr"/>
                      <a:r>
                        <a:rPr sz="1500" b="0">
                          <a:solidFill>
                            <a:srgbClr val="323232"/>
                          </a:solidFill>
                        </a:rPr>
                        <a:t>0.673  [0.540, 0.809]</a:t>
                      </a:r>
                    </a:p>
                  </a:txBody>
                  <a:tcPr marL="91440" marR="91440" marT="27432" marB="27432" anchor="ctr">
                    <a:solidFill>
                      <a:srgbClr val="FFFFFF"/>
                    </a:solidFill>
                  </a:tcPr>
                </a:tc>
                <a:tc>
                  <a:txBody>
                    <a:bodyPr wrap="square"/>
                    <a:lstStyle/>
                    <a:p>
                      <a:pPr algn="ctr"/>
                      <a:r>
                        <a:rPr sz="1500" b="0">
                          <a:solidFill>
                            <a:srgbClr val="323232"/>
                          </a:solidFill>
                        </a:rPr>
                        <a:t>−0.102  [−0.212, +0.000]</a:t>
                      </a:r>
                    </a:p>
                  </a:txBody>
                  <a:tcPr marL="91440" marR="91440" marT="27432" marB="27432" anchor="ctr">
                    <a:solidFill>
                      <a:srgbClr val="FFFFFF"/>
                    </a:solidFill>
                  </a:tcPr>
                </a:tc>
                <a:tc>
                  <a:txBody>
                    <a:bodyPr wrap="square"/>
                    <a:lstStyle/>
                    <a:p>
                      <a:pPr algn="ctr"/>
                      <a:r>
                        <a:rPr sz="1500" b="0">
                          <a:solidFill>
                            <a:srgbClr val="323232"/>
                          </a:solidFill>
                        </a:rPr>
                        <a:t>0.127</a:t>
                      </a:r>
                    </a:p>
                  </a:txBody>
                  <a:tcPr marL="91440" marR="91440" marT="27432" marB="27432" anchor="ctr">
                    <a:solidFill>
                      <a:srgbClr val="FFFFFF"/>
                    </a:solidFill>
                  </a:tcPr>
                </a:tc>
                <a:tc>
                  <a:txBody>
                    <a:bodyPr wrap="square"/>
                    <a:lstStyle/>
                    <a:p>
                      <a:pPr algn="ctr"/>
                      <a:r>
                        <a:rPr sz="1500" b="0">
                          <a:solidFill>
                            <a:srgbClr val="323232"/>
                          </a:solidFill>
                        </a:rPr>
                        <a:t>0.563</a:t>
                      </a:r>
                    </a:p>
                  </a:txBody>
                  <a:tcPr marL="91440" marR="91440" marT="27432" marB="27432" anchor="ctr">
                    <a:solidFill>
                      <a:srgbClr val="FFFFFF"/>
                    </a:solidFill>
                  </a:tcPr>
                </a:tc>
              </a:tr>
              <a:tr h="445770">
                <a:tc>
                  <a:txBody>
                    <a:bodyPr wrap="square"/>
                    <a:lstStyle/>
                    <a:p>
                      <a:pPr algn="l"/>
                      <a:r>
                        <a:rPr sz="1500" b="0">
                          <a:solidFill>
                            <a:srgbClr val="323232"/>
                          </a:solidFill>
                        </a:rPr>
                        <a:t>F1 (mix)</a:t>
                      </a:r>
                    </a:p>
                  </a:txBody>
                  <a:tcPr marL="91440" marR="91440" marT="27432" marB="27432" anchor="ctr">
                    <a:solidFill>
                      <a:srgbClr val="DEF0FF"/>
                    </a:solidFill>
                  </a:tcPr>
                </a:tc>
                <a:tc>
                  <a:txBody>
                    <a:bodyPr wrap="square"/>
                    <a:lstStyle/>
                    <a:p>
                      <a:pPr algn="ctr"/>
                      <a:r>
                        <a:rPr sz="1500" b="0">
                          <a:solidFill>
                            <a:srgbClr val="323232"/>
                          </a:solidFill>
                        </a:rPr>
                        <a:t>0.650  [0.547, 0.740]</a:t>
                      </a:r>
                    </a:p>
                  </a:txBody>
                  <a:tcPr marL="91440" marR="91440" marT="27432" marB="27432" anchor="ctr">
                    <a:solidFill>
                      <a:srgbClr val="DEF0FF"/>
                    </a:solidFill>
                  </a:tcPr>
                </a:tc>
                <a:tc>
                  <a:txBody>
                    <a:bodyPr wrap="square"/>
                    <a:lstStyle/>
                    <a:p>
                      <a:pPr algn="ctr"/>
                      <a:r>
                        <a:rPr sz="1500" b="0">
                          <a:solidFill>
                            <a:srgbClr val="323232"/>
                          </a:solidFill>
                        </a:rPr>
                        <a:t>0.717  [0.607, 0.810]</a:t>
                      </a:r>
                    </a:p>
                  </a:txBody>
                  <a:tcPr marL="91440" marR="91440" marT="27432" marB="27432" anchor="ctr">
                    <a:solidFill>
                      <a:srgbClr val="DEF0FF"/>
                    </a:solidFill>
                  </a:tcPr>
                </a:tc>
                <a:tc>
                  <a:txBody>
                    <a:bodyPr wrap="square"/>
                    <a:lstStyle/>
                    <a:p>
                      <a:pPr algn="ctr"/>
                      <a:r>
                        <a:rPr sz="1500" b="0">
                          <a:solidFill>
                            <a:srgbClr val="323232"/>
                          </a:solidFill>
                        </a:rPr>
                        <a:t>+0.068  [−0.022, +0.155]</a:t>
                      </a:r>
                    </a:p>
                  </a:txBody>
                  <a:tcPr marL="91440" marR="91440" marT="27432" marB="27432" anchor="ctr">
                    <a:solidFill>
                      <a:srgbClr val="DEF0FF"/>
                    </a:solidFill>
                  </a:tcPr>
                </a:tc>
                <a:tc>
                  <a:txBody>
                    <a:bodyPr wrap="square"/>
                    <a:lstStyle/>
                    <a:p>
                      <a:pPr algn="ctr"/>
                      <a:r>
                        <a:rPr sz="1500" b="0">
                          <a:solidFill>
                            <a:srgbClr val="323232"/>
                          </a:solidFill>
                        </a:rPr>
                        <a:t>0.113</a:t>
                      </a:r>
                    </a:p>
                  </a:txBody>
                  <a:tcPr marL="91440" marR="91440" marT="27432" marB="27432" anchor="ctr">
                    <a:solidFill>
                      <a:srgbClr val="DEF0FF"/>
                    </a:solidFill>
                  </a:tcPr>
                </a:tc>
                <a:tc>
                  <a:txBody>
                    <a:bodyPr wrap="square"/>
                    <a:lstStyle/>
                    <a:p>
                      <a:pPr algn="ctr"/>
                      <a:r>
                        <a:rPr sz="1500" b="0">
                          <a:solidFill>
                            <a:srgbClr val="323232"/>
                          </a:solidFill>
                        </a:rPr>
                        <a:t>0.563</a:t>
                      </a:r>
                    </a:p>
                  </a:txBody>
                  <a:tcPr marL="91440" marR="91440" marT="27432" marB="27432" anchor="ctr">
                    <a:solidFill>
                      <a:srgbClr val="DEF0FF"/>
                    </a:solidFill>
                  </a:tcPr>
                </a:tc>
              </a:tr>
              <a:tr h="445770">
                <a:tc>
                  <a:txBody>
                    <a:bodyPr wrap="square"/>
                    <a:lstStyle/>
                    <a:p>
                      <a:pPr algn="l"/>
                      <a:r>
                        <a:rPr sz="1500" b="1">
                          <a:solidFill>
                            <a:srgbClr val="323232"/>
                          </a:solidFill>
                        </a:rPr>
                        <a:t>Accuracy</a:t>
                      </a:r>
                    </a:p>
                  </a:txBody>
                  <a:tcPr marL="91440" marR="91440" marT="27432" marB="27432" anchor="ctr">
                    <a:solidFill>
                      <a:srgbClr val="FFFFFF"/>
                    </a:solidFill>
                  </a:tcPr>
                </a:tc>
                <a:tc>
                  <a:txBody>
                    <a:bodyPr wrap="square"/>
                    <a:lstStyle/>
                    <a:p>
                      <a:pPr algn="ctr"/>
                      <a:r>
                        <a:rPr sz="1500" b="1">
                          <a:solidFill>
                            <a:srgbClr val="323232"/>
                          </a:solidFill>
                        </a:rPr>
                        <a:t>0.788  [0.731, 0.845]</a:t>
                      </a:r>
                    </a:p>
                  </a:txBody>
                  <a:tcPr marL="91440" marR="91440" marT="27432" marB="27432" anchor="ctr">
                    <a:solidFill>
                      <a:srgbClr val="FFFFFF"/>
                    </a:solidFill>
                  </a:tcPr>
                </a:tc>
                <a:tc>
                  <a:txBody>
                    <a:bodyPr wrap="square"/>
                    <a:lstStyle/>
                    <a:p>
                      <a:pPr algn="ctr"/>
                      <a:r>
                        <a:rPr sz="1500" b="1">
                          <a:solidFill>
                            <a:srgbClr val="323232"/>
                          </a:solidFill>
                        </a:rPr>
                        <a:t>0.865  [0.819, 0.912]</a:t>
                      </a:r>
                    </a:p>
                  </a:txBody>
                  <a:tcPr marL="91440" marR="91440" marT="27432" marB="27432" anchor="ctr">
                    <a:solidFill>
                      <a:srgbClr val="FFFFFF"/>
                    </a:solidFill>
                  </a:tcPr>
                </a:tc>
                <a:tc>
                  <a:txBody>
                    <a:bodyPr wrap="square"/>
                    <a:lstStyle/>
                    <a:p>
                      <a:pPr algn="ctr"/>
                      <a:r>
                        <a:rPr sz="1500" b="1">
                          <a:solidFill>
                            <a:srgbClr val="323232"/>
                          </a:solidFill>
                        </a:rPr>
                        <a:t>+0.078  [+0.026, +0.130]</a:t>
                      </a:r>
                    </a:p>
                  </a:txBody>
                  <a:tcPr marL="91440" marR="91440" marT="27432" marB="27432" anchor="ctr">
                    <a:solidFill>
                      <a:srgbClr val="FFFFFF"/>
                    </a:solidFill>
                  </a:tcPr>
                </a:tc>
                <a:tc>
                  <a:txBody>
                    <a:bodyPr wrap="square"/>
                    <a:lstStyle/>
                    <a:p>
                      <a:pPr algn="ctr"/>
                      <a:r>
                        <a:rPr sz="1500" b="1">
                          <a:solidFill>
                            <a:srgbClr val="323232"/>
                          </a:solidFill>
                        </a:rPr>
                        <a:t>0.006</a:t>
                      </a:r>
                    </a:p>
                  </a:txBody>
                  <a:tcPr marL="91440" marR="91440" marT="27432" marB="27432" anchor="ctr">
                    <a:solidFill>
                      <a:srgbClr val="FFFFFF"/>
                    </a:solidFill>
                  </a:tcPr>
                </a:tc>
                <a:tc>
                  <a:txBody>
                    <a:bodyPr wrap="square"/>
                    <a:lstStyle/>
                    <a:p>
                      <a:pPr algn="ctr"/>
                      <a:r>
                        <a:rPr sz="1500" b="1">
                          <a:solidFill>
                            <a:srgbClr val="323232"/>
                          </a:solidFill>
                        </a:rPr>
                        <a:t>0.035</a:t>
                      </a:r>
                    </a:p>
                  </a:txBody>
                  <a:tcPr marL="91440" marR="91440" marT="27432" marB="27432" anchor="ctr">
                    <a:solidFill>
                      <a:srgbClr val="FFFFFF"/>
                    </a:solidFill>
                  </a:tcPr>
                </a:tc>
              </a:tr>
            </a:tbl>
          </a:graphicData>
        </a:graphic>
      </p:graphicFrame>
      <p:sp>
        <p:nvSpPr>
          <p:cNvPr id="7" name="TextBox 6"/>
          <p:cNvSpPr txBox="1"/>
          <p:nvPr/>
        </p:nvSpPr>
        <p:spPr>
          <a:xfrm>
            <a:off x="603504" y="5760720"/>
            <a:ext cx="10991088" cy="548640"/>
          </a:xfrm>
          <a:prstGeom prst="rect">
            <a:avLst/>
          </a:prstGeom>
          <a:noFill/>
        </p:spPr>
        <p:txBody>
          <a:bodyPr wrap="square" anchor="t" lIns="0" rIns="0" tIns="0" bIns="0">
            <a:spAutoFit/>
          </a:bodyPr>
          <a:lstStyle/>
          <a:p>
            <a:pPr algn="l">
              <a:lnSpc>
                <a:spcPct val="105000"/>
              </a:lnSpc>
              <a:spcAft>
                <a:spcPts val="600"/>
              </a:spcAft>
            </a:pPr>
            <a:r>
              <a:rPr sz="1300" b="0" i="0">
                <a:solidFill>
                  <a:srgbClr val="595959"/>
                </a:solidFill>
              </a:rPr>
              <a:t>n = 193 test questions (49 mix_required). Marginal CIs: 1,000 bootstrap resamples. Paired CIs: 10,000 paired resamples. p: paired permutation test (10,000). Holm over the 7 metrics. DeLong AUROC p = 0.18.</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03504" y="868680"/>
            <a:ext cx="10991088" cy="960120"/>
          </a:xfrm>
        </p:spPr>
        <p:txBody>
          <a:bodyPr anchor="t" wrap="square"/>
          <a:lstStyle/>
          <a:p>
            <a:pPr>
              <a:lnSpc>
                <a:spcPct val="95000"/>
              </a:lnSpc>
            </a:pPr>
            <a:r>
              <a:rPr sz="3000"/>
              <a:t>Backup: every ModernBERT seed scores above TF-IDF on the aggregate metrics</a:t>
            </a:r>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t>Adaptive Hybrid RAG  ·  Dante Wesslund  ·  KTH 2026</a:t>
            </a:r>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graphicFrame>
        <p:nvGraphicFramePr>
          <p:cNvPr id="6" name="Table 5"/>
          <p:cNvGraphicFramePr>
            <a:graphicFrameLocks noGrp="1"/>
          </p:cNvGraphicFramePr>
          <p:nvPr/>
        </p:nvGraphicFramePr>
        <p:xfrm>
          <a:off x="603504" y="2103120"/>
          <a:ext cx="11000232" cy="3200400"/>
        </p:xfrm>
        <a:graphic>
          <a:graphicData uri="http://schemas.openxmlformats.org/drawingml/2006/table">
            <a:tbl>
              <a:tblPr firstRow="1" bandRow="1">
                <a:tableStyleId>{5940675A-B579-460E-94D1-54222C63F5DA}</a:tableStyleId>
              </a:tblPr>
              <a:tblGrid>
                <a:gridCol w="1554480"/>
                <a:gridCol w="1188720"/>
                <a:gridCol w="1179576"/>
                <a:gridCol w="1179576"/>
                <a:gridCol w="1179576"/>
                <a:gridCol w="1179576"/>
                <a:gridCol w="1179576"/>
                <a:gridCol w="1179576"/>
                <a:gridCol w="1179576"/>
              </a:tblGrid>
              <a:tr h="457200">
                <a:tc>
                  <a:txBody>
                    <a:bodyPr wrap="square"/>
                    <a:lstStyle/>
                    <a:p>
                      <a:pPr algn="l"/>
                      <a:r>
                        <a:rPr sz="1600" b="1">
                          <a:solidFill>
                            <a:srgbClr val="FFFFFF"/>
                          </a:solidFill>
                        </a:rPr>
                        <a:t>Run</a:t>
                      </a:r>
                    </a:p>
                  </a:txBody>
                  <a:tcPr marL="91440" marR="91440" marT="27432" marB="27432" anchor="ctr">
                    <a:solidFill>
                      <a:srgbClr val="004791"/>
                    </a:solidFill>
                  </a:tcPr>
                </a:tc>
                <a:tc>
                  <a:txBody>
                    <a:bodyPr wrap="square"/>
                    <a:lstStyle/>
                    <a:p>
                      <a:pPr algn="ctr"/>
                      <a:r>
                        <a:rPr sz="1600" b="1">
                          <a:solidFill>
                            <a:srgbClr val="FFFFFF"/>
                          </a:solidFill>
                        </a:rPr>
                        <a:t>Threshold</a:t>
                      </a:r>
                    </a:p>
                  </a:txBody>
                  <a:tcPr marL="91440" marR="91440" marT="27432" marB="27432" anchor="ctr">
                    <a:solidFill>
                      <a:srgbClr val="004791"/>
                    </a:solidFill>
                  </a:tcPr>
                </a:tc>
                <a:tc>
                  <a:txBody>
                    <a:bodyPr wrap="square"/>
                    <a:lstStyle/>
                    <a:p>
                      <a:pPr algn="ctr"/>
                      <a:r>
                        <a:rPr sz="1600" b="1">
                          <a:solidFill>
                            <a:srgbClr val="FFFFFF"/>
                          </a:solidFill>
                        </a:rPr>
                        <a:t>AUPRC</a:t>
                      </a:r>
                    </a:p>
                  </a:txBody>
                  <a:tcPr marL="91440" marR="91440" marT="27432" marB="27432" anchor="ctr">
                    <a:solidFill>
                      <a:srgbClr val="004791"/>
                    </a:solidFill>
                  </a:tcPr>
                </a:tc>
                <a:tc>
                  <a:txBody>
                    <a:bodyPr wrap="square"/>
                    <a:lstStyle/>
                    <a:p>
                      <a:pPr algn="ctr"/>
                      <a:r>
                        <a:rPr sz="1600" b="1">
                          <a:solidFill>
                            <a:srgbClr val="FFFFFF"/>
                          </a:solidFill>
                        </a:rPr>
                        <a:t>AUROC</a:t>
                      </a:r>
                    </a:p>
                  </a:txBody>
                  <a:tcPr marL="91440" marR="91440" marT="27432" marB="27432" anchor="ctr">
                    <a:solidFill>
                      <a:srgbClr val="004791"/>
                    </a:solidFill>
                  </a:tcPr>
                </a:tc>
                <a:tc>
                  <a:txBody>
                    <a:bodyPr wrap="square"/>
                    <a:lstStyle/>
                    <a:p>
                      <a:pPr algn="ctr"/>
                      <a:r>
                        <a:rPr sz="1600" b="1">
                          <a:solidFill>
                            <a:srgbClr val="FFFFFF"/>
                          </a:solidFill>
                        </a:rPr>
                        <a:t>Bal. acc.</a:t>
                      </a:r>
                    </a:p>
                  </a:txBody>
                  <a:tcPr marL="91440" marR="91440" marT="27432" marB="27432" anchor="ctr">
                    <a:solidFill>
                      <a:srgbClr val="004791"/>
                    </a:solidFill>
                  </a:tcPr>
                </a:tc>
                <a:tc>
                  <a:txBody>
                    <a:bodyPr wrap="square"/>
                    <a:lstStyle/>
                    <a:p>
                      <a:pPr algn="ctr"/>
                      <a:r>
                        <a:rPr sz="1600" b="1">
                          <a:solidFill>
                            <a:srgbClr val="FFFFFF"/>
                          </a:solidFill>
                        </a:rPr>
                        <a:t>Precision</a:t>
                      </a:r>
                    </a:p>
                  </a:txBody>
                  <a:tcPr marL="91440" marR="91440" marT="27432" marB="27432" anchor="ctr">
                    <a:solidFill>
                      <a:srgbClr val="004791"/>
                    </a:solidFill>
                  </a:tcPr>
                </a:tc>
                <a:tc>
                  <a:txBody>
                    <a:bodyPr wrap="square"/>
                    <a:lstStyle/>
                    <a:p>
                      <a:pPr algn="ctr"/>
                      <a:r>
                        <a:rPr sz="1600" b="1">
                          <a:solidFill>
                            <a:srgbClr val="FFFFFF"/>
                          </a:solidFill>
                        </a:rPr>
                        <a:t>Recall</a:t>
                      </a:r>
                    </a:p>
                  </a:txBody>
                  <a:tcPr marL="91440" marR="91440" marT="27432" marB="27432" anchor="ctr">
                    <a:solidFill>
                      <a:srgbClr val="004791"/>
                    </a:solidFill>
                  </a:tcPr>
                </a:tc>
                <a:tc>
                  <a:txBody>
                    <a:bodyPr wrap="square"/>
                    <a:lstStyle/>
                    <a:p>
                      <a:pPr algn="ctr"/>
                      <a:r>
                        <a:rPr sz="1600" b="1">
                          <a:solidFill>
                            <a:srgbClr val="FFFFFF"/>
                          </a:solidFill>
                        </a:rPr>
                        <a:t>F1</a:t>
                      </a:r>
                    </a:p>
                  </a:txBody>
                  <a:tcPr marL="91440" marR="91440" marT="27432" marB="27432" anchor="ctr">
                    <a:solidFill>
                      <a:srgbClr val="004791"/>
                    </a:solidFill>
                  </a:tcPr>
                </a:tc>
                <a:tc>
                  <a:txBody>
                    <a:bodyPr wrap="square"/>
                    <a:lstStyle/>
                    <a:p>
                      <a:pPr algn="ctr"/>
                      <a:r>
                        <a:rPr sz="1600" b="1">
                          <a:solidFill>
                            <a:srgbClr val="FFFFFF"/>
                          </a:solidFill>
                        </a:rPr>
                        <a:t>Accuracy</a:t>
                      </a:r>
                    </a:p>
                  </a:txBody>
                  <a:tcPr marL="91440" marR="91440" marT="27432" marB="27432" anchor="ctr">
                    <a:solidFill>
                      <a:srgbClr val="004791"/>
                    </a:solidFill>
                  </a:tcPr>
                </a:tc>
              </a:tr>
              <a:tr h="457200">
                <a:tc>
                  <a:txBody>
                    <a:bodyPr wrap="square"/>
                    <a:lstStyle/>
                    <a:p>
                      <a:pPr algn="l"/>
                      <a:r>
                        <a:rPr sz="1600" b="0">
                          <a:solidFill>
                            <a:srgbClr val="323232"/>
                          </a:solidFill>
                        </a:rPr>
                        <a:t>Seed 7</a:t>
                      </a:r>
                    </a:p>
                  </a:txBody>
                  <a:tcPr marL="91440" marR="91440" marT="27432" marB="27432" anchor="ctr">
                    <a:solidFill>
                      <a:srgbClr val="FFFFFF"/>
                    </a:solidFill>
                  </a:tcPr>
                </a:tc>
                <a:tc>
                  <a:txBody>
                    <a:bodyPr wrap="square"/>
                    <a:lstStyle/>
                    <a:p>
                      <a:pPr algn="ctr"/>
                      <a:r>
                        <a:rPr sz="1600" b="0">
                          <a:solidFill>
                            <a:srgbClr val="323232"/>
                          </a:solidFill>
                        </a:rPr>
                        <a:t>0.36</a:t>
                      </a:r>
                    </a:p>
                  </a:txBody>
                  <a:tcPr marL="91440" marR="91440" marT="27432" marB="27432" anchor="ctr">
                    <a:solidFill>
                      <a:srgbClr val="FFFFFF"/>
                    </a:solidFill>
                  </a:tcPr>
                </a:tc>
                <a:tc>
                  <a:txBody>
                    <a:bodyPr wrap="square"/>
                    <a:lstStyle/>
                    <a:p>
                      <a:pPr algn="ctr"/>
                      <a:r>
                        <a:rPr sz="1600" b="0">
                          <a:solidFill>
                            <a:srgbClr val="323232"/>
                          </a:solidFill>
                        </a:rPr>
                        <a:t>0.754</a:t>
                      </a:r>
                    </a:p>
                  </a:txBody>
                  <a:tcPr marL="91440" marR="91440" marT="27432" marB="27432" anchor="ctr">
                    <a:solidFill>
                      <a:srgbClr val="FFFFFF"/>
                    </a:solidFill>
                  </a:tcPr>
                </a:tc>
                <a:tc>
                  <a:txBody>
                    <a:bodyPr wrap="square"/>
                    <a:lstStyle/>
                    <a:p>
                      <a:pPr algn="ctr"/>
                      <a:r>
                        <a:rPr sz="1600" b="0">
                          <a:solidFill>
                            <a:srgbClr val="323232"/>
                          </a:solidFill>
                        </a:rPr>
                        <a:t>0.895</a:t>
                      </a:r>
                    </a:p>
                  </a:txBody>
                  <a:tcPr marL="91440" marR="91440" marT="27432" marB="27432" anchor="ctr">
                    <a:solidFill>
                      <a:srgbClr val="FFFFFF"/>
                    </a:solidFill>
                  </a:tcPr>
                </a:tc>
                <a:tc>
                  <a:txBody>
                    <a:bodyPr wrap="square"/>
                    <a:lstStyle/>
                    <a:p>
                      <a:pPr algn="ctr"/>
                      <a:r>
                        <a:rPr sz="1600" b="0">
                          <a:solidFill>
                            <a:srgbClr val="323232"/>
                          </a:solidFill>
                        </a:rPr>
                        <a:t>0.791</a:t>
                      </a:r>
                    </a:p>
                  </a:txBody>
                  <a:tcPr marL="91440" marR="91440" marT="27432" marB="27432" anchor="ctr">
                    <a:solidFill>
                      <a:srgbClr val="FFFFFF"/>
                    </a:solidFill>
                  </a:tcPr>
                </a:tc>
                <a:tc>
                  <a:txBody>
                    <a:bodyPr wrap="square"/>
                    <a:lstStyle/>
                    <a:p>
                      <a:pPr algn="ctr"/>
                      <a:r>
                        <a:rPr sz="1600" b="0">
                          <a:solidFill>
                            <a:srgbClr val="323232"/>
                          </a:solidFill>
                        </a:rPr>
                        <a:t>0.648</a:t>
                      </a:r>
                    </a:p>
                  </a:txBody>
                  <a:tcPr marL="91440" marR="91440" marT="27432" marB="27432" anchor="ctr">
                    <a:solidFill>
                      <a:srgbClr val="FFFFFF"/>
                    </a:solidFill>
                  </a:tcPr>
                </a:tc>
                <a:tc>
                  <a:txBody>
                    <a:bodyPr wrap="square"/>
                    <a:lstStyle/>
                    <a:p>
                      <a:pPr algn="ctr"/>
                      <a:r>
                        <a:rPr sz="1600" b="0">
                          <a:solidFill>
                            <a:srgbClr val="323232"/>
                          </a:solidFill>
                        </a:rPr>
                        <a:t>0.714</a:t>
                      </a:r>
                    </a:p>
                  </a:txBody>
                  <a:tcPr marL="91440" marR="91440" marT="27432" marB="27432" anchor="ctr">
                    <a:solidFill>
                      <a:srgbClr val="FFFFFF"/>
                    </a:solidFill>
                  </a:tcPr>
                </a:tc>
                <a:tc>
                  <a:txBody>
                    <a:bodyPr wrap="square"/>
                    <a:lstStyle/>
                    <a:p>
                      <a:pPr algn="ctr"/>
                      <a:r>
                        <a:rPr sz="1600" b="0">
                          <a:solidFill>
                            <a:srgbClr val="323232"/>
                          </a:solidFill>
                        </a:rPr>
                        <a:t>0.680</a:t>
                      </a:r>
                    </a:p>
                  </a:txBody>
                  <a:tcPr marL="91440" marR="91440" marT="27432" marB="27432" anchor="ctr">
                    <a:solidFill>
                      <a:srgbClr val="FFFFFF"/>
                    </a:solidFill>
                  </a:tcPr>
                </a:tc>
                <a:tc>
                  <a:txBody>
                    <a:bodyPr wrap="square"/>
                    <a:lstStyle/>
                    <a:p>
                      <a:pPr algn="ctr"/>
                      <a:r>
                        <a:rPr sz="1600" b="0">
                          <a:solidFill>
                            <a:srgbClr val="323232"/>
                          </a:solidFill>
                        </a:rPr>
                        <a:t>0.829</a:t>
                      </a:r>
                    </a:p>
                  </a:txBody>
                  <a:tcPr marL="91440" marR="91440" marT="27432" marB="27432" anchor="ctr">
                    <a:solidFill>
                      <a:srgbClr val="FFFFFF"/>
                    </a:solidFill>
                  </a:tcPr>
                </a:tc>
              </a:tr>
              <a:tr h="457200">
                <a:tc>
                  <a:txBody>
                    <a:bodyPr wrap="square"/>
                    <a:lstStyle/>
                    <a:p>
                      <a:pPr algn="l"/>
                      <a:r>
                        <a:rPr sz="1600" b="0">
                          <a:solidFill>
                            <a:srgbClr val="323232"/>
                          </a:solidFill>
                        </a:rPr>
                        <a:t>Seed 13</a:t>
                      </a:r>
                    </a:p>
                  </a:txBody>
                  <a:tcPr marL="91440" marR="91440" marT="27432" marB="27432" anchor="ctr">
                    <a:solidFill>
                      <a:srgbClr val="DEF0FF"/>
                    </a:solidFill>
                  </a:tcPr>
                </a:tc>
                <a:tc>
                  <a:txBody>
                    <a:bodyPr wrap="square"/>
                    <a:lstStyle/>
                    <a:p>
                      <a:pPr algn="ctr"/>
                      <a:r>
                        <a:rPr sz="1600" b="0">
                          <a:solidFill>
                            <a:srgbClr val="323232"/>
                          </a:solidFill>
                        </a:rPr>
                        <a:t>0.42</a:t>
                      </a:r>
                    </a:p>
                  </a:txBody>
                  <a:tcPr marL="91440" marR="91440" marT="27432" marB="27432" anchor="ctr">
                    <a:solidFill>
                      <a:srgbClr val="DEF0FF"/>
                    </a:solidFill>
                  </a:tcPr>
                </a:tc>
                <a:tc>
                  <a:txBody>
                    <a:bodyPr wrap="square"/>
                    <a:lstStyle/>
                    <a:p>
                      <a:pPr algn="ctr"/>
                      <a:r>
                        <a:rPr sz="1600" b="0">
                          <a:solidFill>
                            <a:srgbClr val="323232"/>
                          </a:solidFill>
                        </a:rPr>
                        <a:t>0.783</a:t>
                      </a:r>
                    </a:p>
                  </a:txBody>
                  <a:tcPr marL="91440" marR="91440" marT="27432" marB="27432" anchor="ctr">
                    <a:solidFill>
                      <a:srgbClr val="DEF0FF"/>
                    </a:solidFill>
                  </a:tcPr>
                </a:tc>
                <a:tc>
                  <a:txBody>
                    <a:bodyPr wrap="square"/>
                    <a:lstStyle/>
                    <a:p>
                      <a:pPr algn="ctr"/>
                      <a:r>
                        <a:rPr sz="1600" b="0">
                          <a:solidFill>
                            <a:srgbClr val="323232"/>
                          </a:solidFill>
                        </a:rPr>
                        <a:t>0.915</a:t>
                      </a:r>
                    </a:p>
                  </a:txBody>
                  <a:tcPr marL="91440" marR="91440" marT="27432" marB="27432" anchor="ctr">
                    <a:solidFill>
                      <a:srgbClr val="DEF0FF"/>
                    </a:solidFill>
                  </a:tcPr>
                </a:tc>
                <a:tc>
                  <a:txBody>
                    <a:bodyPr wrap="square"/>
                    <a:lstStyle/>
                    <a:p>
                      <a:pPr algn="ctr"/>
                      <a:r>
                        <a:rPr sz="1600" b="0">
                          <a:solidFill>
                            <a:srgbClr val="323232"/>
                          </a:solidFill>
                        </a:rPr>
                        <a:t>0.792</a:t>
                      </a:r>
                    </a:p>
                  </a:txBody>
                  <a:tcPr marL="91440" marR="91440" marT="27432" marB="27432" anchor="ctr">
                    <a:solidFill>
                      <a:srgbClr val="DEF0FF"/>
                    </a:solidFill>
                  </a:tcPr>
                </a:tc>
                <a:tc>
                  <a:txBody>
                    <a:bodyPr wrap="square"/>
                    <a:lstStyle/>
                    <a:p>
                      <a:pPr algn="ctr"/>
                      <a:r>
                        <a:rPr sz="1600" b="0">
                          <a:solidFill>
                            <a:srgbClr val="323232"/>
                          </a:solidFill>
                        </a:rPr>
                        <a:t>0.762</a:t>
                      </a:r>
                    </a:p>
                  </a:txBody>
                  <a:tcPr marL="91440" marR="91440" marT="27432" marB="27432" anchor="ctr">
                    <a:solidFill>
                      <a:srgbClr val="DEF0FF"/>
                    </a:solidFill>
                  </a:tcPr>
                </a:tc>
                <a:tc>
                  <a:txBody>
                    <a:bodyPr wrap="square"/>
                    <a:lstStyle/>
                    <a:p>
                      <a:pPr algn="ctr"/>
                      <a:r>
                        <a:rPr sz="1600" b="0">
                          <a:solidFill>
                            <a:srgbClr val="323232"/>
                          </a:solidFill>
                        </a:rPr>
                        <a:t>0.653</a:t>
                      </a:r>
                    </a:p>
                  </a:txBody>
                  <a:tcPr marL="91440" marR="91440" marT="27432" marB="27432" anchor="ctr">
                    <a:solidFill>
                      <a:srgbClr val="DEF0FF"/>
                    </a:solidFill>
                  </a:tcPr>
                </a:tc>
                <a:tc>
                  <a:txBody>
                    <a:bodyPr wrap="square"/>
                    <a:lstStyle/>
                    <a:p>
                      <a:pPr algn="ctr"/>
                      <a:r>
                        <a:rPr sz="1600" b="0">
                          <a:solidFill>
                            <a:srgbClr val="323232"/>
                          </a:solidFill>
                        </a:rPr>
                        <a:t>0.703</a:t>
                      </a:r>
                    </a:p>
                  </a:txBody>
                  <a:tcPr marL="91440" marR="91440" marT="27432" marB="27432" anchor="ctr">
                    <a:solidFill>
                      <a:srgbClr val="DEF0FF"/>
                    </a:solidFill>
                  </a:tcPr>
                </a:tc>
                <a:tc>
                  <a:txBody>
                    <a:bodyPr wrap="square"/>
                    <a:lstStyle/>
                    <a:p>
                      <a:pPr algn="ctr"/>
                      <a:r>
                        <a:rPr sz="1600" b="0">
                          <a:solidFill>
                            <a:srgbClr val="323232"/>
                          </a:solidFill>
                        </a:rPr>
                        <a:t>0.860</a:t>
                      </a:r>
                    </a:p>
                  </a:txBody>
                  <a:tcPr marL="91440" marR="91440" marT="27432" marB="27432" anchor="ctr">
                    <a:solidFill>
                      <a:srgbClr val="DEF0FF"/>
                    </a:solidFill>
                  </a:tcPr>
                </a:tc>
              </a:tr>
              <a:tr h="457200">
                <a:tc>
                  <a:txBody>
                    <a:bodyPr wrap="square"/>
                    <a:lstStyle/>
                    <a:p>
                      <a:pPr algn="l"/>
                      <a:r>
                        <a:rPr sz="1600" b="0">
                          <a:solidFill>
                            <a:srgbClr val="323232"/>
                          </a:solidFill>
                        </a:rPr>
                        <a:t>Seed 42</a:t>
                      </a:r>
                    </a:p>
                  </a:txBody>
                  <a:tcPr marL="91440" marR="91440" marT="27432" marB="27432" anchor="ctr">
                    <a:solidFill>
                      <a:srgbClr val="FFFFFF"/>
                    </a:solidFill>
                  </a:tcPr>
                </a:tc>
                <a:tc>
                  <a:txBody>
                    <a:bodyPr wrap="square"/>
                    <a:lstStyle/>
                    <a:p>
                      <a:pPr algn="ctr"/>
                      <a:r>
                        <a:rPr sz="1600" b="0">
                          <a:solidFill>
                            <a:srgbClr val="323232"/>
                          </a:solidFill>
                        </a:rPr>
                        <a:t>0.24</a:t>
                      </a:r>
                    </a:p>
                  </a:txBody>
                  <a:tcPr marL="91440" marR="91440" marT="27432" marB="27432" anchor="ctr">
                    <a:solidFill>
                      <a:srgbClr val="FFFFFF"/>
                    </a:solidFill>
                  </a:tcPr>
                </a:tc>
                <a:tc>
                  <a:txBody>
                    <a:bodyPr wrap="square"/>
                    <a:lstStyle/>
                    <a:p>
                      <a:pPr algn="ctr"/>
                      <a:r>
                        <a:rPr sz="1600" b="0">
                          <a:solidFill>
                            <a:srgbClr val="323232"/>
                          </a:solidFill>
                        </a:rPr>
                        <a:t>0.771</a:t>
                      </a:r>
                    </a:p>
                  </a:txBody>
                  <a:tcPr marL="91440" marR="91440" marT="27432" marB="27432" anchor="ctr">
                    <a:solidFill>
                      <a:srgbClr val="FFFFFF"/>
                    </a:solidFill>
                  </a:tcPr>
                </a:tc>
                <a:tc>
                  <a:txBody>
                    <a:bodyPr wrap="square"/>
                    <a:lstStyle/>
                    <a:p>
                      <a:pPr algn="ctr"/>
                      <a:r>
                        <a:rPr sz="1600" b="0">
                          <a:solidFill>
                            <a:srgbClr val="323232"/>
                          </a:solidFill>
                        </a:rPr>
                        <a:t>0.915</a:t>
                      </a:r>
                    </a:p>
                  </a:txBody>
                  <a:tcPr marL="91440" marR="91440" marT="27432" marB="27432" anchor="ctr">
                    <a:solidFill>
                      <a:srgbClr val="FFFFFF"/>
                    </a:solidFill>
                  </a:tcPr>
                </a:tc>
                <a:tc>
                  <a:txBody>
                    <a:bodyPr wrap="square"/>
                    <a:lstStyle/>
                    <a:p>
                      <a:pPr algn="ctr"/>
                      <a:r>
                        <a:rPr sz="1600" b="0">
                          <a:solidFill>
                            <a:srgbClr val="323232"/>
                          </a:solidFill>
                        </a:rPr>
                        <a:t>0.812</a:t>
                      </a:r>
                    </a:p>
                  </a:txBody>
                  <a:tcPr marL="91440" marR="91440" marT="27432" marB="27432" anchor="ctr">
                    <a:solidFill>
                      <a:srgbClr val="FFFFFF"/>
                    </a:solidFill>
                  </a:tcPr>
                </a:tc>
                <a:tc>
                  <a:txBody>
                    <a:bodyPr wrap="square"/>
                    <a:lstStyle/>
                    <a:p>
                      <a:pPr algn="ctr"/>
                      <a:r>
                        <a:rPr sz="1600" b="0">
                          <a:solidFill>
                            <a:srgbClr val="323232"/>
                          </a:solidFill>
                        </a:rPr>
                        <a:t>0.692</a:t>
                      </a:r>
                    </a:p>
                  </a:txBody>
                  <a:tcPr marL="91440" marR="91440" marT="27432" marB="27432" anchor="ctr">
                    <a:solidFill>
                      <a:srgbClr val="FFFFFF"/>
                    </a:solidFill>
                  </a:tcPr>
                </a:tc>
                <a:tc>
                  <a:txBody>
                    <a:bodyPr wrap="square"/>
                    <a:lstStyle/>
                    <a:p>
                      <a:pPr algn="ctr"/>
                      <a:r>
                        <a:rPr sz="1600" b="0">
                          <a:solidFill>
                            <a:srgbClr val="323232"/>
                          </a:solidFill>
                        </a:rPr>
                        <a:t>0.735</a:t>
                      </a:r>
                    </a:p>
                  </a:txBody>
                  <a:tcPr marL="91440" marR="91440" marT="27432" marB="27432" anchor="ctr">
                    <a:solidFill>
                      <a:srgbClr val="FFFFFF"/>
                    </a:solidFill>
                  </a:tcPr>
                </a:tc>
                <a:tc>
                  <a:txBody>
                    <a:bodyPr wrap="square"/>
                    <a:lstStyle/>
                    <a:p>
                      <a:pPr algn="ctr"/>
                      <a:r>
                        <a:rPr sz="1600" b="0">
                          <a:solidFill>
                            <a:srgbClr val="323232"/>
                          </a:solidFill>
                        </a:rPr>
                        <a:t>0.713</a:t>
                      </a:r>
                    </a:p>
                  </a:txBody>
                  <a:tcPr marL="91440" marR="91440" marT="27432" marB="27432" anchor="ctr">
                    <a:solidFill>
                      <a:srgbClr val="FFFFFF"/>
                    </a:solidFill>
                  </a:tcPr>
                </a:tc>
                <a:tc>
                  <a:txBody>
                    <a:bodyPr wrap="square"/>
                    <a:lstStyle/>
                    <a:p>
                      <a:pPr algn="ctr"/>
                      <a:r>
                        <a:rPr sz="1600" b="0">
                          <a:solidFill>
                            <a:srgbClr val="323232"/>
                          </a:solidFill>
                        </a:rPr>
                        <a:t>0.850</a:t>
                      </a:r>
                    </a:p>
                  </a:txBody>
                  <a:tcPr marL="91440" marR="91440" marT="27432" marB="27432" anchor="ctr">
                    <a:solidFill>
                      <a:srgbClr val="FFFFFF"/>
                    </a:solidFill>
                  </a:tcPr>
                </a:tc>
              </a:tr>
              <a:tr h="457200">
                <a:tc>
                  <a:txBody>
                    <a:bodyPr wrap="square"/>
                    <a:lstStyle/>
                    <a:p>
                      <a:pPr algn="l"/>
                      <a:r>
                        <a:rPr sz="1600" b="0">
                          <a:solidFill>
                            <a:srgbClr val="323232"/>
                          </a:solidFill>
                        </a:rPr>
                        <a:t>Sample std</a:t>
                      </a:r>
                    </a:p>
                  </a:txBody>
                  <a:tcPr marL="91440" marR="91440" marT="27432" marB="27432" anchor="ctr">
                    <a:solidFill>
                      <a:srgbClr val="DEF0FF"/>
                    </a:solidFill>
                  </a:tcPr>
                </a:tc>
                <a:tc>
                  <a:txBody>
                    <a:bodyPr wrap="square"/>
                    <a:lstStyle/>
                    <a:p>
                      <a:pPr algn="ctr"/>
                      <a:r>
                        <a:rPr sz="1600" b="0">
                          <a:solidFill>
                            <a:srgbClr val="323232"/>
                          </a:solidFill>
                        </a:rPr>
                        <a:t>–</a:t>
                      </a:r>
                    </a:p>
                  </a:txBody>
                  <a:tcPr marL="91440" marR="91440" marT="27432" marB="27432" anchor="ctr">
                    <a:solidFill>
                      <a:srgbClr val="DEF0FF"/>
                    </a:solidFill>
                  </a:tcPr>
                </a:tc>
                <a:tc>
                  <a:txBody>
                    <a:bodyPr wrap="square"/>
                    <a:lstStyle/>
                    <a:p>
                      <a:pPr algn="ctr"/>
                      <a:r>
                        <a:rPr sz="1600" b="0">
                          <a:solidFill>
                            <a:srgbClr val="323232"/>
                          </a:solidFill>
                        </a:rPr>
                        <a:t>0.015</a:t>
                      </a:r>
                    </a:p>
                  </a:txBody>
                  <a:tcPr marL="91440" marR="91440" marT="27432" marB="27432" anchor="ctr">
                    <a:solidFill>
                      <a:srgbClr val="DEF0FF"/>
                    </a:solidFill>
                  </a:tcPr>
                </a:tc>
                <a:tc>
                  <a:txBody>
                    <a:bodyPr wrap="square"/>
                    <a:lstStyle/>
                    <a:p>
                      <a:pPr algn="ctr"/>
                      <a:r>
                        <a:rPr sz="1600" b="0">
                          <a:solidFill>
                            <a:srgbClr val="323232"/>
                          </a:solidFill>
                        </a:rPr>
                        <a:t>0.011</a:t>
                      </a:r>
                    </a:p>
                  </a:txBody>
                  <a:tcPr marL="91440" marR="91440" marT="27432" marB="27432" anchor="ctr">
                    <a:solidFill>
                      <a:srgbClr val="DEF0FF"/>
                    </a:solidFill>
                  </a:tcPr>
                </a:tc>
                <a:tc>
                  <a:txBody>
                    <a:bodyPr wrap="square"/>
                    <a:lstStyle/>
                    <a:p>
                      <a:pPr algn="ctr"/>
                      <a:r>
                        <a:rPr sz="1600" b="0">
                          <a:solidFill>
                            <a:srgbClr val="323232"/>
                          </a:solidFill>
                        </a:rPr>
                        <a:t>0.012</a:t>
                      </a:r>
                    </a:p>
                  </a:txBody>
                  <a:tcPr marL="91440" marR="91440" marT="27432" marB="27432" anchor="ctr">
                    <a:solidFill>
                      <a:srgbClr val="DEF0FF"/>
                    </a:solidFill>
                  </a:tcPr>
                </a:tc>
                <a:tc>
                  <a:txBody>
                    <a:bodyPr wrap="square"/>
                    <a:lstStyle/>
                    <a:p>
                      <a:pPr algn="ctr"/>
                      <a:r>
                        <a:rPr sz="1600" b="0">
                          <a:solidFill>
                            <a:srgbClr val="323232"/>
                          </a:solidFill>
                        </a:rPr>
                        <a:t>0.057</a:t>
                      </a:r>
                    </a:p>
                  </a:txBody>
                  <a:tcPr marL="91440" marR="91440" marT="27432" marB="27432" anchor="ctr">
                    <a:solidFill>
                      <a:srgbClr val="DEF0FF"/>
                    </a:solidFill>
                  </a:tcPr>
                </a:tc>
                <a:tc>
                  <a:txBody>
                    <a:bodyPr wrap="square"/>
                    <a:lstStyle/>
                    <a:p>
                      <a:pPr algn="ctr"/>
                      <a:r>
                        <a:rPr sz="1600" b="0">
                          <a:solidFill>
                            <a:srgbClr val="323232"/>
                          </a:solidFill>
                        </a:rPr>
                        <a:t>0.042</a:t>
                      </a:r>
                    </a:p>
                  </a:txBody>
                  <a:tcPr marL="91440" marR="91440" marT="27432" marB="27432" anchor="ctr">
                    <a:solidFill>
                      <a:srgbClr val="DEF0FF"/>
                    </a:solidFill>
                  </a:tcPr>
                </a:tc>
                <a:tc>
                  <a:txBody>
                    <a:bodyPr wrap="square"/>
                    <a:lstStyle/>
                    <a:p>
                      <a:pPr algn="ctr"/>
                      <a:r>
                        <a:rPr sz="1600" b="0">
                          <a:solidFill>
                            <a:srgbClr val="323232"/>
                          </a:solidFill>
                        </a:rPr>
                        <a:t>0.017</a:t>
                      </a:r>
                    </a:p>
                  </a:txBody>
                  <a:tcPr marL="91440" marR="91440" marT="27432" marB="27432" anchor="ctr">
                    <a:solidFill>
                      <a:srgbClr val="DEF0FF"/>
                    </a:solidFill>
                  </a:tcPr>
                </a:tc>
                <a:tc>
                  <a:txBody>
                    <a:bodyPr wrap="square"/>
                    <a:lstStyle/>
                    <a:p>
                      <a:pPr algn="ctr"/>
                      <a:r>
                        <a:rPr sz="1600" b="0">
                          <a:solidFill>
                            <a:srgbClr val="323232"/>
                          </a:solidFill>
                        </a:rPr>
                        <a:t>0.016</a:t>
                      </a:r>
                    </a:p>
                  </a:txBody>
                  <a:tcPr marL="91440" marR="91440" marT="27432" marB="27432" anchor="ctr">
                    <a:solidFill>
                      <a:srgbClr val="DEF0FF"/>
                    </a:solidFill>
                  </a:tcPr>
                </a:tc>
              </a:tr>
              <a:tr h="457200">
                <a:tc>
                  <a:txBody>
                    <a:bodyPr wrap="square"/>
                    <a:lstStyle/>
                    <a:p>
                      <a:pPr algn="l"/>
                      <a:r>
                        <a:rPr sz="1600" b="1">
                          <a:solidFill>
                            <a:srgbClr val="323232"/>
                          </a:solidFill>
                        </a:rPr>
                        <a:t>Ensemble</a:t>
                      </a:r>
                    </a:p>
                  </a:txBody>
                  <a:tcPr marL="91440" marR="91440" marT="27432" marB="27432" anchor="ctr">
                    <a:solidFill>
                      <a:srgbClr val="FFFFFF"/>
                    </a:solidFill>
                  </a:tcPr>
                </a:tc>
                <a:tc>
                  <a:txBody>
                    <a:bodyPr wrap="square"/>
                    <a:lstStyle/>
                    <a:p>
                      <a:pPr algn="ctr"/>
                      <a:r>
                        <a:rPr sz="1600" b="1">
                          <a:solidFill>
                            <a:srgbClr val="323232"/>
                          </a:solidFill>
                        </a:rPr>
                        <a:t>0.44</a:t>
                      </a:r>
                    </a:p>
                  </a:txBody>
                  <a:tcPr marL="91440" marR="91440" marT="27432" marB="27432" anchor="ctr">
                    <a:solidFill>
                      <a:srgbClr val="FFFFFF"/>
                    </a:solidFill>
                  </a:tcPr>
                </a:tc>
                <a:tc>
                  <a:txBody>
                    <a:bodyPr wrap="square"/>
                    <a:lstStyle/>
                    <a:p>
                      <a:pPr algn="ctr"/>
                      <a:r>
                        <a:rPr sz="1600" b="1">
                          <a:solidFill>
                            <a:srgbClr val="323232"/>
                          </a:solidFill>
                        </a:rPr>
                        <a:t>0.769</a:t>
                      </a:r>
                    </a:p>
                  </a:txBody>
                  <a:tcPr marL="91440" marR="91440" marT="27432" marB="27432" anchor="ctr">
                    <a:solidFill>
                      <a:srgbClr val="FFFFFF"/>
                    </a:solidFill>
                  </a:tcPr>
                </a:tc>
                <a:tc>
                  <a:txBody>
                    <a:bodyPr wrap="square"/>
                    <a:lstStyle/>
                    <a:p>
                      <a:pPr algn="ctr"/>
                      <a:r>
                        <a:rPr sz="1600" b="1">
                          <a:solidFill>
                            <a:srgbClr val="323232"/>
                          </a:solidFill>
                        </a:rPr>
                        <a:t>0.910</a:t>
                      </a:r>
                    </a:p>
                  </a:txBody>
                  <a:tcPr marL="91440" marR="91440" marT="27432" marB="27432" anchor="ctr">
                    <a:solidFill>
                      <a:srgbClr val="FFFFFF"/>
                    </a:solidFill>
                  </a:tcPr>
                </a:tc>
                <a:tc>
                  <a:txBody>
                    <a:bodyPr wrap="square"/>
                    <a:lstStyle/>
                    <a:p>
                      <a:pPr algn="ctr"/>
                      <a:r>
                        <a:rPr sz="1600" b="1">
                          <a:solidFill>
                            <a:srgbClr val="323232"/>
                          </a:solidFill>
                        </a:rPr>
                        <a:t>0.802</a:t>
                      </a:r>
                    </a:p>
                  </a:txBody>
                  <a:tcPr marL="91440" marR="91440" marT="27432" marB="27432" anchor="ctr">
                    <a:solidFill>
                      <a:srgbClr val="FFFFFF"/>
                    </a:solidFill>
                  </a:tcPr>
                </a:tc>
                <a:tc>
                  <a:txBody>
                    <a:bodyPr wrap="square"/>
                    <a:lstStyle/>
                    <a:p>
                      <a:pPr algn="ctr"/>
                      <a:r>
                        <a:rPr sz="1600" b="1">
                          <a:solidFill>
                            <a:srgbClr val="323232"/>
                          </a:solidFill>
                        </a:rPr>
                        <a:t>0.767</a:t>
                      </a:r>
                    </a:p>
                  </a:txBody>
                  <a:tcPr marL="91440" marR="91440" marT="27432" marB="27432" anchor="ctr">
                    <a:solidFill>
                      <a:srgbClr val="FFFFFF"/>
                    </a:solidFill>
                  </a:tcPr>
                </a:tc>
                <a:tc>
                  <a:txBody>
                    <a:bodyPr wrap="square"/>
                    <a:lstStyle/>
                    <a:p>
                      <a:pPr algn="ctr"/>
                      <a:r>
                        <a:rPr sz="1600" b="1">
                          <a:solidFill>
                            <a:srgbClr val="323232"/>
                          </a:solidFill>
                        </a:rPr>
                        <a:t>0.673</a:t>
                      </a:r>
                    </a:p>
                  </a:txBody>
                  <a:tcPr marL="91440" marR="91440" marT="27432" marB="27432" anchor="ctr">
                    <a:solidFill>
                      <a:srgbClr val="FFFFFF"/>
                    </a:solidFill>
                  </a:tcPr>
                </a:tc>
                <a:tc>
                  <a:txBody>
                    <a:bodyPr wrap="square"/>
                    <a:lstStyle/>
                    <a:p>
                      <a:pPr algn="ctr"/>
                      <a:r>
                        <a:rPr sz="1600" b="1">
                          <a:solidFill>
                            <a:srgbClr val="323232"/>
                          </a:solidFill>
                        </a:rPr>
                        <a:t>0.717</a:t>
                      </a:r>
                    </a:p>
                  </a:txBody>
                  <a:tcPr marL="91440" marR="91440" marT="27432" marB="27432" anchor="ctr">
                    <a:solidFill>
                      <a:srgbClr val="FFFFFF"/>
                    </a:solidFill>
                  </a:tcPr>
                </a:tc>
                <a:tc>
                  <a:txBody>
                    <a:bodyPr wrap="square"/>
                    <a:lstStyle/>
                    <a:p>
                      <a:pPr algn="ctr"/>
                      <a:r>
                        <a:rPr sz="1600" b="1">
                          <a:solidFill>
                            <a:srgbClr val="323232"/>
                          </a:solidFill>
                        </a:rPr>
                        <a:t>0.865</a:t>
                      </a:r>
                    </a:p>
                  </a:txBody>
                  <a:tcPr marL="91440" marR="91440" marT="27432" marB="27432" anchor="ctr">
                    <a:solidFill>
                      <a:srgbClr val="FFFFFF"/>
                    </a:solidFill>
                  </a:tcPr>
                </a:tc>
              </a:tr>
              <a:tr h="457200">
                <a:tc>
                  <a:txBody>
                    <a:bodyPr wrap="square"/>
                    <a:lstStyle/>
                    <a:p>
                      <a:pPr algn="l"/>
                      <a:r>
                        <a:rPr sz="1600" b="0">
                          <a:solidFill>
                            <a:srgbClr val="323232"/>
                          </a:solidFill>
                        </a:rPr>
                        <a:t>TF-IDF</a:t>
                      </a:r>
                    </a:p>
                  </a:txBody>
                  <a:tcPr marL="91440" marR="91440" marT="27432" marB="27432" anchor="ctr">
                    <a:solidFill>
                      <a:srgbClr val="DEF0FF"/>
                    </a:solidFill>
                  </a:tcPr>
                </a:tc>
                <a:tc>
                  <a:txBody>
                    <a:bodyPr wrap="square"/>
                    <a:lstStyle/>
                    <a:p>
                      <a:pPr algn="ctr"/>
                      <a:r>
                        <a:rPr sz="1600" b="0">
                          <a:solidFill>
                            <a:srgbClr val="323232"/>
                          </a:solidFill>
                        </a:rPr>
                        <a:t>0.48</a:t>
                      </a:r>
                    </a:p>
                  </a:txBody>
                  <a:tcPr marL="91440" marR="91440" marT="27432" marB="27432" anchor="ctr">
                    <a:solidFill>
                      <a:srgbClr val="DEF0FF"/>
                    </a:solidFill>
                  </a:tcPr>
                </a:tc>
                <a:tc>
                  <a:txBody>
                    <a:bodyPr wrap="square"/>
                    <a:lstStyle/>
                    <a:p>
                      <a:pPr algn="ctr"/>
                      <a:r>
                        <a:rPr sz="1600" b="0">
                          <a:solidFill>
                            <a:srgbClr val="323232"/>
                          </a:solidFill>
                        </a:rPr>
                        <a:t>0.742</a:t>
                      </a:r>
                    </a:p>
                  </a:txBody>
                  <a:tcPr marL="91440" marR="91440" marT="27432" marB="27432" anchor="ctr">
                    <a:solidFill>
                      <a:srgbClr val="DEF0FF"/>
                    </a:solidFill>
                  </a:tcPr>
                </a:tc>
                <a:tc>
                  <a:txBody>
                    <a:bodyPr wrap="square"/>
                    <a:lstStyle/>
                    <a:p>
                      <a:pPr algn="ctr"/>
                      <a:r>
                        <a:rPr sz="1600" b="0">
                          <a:solidFill>
                            <a:srgbClr val="323232"/>
                          </a:solidFill>
                        </a:rPr>
                        <a:t>0.892</a:t>
                      </a:r>
                    </a:p>
                  </a:txBody>
                  <a:tcPr marL="91440" marR="91440" marT="27432" marB="27432" anchor="ctr">
                    <a:solidFill>
                      <a:srgbClr val="DEF0FF"/>
                    </a:solidFill>
                  </a:tcPr>
                </a:tc>
                <a:tc>
                  <a:txBody>
                    <a:bodyPr wrap="square"/>
                    <a:lstStyle/>
                    <a:p>
                      <a:pPr algn="ctr"/>
                      <a:r>
                        <a:rPr sz="1600" b="0">
                          <a:solidFill>
                            <a:srgbClr val="323232"/>
                          </a:solidFill>
                        </a:rPr>
                        <a:t>0.784</a:t>
                      </a:r>
                    </a:p>
                  </a:txBody>
                  <a:tcPr marL="91440" marR="91440" marT="27432" marB="27432" anchor="ctr">
                    <a:solidFill>
                      <a:srgbClr val="DEF0FF"/>
                    </a:solidFill>
                  </a:tcPr>
                </a:tc>
                <a:tc>
                  <a:txBody>
                    <a:bodyPr wrap="square"/>
                    <a:lstStyle/>
                    <a:p>
                      <a:pPr algn="ctr"/>
                      <a:r>
                        <a:rPr sz="1600" b="0">
                          <a:solidFill>
                            <a:srgbClr val="323232"/>
                          </a:solidFill>
                        </a:rPr>
                        <a:t>0.559</a:t>
                      </a:r>
                    </a:p>
                  </a:txBody>
                  <a:tcPr marL="91440" marR="91440" marT="27432" marB="27432" anchor="ctr">
                    <a:solidFill>
                      <a:srgbClr val="DEF0FF"/>
                    </a:solidFill>
                  </a:tcPr>
                </a:tc>
                <a:tc>
                  <a:txBody>
                    <a:bodyPr wrap="square"/>
                    <a:lstStyle/>
                    <a:p>
                      <a:pPr algn="ctr"/>
                      <a:r>
                        <a:rPr sz="1600" b="0">
                          <a:solidFill>
                            <a:srgbClr val="323232"/>
                          </a:solidFill>
                        </a:rPr>
                        <a:t>0.776</a:t>
                      </a:r>
                    </a:p>
                  </a:txBody>
                  <a:tcPr marL="91440" marR="91440" marT="27432" marB="27432" anchor="ctr">
                    <a:solidFill>
                      <a:srgbClr val="DEF0FF"/>
                    </a:solidFill>
                  </a:tcPr>
                </a:tc>
                <a:tc>
                  <a:txBody>
                    <a:bodyPr wrap="square"/>
                    <a:lstStyle/>
                    <a:p>
                      <a:pPr algn="ctr"/>
                      <a:r>
                        <a:rPr sz="1600" b="0">
                          <a:solidFill>
                            <a:srgbClr val="323232"/>
                          </a:solidFill>
                        </a:rPr>
                        <a:t>0.650</a:t>
                      </a:r>
                    </a:p>
                  </a:txBody>
                  <a:tcPr marL="91440" marR="91440" marT="27432" marB="27432" anchor="ctr">
                    <a:solidFill>
                      <a:srgbClr val="DEF0FF"/>
                    </a:solidFill>
                  </a:tcPr>
                </a:tc>
                <a:tc>
                  <a:txBody>
                    <a:bodyPr wrap="square"/>
                    <a:lstStyle/>
                    <a:p>
                      <a:pPr algn="ctr"/>
                      <a:r>
                        <a:rPr sz="1600" b="0">
                          <a:solidFill>
                            <a:srgbClr val="323232"/>
                          </a:solidFill>
                        </a:rPr>
                        <a:t>0.788</a:t>
                      </a:r>
                    </a:p>
                  </a:txBody>
                  <a:tcPr marL="91440" marR="91440" marT="27432" marB="27432" anchor="ctr">
                    <a:solidFill>
                      <a:srgbClr val="DEF0FF"/>
                    </a:solidFill>
                  </a:tcPr>
                </a:tc>
              </a:tr>
            </a:tbl>
          </a:graphicData>
        </a:graphic>
      </p:graphicFrame>
      <p:sp>
        <p:nvSpPr>
          <p:cNvPr id="7" name="TextBox 6"/>
          <p:cNvSpPr txBox="1"/>
          <p:nvPr/>
        </p:nvSpPr>
        <p:spPr>
          <a:xfrm>
            <a:off x="603504" y="5486400"/>
            <a:ext cx="10991088" cy="731520"/>
          </a:xfrm>
          <a:prstGeom prst="rect">
            <a:avLst/>
          </a:prstGeom>
          <a:noFill/>
        </p:spPr>
        <p:txBody>
          <a:bodyPr wrap="square" anchor="t" lIns="0" rIns="0" tIns="0" bIns="0">
            <a:spAutoFit/>
          </a:bodyPr>
          <a:lstStyle/>
          <a:p>
            <a:pPr algn="l">
              <a:lnSpc>
                <a:spcPct val="105000"/>
              </a:lnSpc>
              <a:spcAft>
                <a:spcPts val="600"/>
              </a:spcAft>
            </a:pPr>
            <a:r>
              <a:rPr sz="1600" b="0" i="0">
                <a:solidFill>
                  <a:srgbClr val="323232"/>
                </a:solidFill>
              </a:rPr>
              <a:t>Point estimates. Aggregate metrics vary little across seeds; precision and recall vary more because each seed selects its own validation threshold. The ensemble costs three encoder forward passes per query.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03504" y="868680"/>
            <a:ext cx="10991088" cy="960120"/>
          </a:xfrm>
        </p:spPr>
        <p:txBody>
          <a:bodyPr anchor="t" wrap="square"/>
          <a:lstStyle/>
          <a:p>
            <a:pPr>
              <a:lnSpc>
                <a:spcPct val="95000"/>
              </a:lnSpc>
            </a:pPr>
            <a:r>
              <a:rPr sz="3000"/>
              <a:t>Backup: per-question-type results on the test set</a:t>
            </a:r>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t>Adaptive Hybrid RAG  ·  Dante Wesslund  ·  KTH 2026</a:t>
            </a:r>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graphicFrame>
        <p:nvGraphicFramePr>
          <p:cNvPr id="6" name="Table 5"/>
          <p:cNvGraphicFramePr>
            <a:graphicFrameLocks noGrp="1"/>
          </p:cNvGraphicFramePr>
          <p:nvPr/>
        </p:nvGraphicFramePr>
        <p:xfrm>
          <a:off x="603504" y="2011680"/>
          <a:ext cx="10991088" cy="3657600"/>
        </p:xfrm>
        <a:graphic>
          <a:graphicData uri="http://schemas.openxmlformats.org/drawingml/2006/table">
            <a:tbl>
              <a:tblPr firstRow="1" bandRow="1">
                <a:tableStyleId>{5940675A-B579-460E-94D1-54222C63F5DA}</a:tableStyleId>
              </a:tblPr>
              <a:tblGrid>
                <a:gridCol w="2103120"/>
                <a:gridCol w="640080"/>
                <a:gridCol w="822960"/>
                <a:gridCol w="1554480"/>
                <a:gridCol w="1170432"/>
                <a:gridCol w="1170432"/>
                <a:gridCol w="1170432"/>
                <a:gridCol w="1170432"/>
                <a:gridCol w="1188720"/>
              </a:tblGrid>
              <a:tr h="406400">
                <a:tc>
                  <a:txBody>
                    <a:bodyPr wrap="square"/>
                    <a:lstStyle/>
                    <a:p>
                      <a:pPr algn="l"/>
                      <a:r>
                        <a:rPr sz="1500" b="1">
                          <a:solidFill>
                            <a:srgbClr val="FFFFFF"/>
                          </a:solidFill>
                        </a:rPr>
                        <a:t>Slice</a:t>
                      </a:r>
                    </a:p>
                  </a:txBody>
                  <a:tcPr marL="91440" marR="91440" marT="27432" marB="27432" anchor="ctr">
                    <a:solidFill>
                      <a:srgbClr val="004791"/>
                    </a:solidFill>
                  </a:tcPr>
                </a:tc>
                <a:tc>
                  <a:txBody>
                    <a:bodyPr wrap="square"/>
                    <a:lstStyle/>
                    <a:p>
                      <a:pPr algn="ctr"/>
                      <a:r>
                        <a:rPr sz="1500" b="1">
                          <a:solidFill>
                            <a:srgbClr val="FFFFFF"/>
                          </a:solidFill>
                        </a:rPr>
                        <a:t>n</a:t>
                      </a:r>
                    </a:p>
                  </a:txBody>
                  <a:tcPr marL="91440" marR="91440" marT="27432" marB="27432" anchor="ctr">
                    <a:solidFill>
                      <a:srgbClr val="004791"/>
                    </a:solidFill>
                  </a:tcPr>
                </a:tc>
                <a:tc>
                  <a:txBody>
                    <a:bodyPr wrap="square"/>
                    <a:lstStyle/>
                    <a:p>
                      <a:pPr algn="ctr"/>
                      <a:r>
                        <a:rPr sz="1500" b="1">
                          <a:solidFill>
                            <a:srgbClr val="FFFFFF"/>
                          </a:solidFill>
                        </a:rPr>
                        <a:t>n mix</a:t>
                      </a:r>
                    </a:p>
                  </a:txBody>
                  <a:tcPr marL="91440" marR="91440" marT="27432" marB="27432" anchor="ctr">
                    <a:solidFill>
                      <a:srgbClr val="004791"/>
                    </a:solidFill>
                  </a:tcPr>
                </a:tc>
                <a:tc>
                  <a:txBody>
                    <a:bodyPr wrap="square"/>
                    <a:lstStyle/>
                    <a:p>
                      <a:pPr algn="ctr"/>
                      <a:r>
                        <a:rPr sz="1500" b="1">
                          <a:solidFill>
                            <a:srgbClr val="FFFFFF"/>
                          </a:solidFill>
                        </a:rPr>
                        <a:t>Router</a:t>
                      </a:r>
                    </a:p>
                  </a:txBody>
                  <a:tcPr marL="91440" marR="91440" marT="27432" marB="27432" anchor="ctr">
                    <a:solidFill>
                      <a:srgbClr val="004791"/>
                    </a:solidFill>
                  </a:tcPr>
                </a:tc>
                <a:tc>
                  <a:txBody>
                    <a:bodyPr wrap="square"/>
                    <a:lstStyle/>
                    <a:p>
                      <a:pPr algn="ctr"/>
                      <a:r>
                        <a:rPr sz="1500" b="1">
                          <a:solidFill>
                            <a:srgbClr val="FFFFFF"/>
                          </a:solidFill>
                        </a:rPr>
                        <a:t>AUPRC</a:t>
                      </a:r>
                    </a:p>
                  </a:txBody>
                  <a:tcPr marL="91440" marR="91440" marT="27432" marB="27432" anchor="ctr">
                    <a:solidFill>
                      <a:srgbClr val="004791"/>
                    </a:solidFill>
                  </a:tcPr>
                </a:tc>
                <a:tc>
                  <a:txBody>
                    <a:bodyPr wrap="square"/>
                    <a:lstStyle/>
                    <a:p>
                      <a:pPr algn="ctr"/>
                      <a:r>
                        <a:rPr sz="1500" b="1">
                          <a:solidFill>
                            <a:srgbClr val="FFFFFF"/>
                          </a:solidFill>
                        </a:rPr>
                        <a:t>Precision</a:t>
                      </a:r>
                    </a:p>
                  </a:txBody>
                  <a:tcPr marL="91440" marR="91440" marT="27432" marB="27432" anchor="ctr">
                    <a:solidFill>
                      <a:srgbClr val="004791"/>
                    </a:solidFill>
                  </a:tcPr>
                </a:tc>
                <a:tc>
                  <a:txBody>
                    <a:bodyPr wrap="square"/>
                    <a:lstStyle/>
                    <a:p>
                      <a:pPr algn="ctr"/>
                      <a:r>
                        <a:rPr sz="1500" b="1">
                          <a:solidFill>
                            <a:srgbClr val="FFFFFF"/>
                          </a:solidFill>
                        </a:rPr>
                        <a:t>Recall</a:t>
                      </a:r>
                    </a:p>
                  </a:txBody>
                  <a:tcPr marL="91440" marR="91440" marT="27432" marB="27432" anchor="ctr">
                    <a:solidFill>
                      <a:srgbClr val="004791"/>
                    </a:solidFill>
                  </a:tcPr>
                </a:tc>
                <a:tc>
                  <a:txBody>
                    <a:bodyPr wrap="square"/>
                    <a:lstStyle/>
                    <a:p>
                      <a:pPr algn="ctr"/>
                      <a:r>
                        <a:rPr sz="1500" b="1">
                          <a:solidFill>
                            <a:srgbClr val="FFFFFF"/>
                          </a:solidFill>
                        </a:rPr>
                        <a:t>F1</a:t>
                      </a:r>
                    </a:p>
                  </a:txBody>
                  <a:tcPr marL="91440" marR="91440" marT="27432" marB="27432" anchor="ctr">
                    <a:solidFill>
                      <a:srgbClr val="004791"/>
                    </a:solidFill>
                  </a:tcPr>
                </a:tc>
                <a:tc>
                  <a:txBody>
                    <a:bodyPr wrap="square"/>
                    <a:lstStyle/>
                    <a:p>
                      <a:pPr algn="ctr"/>
                      <a:r>
                        <a:rPr sz="1500" b="1">
                          <a:solidFill>
                            <a:srgbClr val="FFFFFF"/>
                          </a:solidFill>
                        </a:rPr>
                        <a:t>Accuracy</a:t>
                      </a:r>
                    </a:p>
                  </a:txBody>
                  <a:tcPr marL="91440" marR="91440" marT="27432" marB="27432" anchor="ctr">
                    <a:solidFill>
                      <a:srgbClr val="004791"/>
                    </a:solidFill>
                  </a:tcPr>
                </a:tc>
              </a:tr>
              <a:tr h="406400">
                <a:tc>
                  <a:txBody>
                    <a:bodyPr wrap="square"/>
                    <a:lstStyle/>
                    <a:p>
                      <a:pPr algn="l"/>
                      <a:r>
                        <a:rPr sz="1500" b="0">
                          <a:solidFill>
                            <a:srgbClr val="323232"/>
                          </a:solidFill>
                        </a:rPr>
                        <a:t>Comparison</a:t>
                      </a:r>
                    </a:p>
                  </a:txBody>
                  <a:tcPr marL="91440" marR="91440" marT="27432" marB="27432" anchor="ctr">
                    <a:solidFill>
                      <a:srgbClr val="FFFFFF"/>
                    </a:solidFill>
                  </a:tcPr>
                </a:tc>
                <a:tc>
                  <a:txBody>
                    <a:bodyPr wrap="square"/>
                    <a:lstStyle/>
                    <a:p>
                      <a:pPr algn="ctr"/>
                      <a:r>
                        <a:rPr sz="1500" b="0">
                          <a:solidFill>
                            <a:srgbClr val="323232"/>
                          </a:solidFill>
                        </a:rPr>
                        <a:t>90</a:t>
                      </a:r>
                    </a:p>
                  </a:txBody>
                  <a:tcPr marL="91440" marR="91440" marT="27432" marB="27432" anchor="ctr">
                    <a:solidFill>
                      <a:srgbClr val="FFFFFF"/>
                    </a:solidFill>
                  </a:tcPr>
                </a:tc>
                <a:tc>
                  <a:txBody>
                    <a:bodyPr wrap="square"/>
                    <a:lstStyle/>
                    <a:p>
                      <a:pPr algn="ctr"/>
                      <a:r>
                        <a:rPr sz="1500" b="0">
                          <a:solidFill>
                            <a:srgbClr val="323232"/>
                          </a:solidFill>
                        </a:rPr>
                        <a:t>2</a:t>
                      </a:r>
                    </a:p>
                  </a:txBody>
                  <a:tcPr marL="91440" marR="91440" marT="27432" marB="27432" anchor="ctr">
                    <a:solidFill>
                      <a:srgbClr val="FFFFFF"/>
                    </a:solidFill>
                  </a:tcPr>
                </a:tc>
                <a:tc>
                  <a:txBody>
                    <a:bodyPr wrap="square"/>
                    <a:lstStyle/>
                    <a:p>
                      <a:pPr algn="ctr"/>
                      <a:r>
                        <a:rPr sz="1500" b="0">
                          <a:solidFill>
                            <a:srgbClr val="323232"/>
                          </a:solidFill>
                        </a:rPr>
                        <a:t>TF-IDF</a:t>
                      </a:r>
                    </a:p>
                  </a:txBody>
                  <a:tcPr marL="91440" marR="91440" marT="27432" marB="27432" anchor="ctr">
                    <a:solidFill>
                      <a:srgbClr val="FFFFFF"/>
                    </a:solidFill>
                  </a:tcPr>
                </a:tc>
                <a:tc>
                  <a:txBody>
                    <a:bodyPr wrap="square"/>
                    <a:lstStyle/>
                    <a:p>
                      <a:pPr algn="ctr"/>
                      <a:r>
                        <a:rPr sz="1500" b="0">
                          <a:solidFill>
                            <a:srgbClr val="323232"/>
                          </a:solidFill>
                        </a:rPr>
                        <a:t>0.277</a:t>
                      </a:r>
                    </a:p>
                  </a:txBody>
                  <a:tcPr marL="91440" marR="91440" marT="27432" marB="27432" anchor="ctr">
                    <a:solidFill>
                      <a:srgbClr val="FFFFFF"/>
                    </a:solidFill>
                  </a:tcPr>
                </a:tc>
                <a:tc>
                  <a:txBody>
                    <a:bodyPr wrap="square"/>
                    <a:lstStyle/>
                    <a:p>
                      <a:pPr algn="ctr"/>
                      <a:r>
                        <a:rPr sz="1500" b="0">
                          <a:solidFill>
                            <a:srgbClr val="323232"/>
                          </a:solidFill>
                        </a:rPr>
                        <a:t>0.000</a:t>
                      </a:r>
                    </a:p>
                  </a:txBody>
                  <a:tcPr marL="91440" marR="91440" marT="27432" marB="27432" anchor="ctr">
                    <a:solidFill>
                      <a:srgbClr val="FFFFFF"/>
                    </a:solidFill>
                  </a:tcPr>
                </a:tc>
                <a:tc>
                  <a:txBody>
                    <a:bodyPr wrap="square"/>
                    <a:lstStyle/>
                    <a:p>
                      <a:pPr algn="ctr"/>
                      <a:r>
                        <a:rPr sz="1500" b="0">
                          <a:solidFill>
                            <a:srgbClr val="323232"/>
                          </a:solidFill>
                        </a:rPr>
                        <a:t>0.000</a:t>
                      </a:r>
                    </a:p>
                  </a:txBody>
                  <a:tcPr marL="91440" marR="91440" marT="27432" marB="27432" anchor="ctr">
                    <a:solidFill>
                      <a:srgbClr val="FFFFFF"/>
                    </a:solidFill>
                  </a:tcPr>
                </a:tc>
                <a:tc>
                  <a:txBody>
                    <a:bodyPr wrap="square"/>
                    <a:lstStyle/>
                    <a:p>
                      <a:pPr algn="ctr"/>
                      <a:r>
                        <a:rPr sz="1500" b="0">
                          <a:solidFill>
                            <a:srgbClr val="323232"/>
                          </a:solidFill>
                        </a:rPr>
                        <a:t>0.000</a:t>
                      </a:r>
                    </a:p>
                  </a:txBody>
                  <a:tcPr marL="91440" marR="91440" marT="27432" marB="27432" anchor="ctr">
                    <a:solidFill>
                      <a:srgbClr val="FFFFFF"/>
                    </a:solidFill>
                  </a:tcPr>
                </a:tc>
                <a:tc>
                  <a:txBody>
                    <a:bodyPr wrap="square"/>
                    <a:lstStyle/>
                    <a:p>
                      <a:pPr algn="ctr"/>
                      <a:r>
                        <a:rPr sz="1500" b="0">
                          <a:solidFill>
                            <a:srgbClr val="323232"/>
                          </a:solidFill>
                        </a:rPr>
                        <a:t>0.978</a:t>
                      </a:r>
                    </a:p>
                  </a:txBody>
                  <a:tcPr marL="91440" marR="91440" marT="27432" marB="27432" anchor="ctr">
                    <a:solidFill>
                      <a:srgbClr val="FFFFFF"/>
                    </a:solidFill>
                  </a:tcPr>
                </a:tc>
              </a:tr>
              <a:tr h="406400">
                <a:tc>
                  <a:txBody>
                    <a:bodyPr wrap="square"/>
                    <a:lstStyle/>
                    <a:p>
                      <a:pPr algn="l"/>
                      <a:r>
                        <a:rPr sz="1500" b="0">
                          <a:solidFill>
                            <a:srgbClr val="323232"/>
                          </a:solidFill>
                        </a:rPr>
                        <a:t/>
                      </a:r>
                    </a:p>
                  </a:txBody>
                  <a:tcPr marL="91440" marR="91440" marT="27432" marB="27432" anchor="ctr">
                    <a:solidFill>
                      <a:srgbClr val="DEF0FF"/>
                    </a:solidFill>
                  </a:tcPr>
                </a:tc>
                <a:tc>
                  <a:txBody>
                    <a:bodyPr wrap="square"/>
                    <a:lstStyle/>
                    <a:p>
                      <a:pPr algn="ctr"/>
                      <a:r>
                        <a:rPr sz="1500" b="0">
                          <a:solidFill>
                            <a:srgbClr val="323232"/>
                          </a:solidFill>
                        </a:rPr>
                        <a:t/>
                      </a:r>
                    </a:p>
                  </a:txBody>
                  <a:tcPr marL="91440" marR="91440" marT="27432" marB="27432" anchor="ctr">
                    <a:solidFill>
                      <a:srgbClr val="DEF0FF"/>
                    </a:solidFill>
                  </a:tcPr>
                </a:tc>
                <a:tc>
                  <a:txBody>
                    <a:bodyPr wrap="square"/>
                    <a:lstStyle/>
                    <a:p>
                      <a:pPr algn="ctr"/>
                      <a:r>
                        <a:rPr sz="1500" b="0">
                          <a:solidFill>
                            <a:srgbClr val="323232"/>
                          </a:solidFill>
                        </a:rPr>
                        <a:t/>
                      </a:r>
                    </a:p>
                  </a:txBody>
                  <a:tcPr marL="91440" marR="91440" marT="27432" marB="27432" anchor="ctr">
                    <a:solidFill>
                      <a:srgbClr val="DEF0FF"/>
                    </a:solidFill>
                  </a:tcPr>
                </a:tc>
                <a:tc>
                  <a:txBody>
                    <a:bodyPr wrap="square"/>
                    <a:lstStyle/>
                    <a:p>
                      <a:pPr algn="ctr"/>
                      <a:r>
                        <a:rPr sz="1500" b="0">
                          <a:solidFill>
                            <a:srgbClr val="323232"/>
                          </a:solidFill>
                        </a:rPr>
                        <a:t>ModernBERT</a:t>
                      </a:r>
                    </a:p>
                  </a:txBody>
                  <a:tcPr marL="91440" marR="91440" marT="27432" marB="27432" anchor="ctr">
                    <a:solidFill>
                      <a:srgbClr val="DEF0FF"/>
                    </a:solidFill>
                  </a:tcPr>
                </a:tc>
                <a:tc>
                  <a:txBody>
                    <a:bodyPr wrap="square"/>
                    <a:lstStyle/>
                    <a:p>
                      <a:pPr algn="ctr"/>
                      <a:r>
                        <a:rPr sz="1500" b="0">
                          <a:solidFill>
                            <a:srgbClr val="323232"/>
                          </a:solidFill>
                        </a:rPr>
                        <a:t>0.140</a:t>
                      </a:r>
                    </a:p>
                  </a:txBody>
                  <a:tcPr marL="91440" marR="91440" marT="27432" marB="27432" anchor="ctr">
                    <a:solidFill>
                      <a:srgbClr val="DEF0FF"/>
                    </a:solidFill>
                  </a:tcPr>
                </a:tc>
                <a:tc>
                  <a:txBody>
                    <a:bodyPr wrap="square"/>
                    <a:lstStyle/>
                    <a:p>
                      <a:pPr algn="ctr"/>
                      <a:r>
                        <a:rPr sz="1500" b="0">
                          <a:solidFill>
                            <a:srgbClr val="323232"/>
                          </a:solidFill>
                        </a:rPr>
                        <a:t>0.000</a:t>
                      </a:r>
                    </a:p>
                  </a:txBody>
                  <a:tcPr marL="91440" marR="91440" marT="27432" marB="27432" anchor="ctr">
                    <a:solidFill>
                      <a:srgbClr val="DEF0FF"/>
                    </a:solidFill>
                  </a:tcPr>
                </a:tc>
                <a:tc>
                  <a:txBody>
                    <a:bodyPr wrap="square"/>
                    <a:lstStyle/>
                    <a:p>
                      <a:pPr algn="ctr"/>
                      <a:r>
                        <a:rPr sz="1500" b="0">
                          <a:solidFill>
                            <a:srgbClr val="323232"/>
                          </a:solidFill>
                        </a:rPr>
                        <a:t>0.000</a:t>
                      </a:r>
                    </a:p>
                  </a:txBody>
                  <a:tcPr marL="91440" marR="91440" marT="27432" marB="27432" anchor="ctr">
                    <a:solidFill>
                      <a:srgbClr val="DEF0FF"/>
                    </a:solidFill>
                  </a:tcPr>
                </a:tc>
                <a:tc>
                  <a:txBody>
                    <a:bodyPr wrap="square"/>
                    <a:lstStyle/>
                    <a:p>
                      <a:pPr algn="ctr"/>
                      <a:r>
                        <a:rPr sz="1500" b="0">
                          <a:solidFill>
                            <a:srgbClr val="323232"/>
                          </a:solidFill>
                        </a:rPr>
                        <a:t>0.000</a:t>
                      </a:r>
                    </a:p>
                  </a:txBody>
                  <a:tcPr marL="91440" marR="91440" marT="27432" marB="27432" anchor="ctr">
                    <a:solidFill>
                      <a:srgbClr val="DEF0FF"/>
                    </a:solidFill>
                  </a:tcPr>
                </a:tc>
                <a:tc>
                  <a:txBody>
                    <a:bodyPr wrap="square"/>
                    <a:lstStyle/>
                    <a:p>
                      <a:pPr algn="ctr"/>
                      <a:r>
                        <a:rPr sz="1500" b="0">
                          <a:solidFill>
                            <a:srgbClr val="323232"/>
                          </a:solidFill>
                        </a:rPr>
                        <a:t>0.978</a:t>
                      </a:r>
                    </a:p>
                  </a:txBody>
                  <a:tcPr marL="91440" marR="91440" marT="27432" marB="27432" anchor="ctr">
                    <a:solidFill>
                      <a:srgbClr val="DEF0FF"/>
                    </a:solidFill>
                  </a:tcPr>
                </a:tc>
              </a:tr>
              <a:tr h="406400">
                <a:tc>
                  <a:txBody>
                    <a:bodyPr wrap="square"/>
                    <a:lstStyle/>
                    <a:p>
                      <a:pPr algn="l"/>
                      <a:r>
                        <a:rPr sz="1500" b="0">
                          <a:solidFill>
                            <a:srgbClr val="323232"/>
                          </a:solidFill>
                        </a:rPr>
                        <a:t>Compositional</a:t>
                      </a:r>
                    </a:p>
                  </a:txBody>
                  <a:tcPr marL="91440" marR="91440" marT="27432" marB="27432" anchor="ctr">
                    <a:solidFill>
                      <a:srgbClr val="FFFFFF"/>
                    </a:solidFill>
                  </a:tcPr>
                </a:tc>
                <a:tc>
                  <a:txBody>
                    <a:bodyPr wrap="square"/>
                    <a:lstStyle/>
                    <a:p>
                      <a:pPr algn="ctr"/>
                      <a:r>
                        <a:rPr sz="1500" b="0">
                          <a:solidFill>
                            <a:srgbClr val="323232"/>
                          </a:solidFill>
                        </a:rPr>
                        <a:t>65</a:t>
                      </a:r>
                    </a:p>
                  </a:txBody>
                  <a:tcPr marL="91440" marR="91440" marT="27432" marB="27432" anchor="ctr">
                    <a:solidFill>
                      <a:srgbClr val="FFFFFF"/>
                    </a:solidFill>
                  </a:tcPr>
                </a:tc>
                <a:tc>
                  <a:txBody>
                    <a:bodyPr wrap="square"/>
                    <a:lstStyle/>
                    <a:p>
                      <a:pPr algn="ctr"/>
                      <a:r>
                        <a:rPr sz="1500" b="0">
                          <a:solidFill>
                            <a:srgbClr val="323232"/>
                          </a:solidFill>
                        </a:rPr>
                        <a:t>38</a:t>
                      </a:r>
                    </a:p>
                  </a:txBody>
                  <a:tcPr marL="91440" marR="91440" marT="27432" marB="27432" anchor="ctr">
                    <a:solidFill>
                      <a:srgbClr val="FFFFFF"/>
                    </a:solidFill>
                  </a:tcPr>
                </a:tc>
                <a:tc>
                  <a:txBody>
                    <a:bodyPr wrap="square"/>
                    <a:lstStyle/>
                    <a:p>
                      <a:pPr algn="ctr"/>
                      <a:r>
                        <a:rPr sz="1500" b="0">
                          <a:solidFill>
                            <a:srgbClr val="323232"/>
                          </a:solidFill>
                        </a:rPr>
                        <a:t>TF-IDF</a:t>
                      </a:r>
                    </a:p>
                  </a:txBody>
                  <a:tcPr marL="91440" marR="91440" marT="27432" marB="27432" anchor="ctr">
                    <a:solidFill>
                      <a:srgbClr val="FFFFFF"/>
                    </a:solidFill>
                  </a:tcPr>
                </a:tc>
                <a:tc>
                  <a:txBody>
                    <a:bodyPr wrap="square"/>
                    <a:lstStyle/>
                    <a:p>
                      <a:pPr algn="ctr"/>
                      <a:r>
                        <a:rPr sz="1500" b="0">
                          <a:solidFill>
                            <a:srgbClr val="323232"/>
                          </a:solidFill>
                        </a:rPr>
                        <a:t>0.814</a:t>
                      </a:r>
                    </a:p>
                  </a:txBody>
                  <a:tcPr marL="91440" marR="91440" marT="27432" marB="27432" anchor="ctr">
                    <a:solidFill>
                      <a:srgbClr val="FFFFFF"/>
                    </a:solidFill>
                  </a:tcPr>
                </a:tc>
                <a:tc>
                  <a:txBody>
                    <a:bodyPr wrap="square"/>
                    <a:lstStyle/>
                    <a:p>
                      <a:pPr algn="ctr"/>
                      <a:r>
                        <a:rPr sz="1500" b="0">
                          <a:solidFill>
                            <a:srgbClr val="323232"/>
                          </a:solidFill>
                        </a:rPr>
                        <a:t>0.636</a:t>
                      </a:r>
                    </a:p>
                  </a:txBody>
                  <a:tcPr marL="91440" marR="91440" marT="27432" marB="27432" anchor="ctr">
                    <a:solidFill>
                      <a:srgbClr val="FFFFFF"/>
                    </a:solidFill>
                  </a:tcPr>
                </a:tc>
                <a:tc>
                  <a:txBody>
                    <a:bodyPr wrap="square"/>
                    <a:lstStyle/>
                    <a:p>
                      <a:pPr algn="ctr"/>
                      <a:r>
                        <a:rPr sz="1500" b="0">
                          <a:solidFill>
                            <a:srgbClr val="323232"/>
                          </a:solidFill>
                        </a:rPr>
                        <a:t>0.921</a:t>
                      </a:r>
                    </a:p>
                  </a:txBody>
                  <a:tcPr marL="91440" marR="91440" marT="27432" marB="27432" anchor="ctr">
                    <a:solidFill>
                      <a:srgbClr val="FFFFFF"/>
                    </a:solidFill>
                  </a:tcPr>
                </a:tc>
                <a:tc>
                  <a:txBody>
                    <a:bodyPr wrap="square"/>
                    <a:lstStyle/>
                    <a:p>
                      <a:pPr algn="ctr"/>
                      <a:r>
                        <a:rPr sz="1500" b="0">
                          <a:solidFill>
                            <a:srgbClr val="323232"/>
                          </a:solidFill>
                        </a:rPr>
                        <a:t>0.753</a:t>
                      </a:r>
                    </a:p>
                  </a:txBody>
                  <a:tcPr marL="91440" marR="91440" marT="27432" marB="27432" anchor="ctr">
                    <a:solidFill>
                      <a:srgbClr val="FFFFFF"/>
                    </a:solidFill>
                  </a:tcPr>
                </a:tc>
                <a:tc>
                  <a:txBody>
                    <a:bodyPr wrap="square"/>
                    <a:lstStyle/>
                    <a:p>
                      <a:pPr algn="ctr"/>
                      <a:r>
                        <a:rPr sz="1500" b="0">
                          <a:solidFill>
                            <a:srgbClr val="323232"/>
                          </a:solidFill>
                        </a:rPr>
                        <a:t>0.646</a:t>
                      </a:r>
                    </a:p>
                  </a:txBody>
                  <a:tcPr marL="91440" marR="91440" marT="27432" marB="27432" anchor="ctr">
                    <a:solidFill>
                      <a:srgbClr val="FFFFFF"/>
                    </a:solidFill>
                  </a:tcPr>
                </a:tc>
              </a:tr>
              <a:tr h="406400">
                <a:tc>
                  <a:txBody>
                    <a:bodyPr wrap="square"/>
                    <a:lstStyle/>
                    <a:p>
                      <a:pPr algn="l"/>
                      <a:r>
                        <a:rPr sz="1500" b="0">
                          <a:solidFill>
                            <a:srgbClr val="323232"/>
                          </a:solidFill>
                        </a:rPr>
                        <a:t/>
                      </a:r>
                    </a:p>
                  </a:txBody>
                  <a:tcPr marL="91440" marR="91440" marT="27432" marB="27432" anchor="ctr">
                    <a:solidFill>
                      <a:srgbClr val="DEF0FF"/>
                    </a:solidFill>
                  </a:tcPr>
                </a:tc>
                <a:tc>
                  <a:txBody>
                    <a:bodyPr wrap="square"/>
                    <a:lstStyle/>
                    <a:p>
                      <a:pPr algn="ctr"/>
                      <a:r>
                        <a:rPr sz="1500" b="0">
                          <a:solidFill>
                            <a:srgbClr val="323232"/>
                          </a:solidFill>
                        </a:rPr>
                        <a:t/>
                      </a:r>
                    </a:p>
                  </a:txBody>
                  <a:tcPr marL="91440" marR="91440" marT="27432" marB="27432" anchor="ctr">
                    <a:solidFill>
                      <a:srgbClr val="DEF0FF"/>
                    </a:solidFill>
                  </a:tcPr>
                </a:tc>
                <a:tc>
                  <a:txBody>
                    <a:bodyPr wrap="square"/>
                    <a:lstStyle/>
                    <a:p>
                      <a:pPr algn="ctr"/>
                      <a:r>
                        <a:rPr sz="1500" b="0">
                          <a:solidFill>
                            <a:srgbClr val="323232"/>
                          </a:solidFill>
                        </a:rPr>
                        <a:t/>
                      </a:r>
                    </a:p>
                  </a:txBody>
                  <a:tcPr marL="91440" marR="91440" marT="27432" marB="27432" anchor="ctr">
                    <a:solidFill>
                      <a:srgbClr val="DEF0FF"/>
                    </a:solidFill>
                  </a:tcPr>
                </a:tc>
                <a:tc>
                  <a:txBody>
                    <a:bodyPr wrap="square"/>
                    <a:lstStyle/>
                    <a:p>
                      <a:pPr algn="ctr"/>
                      <a:r>
                        <a:rPr sz="1500" b="0">
                          <a:solidFill>
                            <a:srgbClr val="323232"/>
                          </a:solidFill>
                        </a:rPr>
                        <a:t>ModernBERT</a:t>
                      </a:r>
                    </a:p>
                  </a:txBody>
                  <a:tcPr marL="91440" marR="91440" marT="27432" marB="27432" anchor="ctr">
                    <a:solidFill>
                      <a:srgbClr val="DEF0FF"/>
                    </a:solidFill>
                  </a:tcPr>
                </a:tc>
                <a:tc>
                  <a:txBody>
                    <a:bodyPr wrap="square"/>
                    <a:lstStyle/>
                    <a:p>
                      <a:pPr algn="ctr"/>
                      <a:r>
                        <a:rPr sz="1500" b="0">
                          <a:solidFill>
                            <a:srgbClr val="323232"/>
                          </a:solidFill>
                        </a:rPr>
                        <a:t>0.834</a:t>
                      </a:r>
                    </a:p>
                  </a:txBody>
                  <a:tcPr marL="91440" marR="91440" marT="27432" marB="27432" anchor="ctr">
                    <a:solidFill>
                      <a:srgbClr val="DEF0FF"/>
                    </a:solidFill>
                  </a:tcPr>
                </a:tc>
                <a:tc>
                  <a:txBody>
                    <a:bodyPr wrap="square"/>
                    <a:lstStyle/>
                    <a:p>
                      <a:pPr algn="ctr"/>
                      <a:r>
                        <a:rPr sz="1500" b="0">
                          <a:solidFill>
                            <a:srgbClr val="323232"/>
                          </a:solidFill>
                        </a:rPr>
                        <a:t>0.780</a:t>
                      </a:r>
                    </a:p>
                  </a:txBody>
                  <a:tcPr marL="91440" marR="91440" marT="27432" marB="27432" anchor="ctr">
                    <a:solidFill>
                      <a:srgbClr val="DEF0FF"/>
                    </a:solidFill>
                  </a:tcPr>
                </a:tc>
                <a:tc>
                  <a:txBody>
                    <a:bodyPr wrap="square"/>
                    <a:lstStyle/>
                    <a:p>
                      <a:pPr algn="ctr"/>
                      <a:r>
                        <a:rPr sz="1500" b="0">
                          <a:solidFill>
                            <a:srgbClr val="323232"/>
                          </a:solidFill>
                        </a:rPr>
                        <a:t>0.842</a:t>
                      </a:r>
                    </a:p>
                  </a:txBody>
                  <a:tcPr marL="91440" marR="91440" marT="27432" marB="27432" anchor="ctr">
                    <a:solidFill>
                      <a:srgbClr val="DEF0FF"/>
                    </a:solidFill>
                  </a:tcPr>
                </a:tc>
                <a:tc>
                  <a:txBody>
                    <a:bodyPr wrap="square"/>
                    <a:lstStyle/>
                    <a:p>
                      <a:pPr algn="ctr"/>
                      <a:r>
                        <a:rPr sz="1500" b="0">
                          <a:solidFill>
                            <a:srgbClr val="323232"/>
                          </a:solidFill>
                        </a:rPr>
                        <a:t>0.810</a:t>
                      </a:r>
                    </a:p>
                  </a:txBody>
                  <a:tcPr marL="91440" marR="91440" marT="27432" marB="27432" anchor="ctr">
                    <a:solidFill>
                      <a:srgbClr val="DEF0FF"/>
                    </a:solidFill>
                  </a:tcPr>
                </a:tc>
                <a:tc>
                  <a:txBody>
                    <a:bodyPr wrap="square"/>
                    <a:lstStyle/>
                    <a:p>
                      <a:pPr algn="ctr"/>
                      <a:r>
                        <a:rPr sz="1500" b="0">
                          <a:solidFill>
                            <a:srgbClr val="323232"/>
                          </a:solidFill>
                        </a:rPr>
                        <a:t>0.769</a:t>
                      </a:r>
                    </a:p>
                  </a:txBody>
                  <a:tcPr marL="91440" marR="91440" marT="27432" marB="27432" anchor="ctr">
                    <a:solidFill>
                      <a:srgbClr val="DEF0FF"/>
                    </a:solidFill>
                  </a:tcPr>
                </a:tc>
              </a:tr>
              <a:tr h="406400">
                <a:tc>
                  <a:txBody>
                    <a:bodyPr wrap="square"/>
                    <a:lstStyle/>
                    <a:p>
                      <a:pPr algn="l"/>
                      <a:r>
                        <a:rPr sz="1500" b="0">
                          <a:solidFill>
                            <a:srgbClr val="323232"/>
                          </a:solidFill>
                        </a:rPr>
                        <a:t>Bridge-comparison</a:t>
                      </a:r>
                    </a:p>
                  </a:txBody>
                  <a:tcPr marL="91440" marR="91440" marT="27432" marB="27432" anchor="ctr">
                    <a:solidFill>
                      <a:srgbClr val="FFFFFF"/>
                    </a:solidFill>
                  </a:tcPr>
                </a:tc>
                <a:tc>
                  <a:txBody>
                    <a:bodyPr wrap="square"/>
                    <a:lstStyle/>
                    <a:p>
                      <a:pPr algn="ctr"/>
                      <a:r>
                        <a:rPr sz="1500" b="0">
                          <a:solidFill>
                            <a:srgbClr val="323232"/>
                          </a:solidFill>
                        </a:rPr>
                        <a:t>33</a:t>
                      </a:r>
                    </a:p>
                  </a:txBody>
                  <a:tcPr marL="91440" marR="91440" marT="27432" marB="27432" anchor="ctr">
                    <a:solidFill>
                      <a:srgbClr val="FFFFFF"/>
                    </a:solidFill>
                  </a:tcPr>
                </a:tc>
                <a:tc>
                  <a:txBody>
                    <a:bodyPr wrap="square"/>
                    <a:lstStyle/>
                    <a:p>
                      <a:pPr algn="ctr"/>
                      <a:r>
                        <a:rPr sz="1500" b="0">
                          <a:solidFill>
                            <a:srgbClr val="323232"/>
                          </a:solidFill>
                        </a:rPr>
                        <a:t>8</a:t>
                      </a:r>
                    </a:p>
                  </a:txBody>
                  <a:tcPr marL="91440" marR="91440" marT="27432" marB="27432" anchor="ctr">
                    <a:solidFill>
                      <a:srgbClr val="FFFFFF"/>
                    </a:solidFill>
                  </a:tcPr>
                </a:tc>
                <a:tc>
                  <a:txBody>
                    <a:bodyPr wrap="square"/>
                    <a:lstStyle/>
                    <a:p>
                      <a:pPr algn="ctr"/>
                      <a:r>
                        <a:rPr sz="1500" b="0">
                          <a:solidFill>
                            <a:srgbClr val="323232"/>
                          </a:solidFill>
                        </a:rPr>
                        <a:t>TF-IDF</a:t>
                      </a:r>
                    </a:p>
                  </a:txBody>
                  <a:tcPr marL="91440" marR="91440" marT="27432" marB="27432" anchor="ctr">
                    <a:solidFill>
                      <a:srgbClr val="FFFFFF"/>
                    </a:solidFill>
                  </a:tcPr>
                </a:tc>
                <a:tc>
                  <a:txBody>
                    <a:bodyPr wrap="square"/>
                    <a:lstStyle/>
                    <a:p>
                      <a:pPr algn="ctr"/>
                      <a:r>
                        <a:rPr sz="1500" b="0">
                          <a:solidFill>
                            <a:srgbClr val="323232"/>
                          </a:solidFill>
                        </a:rPr>
                        <a:t>0.418</a:t>
                      </a:r>
                    </a:p>
                  </a:txBody>
                  <a:tcPr marL="91440" marR="91440" marT="27432" marB="27432" anchor="ctr">
                    <a:solidFill>
                      <a:srgbClr val="FFFFFF"/>
                    </a:solidFill>
                  </a:tcPr>
                </a:tc>
                <a:tc>
                  <a:txBody>
                    <a:bodyPr wrap="square"/>
                    <a:lstStyle/>
                    <a:p>
                      <a:pPr algn="ctr"/>
                      <a:r>
                        <a:rPr sz="1500" b="0">
                          <a:solidFill>
                            <a:srgbClr val="323232"/>
                          </a:solidFill>
                        </a:rPr>
                        <a:t>0.273</a:t>
                      </a:r>
                    </a:p>
                  </a:txBody>
                  <a:tcPr marL="91440" marR="91440" marT="27432" marB="27432" anchor="ctr">
                    <a:solidFill>
                      <a:srgbClr val="FFFFFF"/>
                    </a:solidFill>
                  </a:tcPr>
                </a:tc>
                <a:tc>
                  <a:txBody>
                    <a:bodyPr wrap="square"/>
                    <a:lstStyle/>
                    <a:p>
                      <a:pPr algn="ctr"/>
                      <a:r>
                        <a:rPr sz="1500" b="0">
                          <a:solidFill>
                            <a:srgbClr val="323232"/>
                          </a:solidFill>
                        </a:rPr>
                        <a:t>0.375</a:t>
                      </a:r>
                    </a:p>
                  </a:txBody>
                  <a:tcPr marL="91440" marR="91440" marT="27432" marB="27432" anchor="ctr">
                    <a:solidFill>
                      <a:srgbClr val="FFFFFF"/>
                    </a:solidFill>
                  </a:tcPr>
                </a:tc>
                <a:tc>
                  <a:txBody>
                    <a:bodyPr wrap="square"/>
                    <a:lstStyle/>
                    <a:p>
                      <a:pPr algn="ctr"/>
                      <a:r>
                        <a:rPr sz="1500" b="0">
                          <a:solidFill>
                            <a:srgbClr val="323232"/>
                          </a:solidFill>
                        </a:rPr>
                        <a:t>0.316</a:t>
                      </a:r>
                    </a:p>
                  </a:txBody>
                  <a:tcPr marL="91440" marR="91440" marT="27432" marB="27432" anchor="ctr">
                    <a:solidFill>
                      <a:srgbClr val="FFFFFF"/>
                    </a:solidFill>
                  </a:tcPr>
                </a:tc>
                <a:tc>
                  <a:txBody>
                    <a:bodyPr wrap="square"/>
                    <a:lstStyle/>
                    <a:p>
                      <a:pPr algn="ctr"/>
                      <a:r>
                        <a:rPr sz="1500" b="0">
                          <a:solidFill>
                            <a:srgbClr val="323232"/>
                          </a:solidFill>
                        </a:rPr>
                        <a:t>0.606</a:t>
                      </a:r>
                    </a:p>
                  </a:txBody>
                  <a:tcPr marL="91440" marR="91440" marT="27432" marB="27432" anchor="ctr">
                    <a:solidFill>
                      <a:srgbClr val="FFFFFF"/>
                    </a:solidFill>
                  </a:tcPr>
                </a:tc>
              </a:tr>
              <a:tr h="406400">
                <a:tc>
                  <a:txBody>
                    <a:bodyPr wrap="square"/>
                    <a:lstStyle/>
                    <a:p>
                      <a:pPr algn="l"/>
                      <a:r>
                        <a:rPr sz="1500" b="0">
                          <a:solidFill>
                            <a:srgbClr val="323232"/>
                          </a:solidFill>
                        </a:rPr>
                        <a:t/>
                      </a:r>
                    </a:p>
                  </a:txBody>
                  <a:tcPr marL="91440" marR="91440" marT="27432" marB="27432" anchor="ctr">
                    <a:solidFill>
                      <a:srgbClr val="DEF0FF"/>
                    </a:solidFill>
                  </a:tcPr>
                </a:tc>
                <a:tc>
                  <a:txBody>
                    <a:bodyPr wrap="square"/>
                    <a:lstStyle/>
                    <a:p>
                      <a:pPr algn="ctr"/>
                      <a:r>
                        <a:rPr sz="1500" b="0">
                          <a:solidFill>
                            <a:srgbClr val="323232"/>
                          </a:solidFill>
                        </a:rPr>
                        <a:t/>
                      </a:r>
                    </a:p>
                  </a:txBody>
                  <a:tcPr marL="91440" marR="91440" marT="27432" marB="27432" anchor="ctr">
                    <a:solidFill>
                      <a:srgbClr val="DEF0FF"/>
                    </a:solidFill>
                  </a:tcPr>
                </a:tc>
                <a:tc>
                  <a:txBody>
                    <a:bodyPr wrap="square"/>
                    <a:lstStyle/>
                    <a:p>
                      <a:pPr algn="ctr"/>
                      <a:r>
                        <a:rPr sz="1500" b="0">
                          <a:solidFill>
                            <a:srgbClr val="323232"/>
                          </a:solidFill>
                        </a:rPr>
                        <a:t/>
                      </a:r>
                    </a:p>
                  </a:txBody>
                  <a:tcPr marL="91440" marR="91440" marT="27432" marB="27432" anchor="ctr">
                    <a:solidFill>
                      <a:srgbClr val="DEF0FF"/>
                    </a:solidFill>
                  </a:tcPr>
                </a:tc>
                <a:tc>
                  <a:txBody>
                    <a:bodyPr wrap="square"/>
                    <a:lstStyle/>
                    <a:p>
                      <a:pPr algn="ctr"/>
                      <a:r>
                        <a:rPr sz="1500" b="0">
                          <a:solidFill>
                            <a:srgbClr val="323232"/>
                          </a:solidFill>
                        </a:rPr>
                        <a:t>ModernBERT</a:t>
                      </a:r>
                    </a:p>
                  </a:txBody>
                  <a:tcPr marL="91440" marR="91440" marT="27432" marB="27432" anchor="ctr">
                    <a:solidFill>
                      <a:srgbClr val="DEF0FF"/>
                    </a:solidFill>
                  </a:tcPr>
                </a:tc>
                <a:tc>
                  <a:txBody>
                    <a:bodyPr wrap="square"/>
                    <a:lstStyle/>
                    <a:p>
                      <a:pPr algn="ctr"/>
                      <a:r>
                        <a:rPr sz="1500" b="0">
                          <a:solidFill>
                            <a:srgbClr val="323232"/>
                          </a:solidFill>
                        </a:rPr>
                        <a:t>0.396</a:t>
                      </a:r>
                    </a:p>
                  </a:txBody>
                  <a:tcPr marL="91440" marR="91440" marT="27432" marB="27432" anchor="ctr">
                    <a:solidFill>
                      <a:srgbClr val="DEF0FF"/>
                    </a:solidFill>
                  </a:tcPr>
                </a:tc>
                <a:tc>
                  <a:txBody>
                    <a:bodyPr wrap="square"/>
                    <a:lstStyle/>
                    <a:p>
                      <a:pPr algn="ctr"/>
                      <a:r>
                        <a:rPr sz="1500" b="0">
                          <a:solidFill>
                            <a:srgbClr val="323232"/>
                          </a:solidFill>
                        </a:rPr>
                        <a:t>0.500</a:t>
                      </a:r>
                    </a:p>
                  </a:txBody>
                  <a:tcPr marL="91440" marR="91440" marT="27432" marB="27432" anchor="ctr">
                    <a:solidFill>
                      <a:srgbClr val="DEF0FF"/>
                    </a:solidFill>
                  </a:tcPr>
                </a:tc>
                <a:tc>
                  <a:txBody>
                    <a:bodyPr wrap="square"/>
                    <a:lstStyle/>
                    <a:p>
                      <a:pPr algn="ctr"/>
                      <a:r>
                        <a:rPr sz="1500" b="0">
                          <a:solidFill>
                            <a:srgbClr val="323232"/>
                          </a:solidFill>
                        </a:rPr>
                        <a:t>0.125</a:t>
                      </a:r>
                    </a:p>
                  </a:txBody>
                  <a:tcPr marL="91440" marR="91440" marT="27432" marB="27432" anchor="ctr">
                    <a:solidFill>
                      <a:srgbClr val="DEF0FF"/>
                    </a:solidFill>
                  </a:tcPr>
                </a:tc>
                <a:tc>
                  <a:txBody>
                    <a:bodyPr wrap="square"/>
                    <a:lstStyle/>
                    <a:p>
                      <a:pPr algn="ctr"/>
                      <a:r>
                        <a:rPr sz="1500" b="0">
                          <a:solidFill>
                            <a:srgbClr val="323232"/>
                          </a:solidFill>
                        </a:rPr>
                        <a:t>0.200</a:t>
                      </a:r>
                    </a:p>
                  </a:txBody>
                  <a:tcPr marL="91440" marR="91440" marT="27432" marB="27432" anchor="ctr">
                    <a:solidFill>
                      <a:srgbClr val="DEF0FF"/>
                    </a:solidFill>
                  </a:tcPr>
                </a:tc>
                <a:tc>
                  <a:txBody>
                    <a:bodyPr wrap="square"/>
                    <a:lstStyle/>
                    <a:p>
                      <a:pPr algn="ctr"/>
                      <a:r>
                        <a:rPr sz="1500" b="0">
                          <a:solidFill>
                            <a:srgbClr val="323232"/>
                          </a:solidFill>
                        </a:rPr>
                        <a:t>0.758</a:t>
                      </a:r>
                    </a:p>
                  </a:txBody>
                  <a:tcPr marL="91440" marR="91440" marT="27432" marB="27432" anchor="ctr">
                    <a:solidFill>
                      <a:srgbClr val="DEF0FF"/>
                    </a:solidFill>
                  </a:tcPr>
                </a:tc>
              </a:tr>
              <a:tr h="406400">
                <a:tc>
                  <a:txBody>
                    <a:bodyPr wrap="square"/>
                    <a:lstStyle/>
                    <a:p>
                      <a:pPr algn="l"/>
                      <a:r>
                        <a:rPr sz="1500" b="0">
                          <a:solidFill>
                            <a:srgbClr val="323232"/>
                          </a:solidFill>
                        </a:rPr>
                        <a:t>Inference</a:t>
                      </a:r>
                    </a:p>
                  </a:txBody>
                  <a:tcPr marL="91440" marR="91440" marT="27432" marB="27432" anchor="ctr">
                    <a:solidFill>
                      <a:srgbClr val="FFFFFF"/>
                    </a:solidFill>
                  </a:tcPr>
                </a:tc>
                <a:tc>
                  <a:txBody>
                    <a:bodyPr wrap="square"/>
                    <a:lstStyle/>
                    <a:p>
                      <a:pPr algn="ctr"/>
                      <a:r>
                        <a:rPr sz="1500" b="0">
                          <a:solidFill>
                            <a:srgbClr val="323232"/>
                          </a:solidFill>
                        </a:rPr>
                        <a:t>5</a:t>
                      </a:r>
                    </a:p>
                  </a:txBody>
                  <a:tcPr marL="91440" marR="91440" marT="27432" marB="27432" anchor="ctr">
                    <a:solidFill>
                      <a:srgbClr val="FFFFFF"/>
                    </a:solidFill>
                  </a:tcPr>
                </a:tc>
                <a:tc>
                  <a:txBody>
                    <a:bodyPr wrap="square"/>
                    <a:lstStyle/>
                    <a:p>
                      <a:pPr algn="ctr"/>
                      <a:r>
                        <a:rPr sz="1500" b="0">
                          <a:solidFill>
                            <a:srgbClr val="323232"/>
                          </a:solidFill>
                        </a:rPr>
                        <a:t>1</a:t>
                      </a:r>
                    </a:p>
                  </a:txBody>
                  <a:tcPr marL="91440" marR="91440" marT="27432" marB="27432" anchor="ctr">
                    <a:solidFill>
                      <a:srgbClr val="FFFFFF"/>
                    </a:solidFill>
                  </a:tcPr>
                </a:tc>
                <a:tc>
                  <a:txBody>
                    <a:bodyPr wrap="square"/>
                    <a:lstStyle/>
                    <a:p>
                      <a:pPr algn="ctr"/>
                      <a:r>
                        <a:rPr sz="1500" b="0">
                          <a:solidFill>
                            <a:srgbClr val="323232"/>
                          </a:solidFill>
                        </a:rPr>
                        <a:t>TF-IDF</a:t>
                      </a:r>
                    </a:p>
                  </a:txBody>
                  <a:tcPr marL="91440" marR="91440" marT="27432" marB="27432" anchor="ctr">
                    <a:solidFill>
                      <a:srgbClr val="FFFFFF"/>
                    </a:solidFill>
                  </a:tcPr>
                </a:tc>
                <a:tc>
                  <a:txBody>
                    <a:bodyPr wrap="square"/>
                    <a:lstStyle/>
                    <a:p>
                      <a:pPr algn="ctr"/>
                      <a:r>
                        <a:rPr sz="1500" b="0">
                          <a:solidFill>
                            <a:srgbClr val="323232"/>
                          </a:solidFill>
                        </a:rPr>
                        <a:t>0.333</a:t>
                      </a:r>
                    </a:p>
                  </a:txBody>
                  <a:tcPr marL="91440" marR="91440" marT="27432" marB="27432" anchor="ctr">
                    <a:solidFill>
                      <a:srgbClr val="FFFFFF"/>
                    </a:solidFill>
                  </a:tcPr>
                </a:tc>
                <a:tc>
                  <a:txBody>
                    <a:bodyPr wrap="square"/>
                    <a:lstStyle/>
                    <a:p>
                      <a:pPr algn="ctr"/>
                      <a:r>
                        <a:rPr sz="1500" b="0">
                          <a:solidFill>
                            <a:srgbClr val="323232"/>
                          </a:solidFill>
                        </a:rPr>
                        <a:t>0.000</a:t>
                      </a:r>
                    </a:p>
                  </a:txBody>
                  <a:tcPr marL="91440" marR="91440" marT="27432" marB="27432" anchor="ctr">
                    <a:solidFill>
                      <a:srgbClr val="FFFFFF"/>
                    </a:solidFill>
                  </a:tcPr>
                </a:tc>
                <a:tc>
                  <a:txBody>
                    <a:bodyPr wrap="square"/>
                    <a:lstStyle/>
                    <a:p>
                      <a:pPr algn="ctr"/>
                      <a:r>
                        <a:rPr sz="1500" b="0">
                          <a:solidFill>
                            <a:srgbClr val="323232"/>
                          </a:solidFill>
                        </a:rPr>
                        <a:t>0.000</a:t>
                      </a:r>
                    </a:p>
                  </a:txBody>
                  <a:tcPr marL="91440" marR="91440" marT="27432" marB="27432" anchor="ctr">
                    <a:solidFill>
                      <a:srgbClr val="FFFFFF"/>
                    </a:solidFill>
                  </a:tcPr>
                </a:tc>
                <a:tc>
                  <a:txBody>
                    <a:bodyPr wrap="square"/>
                    <a:lstStyle/>
                    <a:p>
                      <a:pPr algn="ctr"/>
                      <a:r>
                        <a:rPr sz="1500" b="0">
                          <a:solidFill>
                            <a:srgbClr val="323232"/>
                          </a:solidFill>
                        </a:rPr>
                        <a:t>0.000</a:t>
                      </a:r>
                    </a:p>
                  </a:txBody>
                  <a:tcPr marL="91440" marR="91440" marT="27432" marB="27432" anchor="ctr">
                    <a:solidFill>
                      <a:srgbClr val="FFFFFF"/>
                    </a:solidFill>
                  </a:tcPr>
                </a:tc>
                <a:tc>
                  <a:txBody>
                    <a:bodyPr wrap="square"/>
                    <a:lstStyle/>
                    <a:p>
                      <a:pPr algn="ctr"/>
                      <a:r>
                        <a:rPr sz="1500" b="0">
                          <a:solidFill>
                            <a:srgbClr val="323232"/>
                          </a:solidFill>
                        </a:rPr>
                        <a:t>0.400</a:t>
                      </a:r>
                    </a:p>
                  </a:txBody>
                  <a:tcPr marL="91440" marR="91440" marT="27432" marB="27432" anchor="ctr">
                    <a:solidFill>
                      <a:srgbClr val="FFFFFF"/>
                    </a:solidFill>
                  </a:tcPr>
                </a:tc>
              </a:tr>
              <a:tr h="406400">
                <a:tc>
                  <a:txBody>
                    <a:bodyPr wrap="square"/>
                    <a:lstStyle/>
                    <a:p>
                      <a:pPr algn="l"/>
                      <a:r>
                        <a:rPr sz="1500" b="0">
                          <a:solidFill>
                            <a:srgbClr val="323232"/>
                          </a:solidFill>
                        </a:rPr>
                        <a:t/>
                      </a:r>
                    </a:p>
                  </a:txBody>
                  <a:tcPr marL="91440" marR="91440" marT="27432" marB="27432" anchor="ctr">
                    <a:solidFill>
                      <a:srgbClr val="DEF0FF"/>
                    </a:solidFill>
                  </a:tcPr>
                </a:tc>
                <a:tc>
                  <a:txBody>
                    <a:bodyPr wrap="square"/>
                    <a:lstStyle/>
                    <a:p>
                      <a:pPr algn="ctr"/>
                      <a:r>
                        <a:rPr sz="1500" b="0">
                          <a:solidFill>
                            <a:srgbClr val="323232"/>
                          </a:solidFill>
                        </a:rPr>
                        <a:t/>
                      </a:r>
                    </a:p>
                  </a:txBody>
                  <a:tcPr marL="91440" marR="91440" marT="27432" marB="27432" anchor="ctr">
                    <a:solidFill>
                      <a:srgbClr val="DEF0FF"/>
                    </a:solidFill>
                  </a:tcPr>
                </a:tc>
                <a:tc>
                  <a:txBody>
                    <a:bodyPr wrap="square"/>
                    <a:lstStyle/>
                    <a:p>
                      <a:pPr algn="ctr"/>
                      <a:r>
                        <a:rPr sz="1500" b="0">
                          <a:solidFill>
                            <a:srgbClr val="323232"/>
                          </a:solidFill>
                        </a:rPr>
                        <a:t/>
                      </a:r>
                    </a:p>
                  </a:txBody>
                  <a:tcPr marL="91440" marR="91440" marT="27432" marB="27432" anchor="ctr">
                    <a:solidFill>
                      <a:srgbClr val="DEF0FF"/>
                    </a:solidFill>
                  </a:tcPr>
                </a:tc>
                <a:tc>
                  <a:txBody>
                    <a:bodyPr wrap="square"/>
                    <a:lstStyle/>
                    <a:p>
                      <a:pPr algn="ctr"/>
                      <a:r>
                        <a:rPr sz="1500" b="0">
                          <a:solidFill>
                            <a:srgbClr val="323232"/>
                          </a:solidFill>
                        </a:rPr>
                        <a:t>ModernBERT</a:t>
                      </a:r>
                    </a:p>
                  </a:txBody>
                  <a:tcPr marL="91440" marR="91440" marT="27432" marB="27432" anchor="ctr">
                    <a:solidFill>
                      <a:srgbClr val="DEF0FF"/>
                    </a:solidFill>
                  </a:tcPr>
                </a:tc>
                <a:tc>
                  <a:txBody>
                    <a:bodyPr wrap="square"/>
                    <a:lstStyle/>
                    <a:p>
                      <a:pPr algn="ctr"/>
                      <a:r>
                        <a:rPr sz="1500" b="0">
                          <a:solidFill>
                            <a:srgbClr val="323232"/>
                          </a:solidFill>
                        </a:rPr>
                        <a:t>0.500</a:t>
                      </a:r>
                    </a:p>
                  </a:txBody>
                  <a:tcPr marL="91440" marR="91440" marT="27432" marB="27432" anchor="ctr">
                    <a:solidFill>
                      <a:srgbClr val="DEF0FF"/>
                    </a:solidFill>
                  </a:tcPr>
                </a:tc>
                <a:tc>
                  <a:txBody>
                    <a:bodyPr wrap="square"/>
                    <a:lstStyle/>
                    <a:p>
                      <a:pPr algn="ctr"/>
                      <a:r>
                        <a:rPr sz="1500" b="0">
                          <a:solidFill>
                            <a:srgbClr val="323232"/>
                          </a:solidFill>
                        </a:rPr>
                        <a:t>0.000</a:t>
                      </a:r>
                    </a:p>
                  </a:txBody>
                  <a:tcPr marL="91440" marR="91440" marT="27432" marB="27432" anchor="ctr">
                    <a:solidFill>
                      <a:srgbClr val="DEF0FF"/>
                    </a:solidFill>
                  </a:tcPr>
                </a:tc>
                <a:tc>
                  <a:txBody>
                    <a:bodyPr wrap="square"/>
                    <a:lstStyle/>
                    <a:p>
                      <a:pPr algn="ctr"/>
                      <a:r>
                        <a:rPr sz="1500" b="0">
                          <a:solidFill>
                            <a:srgbClr val="323232"/>
                          </a:solidFill>
                        </a:rPr>
                        <a:t>0.000</a:t>
                      </a:r>
                    </a:p>
                  </a:txBody>
                  <a:tcPr marL="91440" marR="91440" marT="27432" marB="27432" anchor="ctr">
                    <a:solidFill>
                      <a:srgbClr val="DEF0FF"/>
                    </a:solidFill>
                  </a:tcPr>
                </a:tc>
                <a:tc>
                  <a:txBody>
                    <a:bodyPr wrap="square"/>
                    <a:lstStyle/>
                    <a:p>
                      <a:pPr algn="ctr"/>
                      <a:r>
                        <a:rPr sz="1500" b="0">
                          <a:solidFill>
                            <a:srgbClr val="323232"/>
                          </a:solidFill>
                        </a:rPr>
                        <a:t>0.000</a:t>
                      </a:r>
                    </a:p>
                  </a:txBody>
                  <a:tcPr marL="91440" marR="91440" marT="27432" marB="27432" anchor="ctr">
                    <a:solidFill>
                      <a:srgbClr val="DEF0FF"/>
                    </a:solidFill>
                  </a:tcPr>
                </a:tc>
                <a:tc>
                  <a:txBody>
                    <a:bodyPr wrap="square"/>
                    <a:lstStyle/>
                    <a:p>
                      <a:pPr algn="ctr"/>
                      <a:r>
                        <a:rPr sz="1500" b="0">
                          <a:solidFill>
                            <a:srgbClr val="323232"/>
                          </a:solidFill>
                        </a:rPr>
                        <a:t>0.800</a:t>
                      </a:r>
                    </a:p>
                  </a:txBody>
                  <a:tcPr marL="91440" marR="91440" marT="27432" marB="27432" anchor="ctr">
                    <a:solidFill>
                      <a:srgbClr val="DEF0FF"/>
                    </a:solidFill>
                  </a:tcPr>
                </a:tc>
              </a:tr>
            </a:tbl>
          </a:graphicData>
        </a:graphic>
      </p:graphicFrame>
      <p:sp>
        <p:nvSpPr>
          <p:cNvPr id="7" name="TextBox 6"/>
          <p:cNvSpPr txBox="1"/>
          <p:nvPr/>
        </p:nvSpPr>
        <p:spPr>
          <a:xfrm>
            <a:off x="603504" y="5760720"/>
            <a:ext cx="10991088" cy="548640"/>
          </a:xfrm>
          <a:prstGeom prst="rect">
            <a:avLst/>
          </a:prstGeom>
          <a:noFill/>
        </p:spPr>
        <p:txBody>
          <a:bodyPr wrap="square" anchor="t" lIns="0" rIns="0" tIns="0" bIns="0">
            <a:spAutoFit/>
          </a:bodyPr>
          <a:lstStyle/>
          <a:p>
            <a:pPr algn="l">
              <a:lnSpc>
                <a:spcPct val="105000"/>
              </a:lnSpc>
              <a:spcAft>
                <a:spcPts val="600"/>
              </a:spcAft>
            </a:pPr>
            <a:r>
              <a:rPr sz="1400" b="0" i="0">
                <a:solidFill>
                  <a:srgbClr val="595959"/>
                </a:solidFill>
              </a:rPr>
              <a:t>Exploratory, unadjusted tests on compositional and bridge-comparison only: just compositional precision differs significantly (p = 0.003). Comparison and inference have too few Mix-required questions to test.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03504" y="868680"/>
            <a:ext cx="10991088" cy="960120"/>
          </a:xfrm>
        </p:spPr>
        <p:txBody>
          <a:bodyPr anchor="t" wrap="square"/>
          <a:lstStyle/>
          <a:p>
            <a:pPr>
              <a:lnSpc>
                <a:spcPct val="95000"/>
              </a:lnSpc>
            </a:pPr>
            <a:r>
              <a:rPr sz="3000"/>
              <a:t>Backup: routed cost and routing errors per policy</a:t>
            </a:r>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t>Adaptive Hybrid RAG  ·  Dante Wesslund  ·  KTH 2026</a:t>
            </a:r>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graphicFrame>
        <p:nvGraphicFramePr>
          <p:cNvPr id="6" name="Table 5"/>
          <p:cNvGraphicFramePr>
            <a:graphicFrameLocks noGrp="1"/>
          </p:cNvGraphicFramePr>
          <p:nvPr/>
        </p:nvGraphicFramePr>
        <p:xfrm>
          <a:off x="603504" y="2103120"/>
          <a:ext cx="10991088" cy="2926080"/>
        </p:xfrm>
        <a:graphic>
          <a:graphicData uri="http://schemas.openxmlformats.org/drawingml/2006/table">
            <a:tbl>
              <a:tblPr firstRow="1" bandRow="1">
                <a:tableStyleId>{5940675A-B579-460E-94D1-54222C63F5DA}</a:tableStyleId>
              </a:tblPr>
              <a:tblGrid>
                <a:gridCol w="1920240"/>
                <a:gridCol w="1005840"/>
                <a:gridCol w="1417320"/>
                <a:gridCol w="1325880"/>
                <a:gridCol w="1325880"/>
                <a:gridCol w="1417320"/>
                <a:gridCol w="1417320"/>
                <a:gridCol w="1161288"/>
              </a:tblGrid>
              <a:tr h="487680">
                <a:tc>
                  <a:txBody>
                    <a:bodyPr wrap="square"/>
                    <a:lstStyle/>
                    <a:p>
                      <a:pPr algn="l"/>
                      <a:r>
                        <a:rPr sz="1600" b="1">
                          <a:solidFill>
                            <a:srgbClr val="FFFFFF"/>
                          </a:solidFill>
                        </a:rPr>
                        <a:t>Policy</a:t>
                      </a:r>
                    </a:p>
                  </a:txBody>
                  <a:tcPr marL="91440" marR="91440" marT="27432" marB="27432" anchor="ctr">
                    <a:solidFill>
                      <a:srgbClr val="004791"/>
                    </a:solidFill>
                  </a:tcPr>
                </a:tc>
                <a:tc>
                  <a:txBody>
                    <a:bodyPr wrap="square"/>
                    <a:lstStyle/>
                    <a:p>
                      <a:pPr algn="ctr"/>
                      <a:r>
                        <a:rPr sz="1600" b="1">
                          <a:solidFill>
                            <a:srgbClr val="FFFFFF"/>
                          </a:solidFill>
                        </a:rPr>
                        <a:t>To Mix</a:t>
                      </a:r>
                    </a:p>
                  </a:txBody>
                  <a:tcPr marL="91440" marR="91440" marT="27432" marB="27432" anchor="ctr">
                    <a:solidFill>
                      <a:srgbClr val="004791"/>
                    </a:solidFill>
                  </a:tcPr>
                </a:tc>
                <a:tc>
                  <a:txBody>
                    <a:bodyPr wrap="square"/>
                    <a:lstStyle/>
                    <a:p>
                      <a:pPr algn="ctr"/>
                      <a:r>
                        <a:rPr sz="1600" b="1">
                          <a:solidFill>
                            <a:srgbClr val="FFFFFF"/>
                          </a:solidFill>
                        </a:rPr>
                        <a:t>Mean time (s)</a:t>
                      </a:r>
                    </a:p>
                  </a:txBody>
                  <a:tcPr marL="91440" marR="91440" marT="27432" marB="27432" anchor="ctr">
                    <a:solidFill>
                      <a:srgbClr val="004791"/>
                    </a:solidFill>
                  </a:tcPr>
                </a:tc>
                <a:tc>
                  <a:txBody>
                    <a:bodyPr wrap="square"/>
                    <a:lstStyle/>
                    <a:p>
                      <a:pPr algn="ctr"/>
                      <a:r>
                        <a:rPr sz="1600" b="1">
                          <a:solidFill>
                            <a:srgbClr val="FFFFFF"/>
                          </a:solidFill>
                        </a:rPr>
                        <a:t>Est. tokens</a:t>
                      </a:r>
                    </a:p>
                  </a:txBody>
                  <a:tcPr marL="91440" marR="91440" marT="27432" marB="27432" anchor="ctr">
                    <a:solidFill>
                      <a:srgbClr val="004791"/>
                    </a:solidFill>
                  </a:tcPr>
                </a:tc>
                <a:tc>
                  <a:txBody>
                    <a:bodyPr wrap="square"/>
                    <a:lstStyle/>
                    <a:p>
                      <a:pPr algn="ctr"/>
                      <a:r>
                        <a:rPr sz="1600" b="1">
                          <a:solidFill>
                            <a:srgbClr val="FFFFFF"/>
                          </a:solidFill>
                        </a:rPr>
                        <a:t>Token saving</a:t>
                      </a:r>
                    </a:p>
                  </a:txBody>
                  <a:tcPr marL="91440" marR="91440" marT="27432" marB="27432" anchor="ctr">
                    <a:solidFill>
                      <a:srgbClr val="004791"/>
                    </a:solidFill>
                  </a:tcPr>
                </a:tc>
                <a:tc>
                  <a:txBody>
                    <a:bodyPr wrap="square"/>
                    <a:lstStyle/>
                    <a:p>
                      <a:pPr algn="ctr"/>
                      <a:r>
                        <a:rPr sz="1600" b="1">
                          <a:solidFill>
                            <a:srgbClr val="FFFFFF"/>
                          </a:solidFill>
                        </a:rPr>
                        <a:t>Missed Mix</a:t>
                      </a:r>
                    </a:p>
                  </a:txBody>
                  <a:tcPr marL="91440" marR="91440" marT="27432" marB="27432" anchor="ctr">
                    <a:solidFill>
                      <a:srgbClr val="004791"/>
                    </a:solidFill>
                  </a:tcPr>
                </a:tc>
                <a:tc>
                  <a:txBody>
                    <a:bodyPr wrap="square"/>
                    <a:lstStyle/>
                    <a:p>
                      <a:pPr algn="ctr"/>
                      <a:r>
                        <a:rPr sz="1600" b="1">
                          <a:solidFill>
                            <a:srgbClr val="FFFFFF"/>
                          </a:solidFill>
                        </a:rPr>
                        <a:t>Extra Mix</a:t>
                      </a:r>
                    </a:p>
                  </a:txBody>
                  <a:tcPr marL="91440" marR="91440" marT="27432" marB="27432" anchor="ctr">
                    <a:solidFill>
                      <a:srgbClr val="004791"/>
                    </a:solidFill>
                  </a:tcPr>
                </a:tc>
                <a:tc>
                  <a:txBody>
                    <a:bodyPr wrap="square"/>
                    <a:lstStyle/>
                    <a:p>
                      <a:pPr algn="ctr"/>
                      <a:r>
                        <a:rPr sz="1600" b="1">
                          <a:solidFill>
                            <a:srgbClr val="FFFFFF"/>
                          </a:solidFill>
                        </a:rPr>
                        <a:t>Kept answers*</a:t>
                      </a:r>
                    </a:p>
                  </a:txBody>
                  <a:tcPr marL="91440" marR="91440" marT="27432" marB="27432" anchor="ctr">
                    <a:solidFill>
                      <a:srgbClr val="004791"/>
                    </a:solidFill>
                  </a:tcPr>
                </a:tc>
              </a:tr>
              <a:tr h="487680">
                <a:tc>
                  <a:txBody>
                    <a:bodyPr wrap="square"/>
                    <a:lstStyle/>
                    <a:p>
                      <a:pPr algn="l"/>
                      <a:r>
                        <a:rPr sz="1600" b="0">
                          <a:solidFill>
                            <a:srgbClr val="323232"/>
                          </a:solidFill>
                        </a:rPr>
                        <a:t>Always-Naive</a:t>
                      </a:r>
                    </a:p>
                  </a:txBody>
                  <a:tcPr marL="91440" marR="91440" marT="27432" marB="27432" anchor="ctr">
                    <a:solidFill>
                      <a:srgbClr val="FFFFFF"/>
                    </a:solidFill>
                  </a:tcPr>
                </a:tc>
                <a:tc>
                  <a:txBody>
                    <a:bodyPr wrap="square"/>
                    <a:lstStyle/>
                    <a:p>
                      <a:pPr algn="ctr"/>
                      <a:r>
                        <a:rPr sz="1600" b="0">
                          <a:solidFill>
                            <a:srgbClr val="323232"/>
                          </a:solidFill>
                        </a:rPr>
                        <a:t>0.0%</a:t>
                      </a:r>
                    </a:p>
                  </a:txBody>
                  <a:tcPr marL="91440" marR="91440" marT="27432" marB="27432" anchor="ctr">
                    <a:solidFill>
                      <a:srgbClr val="FFFFFF"/>
                    </a:solidFill>
                  </a:tcPr>
                </a:tc>
                <a:tc>
                  <a:txBody>
                    <a:bodyPr wrap="square"/>
                    <a:lstStyle/>
                    <a:p>
                      <a:pPr algn="ctr"/>
                      <a:r>
                        <a:rPr sz="1600" b="0">
                          <a:solidFill>
                            <a:srgbClr val="323232"/>
                          </a:solidFill>
                        </a:rPr>
                        <a:t>10.95</a:t>
                      </a:r>
                    </a:p>
                  </a:txBody>
                  <a:tcPr marL="91440" marR="91440" marT="27432" marB="27432" anchor="ctr">
                    <a:solidFill>
                      <a:srgbClr val="FFFFFF"/>
                    </a:solidFill>
                  </a:tcPr>
                </a:tc>
                <a:tc>
                  <a:txBody>
                    <a:bodyPr wrap="square"/>
                    <a:lstStyle/>
                    <a:p>
                      <a:pPr algn="ctr"/>
                      <a:r>
                        <a:rPr sz="1600" b="0">
                          <a:solidFill>
                            <a:srgbClr val="323232"/>
                          </a:solidFill>
                        </a:rPr>
                        <a:t>3,458</a:t>
                      </a:r>
                    </a:p>
                  </a:txBody>
                  <a:tcPr marL="91440" marR="91440" marT="27432" marB="27432" anchor="ctr">
                    <a:solidFill>
                      <a:srgbClr val="FFFFFF"/>
                    </a:solidFill>
                  </a:tcPr>
                </a:tc>
                <a:tc>
                  <a:txBody>
                    <a:bodyPr wrap="square"/>
                    <a:lstStyle/>
                    <a:p>
                      <a:pPr algn="ctr"/>
                      <a:r>
                        <a:rPr sz="1600" b="0">
                          <a:solidFill>
                            <a:srgbClr val="323232"/>
                          </a:solidFill>
                        </a:rPr>
                        <a:t>80.6%</a:t>
                      </a:r>
                    </a:p>
                  </a:txBody>
                  <a:tcPr marL="91440" marR="91440" marT="27432" marB="27432" anchor="ctr">
                    <a:solidFill>
                      <a:srgbClr val="FFFFFF"/>
                    </a:solidFill>
                  </a:tcPr>
                </a:tc>
                <a:tc>
                  <a:txBody>
                    <a:bodyPr wrap="square"/>
                    <a:lstStyle/>
                    <a:p>
                      <a:pPr algn="ctr"/>
                      <a:r>
                        <a:rPr sz="1600" b="0">
                          <a:solidFill>
                            <a:srgbClr val="323232"/>
                          </a:solidFill>
                        </a:rPr>
                        <a:t>49 (0.254)</a:t>
                      </a:r>
                    </a:p>
                  </a:txBody>
                  <a:tcPr marL="91440" marR="91440" marT="27432" marB="27432" anchor="ctr">
                    <a:solidFill>
                      <a:srgbClr val="FFFFFF"/>
                    </a:solidFill>
                  </a:tcPr>
                </a:tc>
                <a:tc>
                  <a:txBody>
                    <a:bodyPr wrap="square"/>
                    <a:lstStyle/>
                    <a:p>
                      <a:pPr algn="ctr"/>
                      <a:r>
                        <a:rPr sz="1600" b="0">
                          <a:solidFill>
                            <a:srgbClr val="323232"/>
                          </a:solidFill>
                        </a:rPr>
                        <a:t>0 (0.000)</a:t>
                      </a:r>
                    </a:p>
                  </a:txBody>
                  <a:tcPr marL="91440" marR="91440" marT="27432" marB="27432" anchor="ctr">
                    <a:solidFill>
                      <a:srgbClr val="FFFFFF"/>
                    </a:solidFill>
                  </a:tcPr>
                </a:tc>
                <a:tc>
                  <a:txBody>
                    <a:bodyPr wrap="square"/>
                    <a:lstStyle/>
                    <a:p>
                      <a:pPr algn="ctr"/>
                      <a:r>
                        <a:rPr sz="1600" b="0">
                          <a:solidFill>
                            <a:srgbClr val="323232"/>
                          </a:solidFill>
                        </a:rPr>
                        <a:t>74.6%</a:t>
                      </a:r>
                    </a:p>
                  </a:txBody>
                  <a:tcPr marL="91440" marR="91440" marT="27432" marB="27432" anchor="ctr">
                    <a:solidFill>
                      <a:srgbClr val="FFFFFF"/>
                    </a:solidFill>
                  </a:tcPr>
                </a:tc>
              </a:tr>
              <a:tr h="487680">
                <a:tc>
                  <a:txBody>
                    <a:bodyPr wrap="square"/>
                    <a:lstStyle/>
                    <a:p>
                      <a:pPr algn="l"/>
                      <a:r>
                        <a:rPr sz="1600" b="0">
                          <a:solidFill>
                            <a:srgbClr val="323232"/>
                          </a:solidFill>
                        </a:rPr>
                        <a:t>Type-only rule</a:t>
                      </a:r>
                    </a:p>
                  </a:txBody>
                  <a:tcPr marL="91440" marR="91440" marT="27432" marB="27432" anchor="ctr">
                    <a:solidFill>
                      <a:srgbClr val="DEF0FF"/>
                    </a:solidFill>
                  </a:tcPr>
                </a:tc>
                <a:tc>
                  <a:txBody>
                    <a:bodyPr wrap="square"/>
                    <a:lstStyle/>
                    <a:p>
                      <a:pPr algn="ctr"/>
                      <a:r>
                        <a:rPr sz="1600" b="0">
                          <a:solidFill>
                            <a:srgbClr val="323232"/>
                          </a:solidFill>
                        </a:rPr>
                        <a:t>33.7%</a:t>
                      </a:r>
                    </a:p>
                  </a:txBody>
                  <a:tcPr marL="91440" marR="91440" marT="27432" marB="27432" anchor="ctr">
                    <a:solidFill>
                      <a:srgbClr val="DEF0FF"/>
                    </a:solidFill>
                  </a:tcPr>
                </a:tc>
                <a:tc>
                  <a:txBody>
                    <a:bodyPr wrap="square"/>
                    <a:lstStyle/>
                    <a:p>
                      <a:pPr algn="ctr"/>
                      <a:r>
                        <a:rPr sz="1600" b="0">
                          <a:solidFill>
                            <a:srgbClr val="323232"/>
                          </a:solidFill>
                        </a:rPr>
                        <a:t>15.59</a:t>
                      </a:r>
                    </a:p>
                  </a:txBody>
                  <a:tcPr marL="91440" marR="91440" marT="27432" marB="27432" anchor="ctr">
                    <a:solidFill>
                      <a:srgbClr val="DEF0FF"/>
                    </a:solidFill>
                  </a:tcPr>
                </a:tc>
                <a:tc>
                  <a:txBody>
                    <a:bodyPr wrap="square"/>
                    <a:lstStyle/>
                    <a:p>
                      <a:pPr algn="ctr"/>
                      <a:r>
                        <a:rPr sz="1600" b="0">
                          <a:solidFill>
                            <a:srgbClr val="323232"/>
                          </a:solidFill>
                        </a:rPr>
                        <a:t>8,308</a:t>
                      </a:r>
                    </a:p>
                  </a:txBody>
                  <a:tcPr marL="91440" marR="91440" marT="27432" marB="27432" anchor="ctr">
                    <a:solidFill>
                      <a:srgbClr val="DEF0FF"/>
                    </a:solidFill>
                  </a:tcPr>
                </a:tc>
                <a:tc>
                  <a:txBody>
                    <a:bodyPr wrap="square"/>
                    <a:lstStyle/>
                    <a:p>
                      <a:pPr algn="ctr"/>
                      <a:r>
                        <a:rPr sz="1600" b="0">
                          <a:solidFill>
                            <a:srgbClr val="323232"/>
                          </a:solidFill>
                        </a:rPr>
                        <a:t>53.5%</a:t>
                      </a:r>
                    </a:p>
                  </a:txBody>
                  <a:tcPr marL="91440" marR="91440" marT="27432" marB="27432" anchor="ctr">
                    <a:solidFill>
                      <a:srgbClr val="DEF0FF"/>
                    </a:solidFill>
                  </a:tcPr>
                </a:tc>
                <a:tc>
                  <a:txBody>
                    <a:bodyPr wrap="square"/>
                    <a:lstStyle/>
                    <a:p>
                      <a:pPr algn="ctr"/>
                      <a:r>
                        <a:rPr sz="1600" b="0">
                          <a:solidFill>
                            <a:srgbClr val="323232"/>
                          </a:solidFill>
                        </a:rPr>
                        <a:t>11 (0.057)</a:t>
                      </a:r>
                    </a:p>
                  </a:txBody>
                  <a:tcPr marL="91440" marR="91440" marT="27432" marB="27432" anchor="ctr">
                    <a:solidFill>
                      <a:srgbClr val="DEF0FF"/>
                    </a:solidFill>
                  </a:tcPr>
                </a:tc>
                <a:tc>
                  <a:txBody>
                    <a:bodyPr wrap="square"/>
                    <a:lstStyle/>
                    <a:p>
                      <a:pPr algn="ctr"/>
                      <a:r>
                        <a:rPr sz="1600" b="0">
                          <a:solidFill>
                            <a:srgbClr val="323232"/>
                          </a:solidFill>
                        </a:rPr>
                        <a:t>27 (0.140)</a:t>
                      </a:r>
                    </a:p>
                  </a:txBody>
                  <a:tcPr marL="91440" marR="91440" marT="27432" marB="27432" anchor="ctr">
                    <a:solidFill>
                      <a:srgbClr val="DEF0FF"/>
                    </a:solidFill>
                  </a:tcPr>
                </a:tc>
                <a:tc>
                  <a:txBody>
                    <a:bodyPr wrap="square"/>
                    <a:lstStyle/>
                    <a:p>
                      <a:pPr algn="ctr"/>
                      <a:r>
                        <a:rPr sz="1600" b="0">
                          <a:solidFill>
                            <a:srgbClr val="323232"/>
                          </a:solidFill>
                        </a:rPr>
                        <a:t>94.3%</a:t>
                      </a:r>
                    </a:p>
                  </a:txBody>
                  <a:tcPr marL="91440" marR="91440" marT="27432" marB="27432" anchor="ctr">
                    <a:solidFill>
                      <a:srgbClr val="DEF0FF"/>
                    </a:solidFill>
                  </a:tcPr>
                </a:tc>
              </a:tr>
              <a:tr h="487680">
                <a:tc>
                  <a:txBody>
                    <a:bodyPr wrap="square"/>
                    <a:lstStyle/>
                    <a:p>
                      <a:pPr algn="l"/>
                      <a:r>
                        <a:rPr sz="1600" b="0">
                          <a:solidFill>
                            <a:srgbClr val="323232"/>
                          </a:solidFill>
                        </a:rPr>
                        <a:t>TF-IDF</a:t>
                      </a:r>
                    </a:p>
                  </a:txBody>
                  <a:tcPr marL="91440" marR="91440" marT="27432" marB="27432" anchor="ctr">
                    <a:solidFill>
                      <a:srgbClr val="FFFFFF"/>
                    </a:solidFill>
                  </a:tcPr>
                </a:tc>
                <a:tc>
                  <a:txBody>
                    <a:bodyPr wrap="square"/>
                    <a:lstStyle/>
                    <a:p>
                      <a:pPr algn="ctr"/>
                      <a:r>
                        <a:rPr sz="1600" b="0">
                          <a:solidFill>
                            <a:srgbClr val="323232"/>
                          </a:solidFill>
                        </a:rPr>
                        <a:t>35.2%</a:t>
                      </a:r>
                    </a:p>
                  </a:txBody>
                  <a:tcPr marL="91440" marR="91440" marT="27432" marB="27432" anchor="ctr">
                    <a:solidFill>
                      <a:srgbClr val="FFFFFF"/>
                    </a:solidFill>
                  </a:tcPr>
                </a:tc>
                <a:tc>
                  <a:txBody>
                    <a:bodyPr wrap="square"/>
                    <a:lstStyle/>
                    <a:p>
                      <a:pPr algn="ctr"/>
                      <a:r>
                        <a:rPr sz="1600" b="0">
                          <a:solidFill>
                            <a:srgbClr val="323232"/>
                          </a:solidFill>
                        </a:rPr>
                        <a:t>16.98</a:t>
                      </a:r>
                    </a:p>
                  </a:txBody>
                  <a:tcPr marL="91440" marR="91440" marT="27432" marB="27432" anchor="ctr">
                    <a:solidFill>
                      <a:srgbClr val="FFFFFF"/>
                    </a:solidFill>
                  </a:tcPr>
                </a:tc>
                <a:tc>
                  <a:txBody>
                    <a:bodyPr wrap="square"/>
                    <a:lstStyle/>
                    <a:p>
                      <a:pPr algn="ctr"/>
                      <a:r>
                        <a:rPr sz="1600" b="0">
                          <a:solidFill>
                            <a:srgbClr val="323232"/>
                          </a:solidFill>
                        </a:rPr>
                        <a:t>8,531</a:t>
                      </a:r>
                    </a:p>
                  </a:txBody>
                  <a:tcPr marL="91440" marR="91440" marT="27432" marB="27432" anchor="ctr">
                    <a:solidFill>
                      <a:srgbClr val="FFFFFF"/>
                    </a:solidFill>
                  </a:tcPr>
                </a:tc>
                <a:tc>
                  <a:txBody>
                    <a:bodyPr wrap="square"/>
                    <a:lstStyle/>
                    <a:p>
                      <a:pPr algn="ctr"/>
                      <a:r>
                        <a:rPr sz="1600" b="0">
                          <a:solidFill>
                            <a:srgbClr val="323232"/>
                          </a:solidFill>
                        </a:rPr>
                        <a:t>52.2%</a:t>
                      </a:r>
                    </a:p>
                  </a:txBody>
                  <a:tcPr marL="91440" marR="91440" marT="27432" marB="27432" anchor="ctr">
                    <a:solidFill>
                      <a:srgbClr val="FFFFFF"/>
                    </a:solidFill>
                  </a:tcPr>
                </a:tc>
                <a:tc>
                  <a:txBody>
                    <a:bodyPr wrap="square"/>
                    <a:lstStyle/>
                    <a:p>
                      <a:pPr algn="ctr"/>
                      <a:r>
                        <a:rPr sz="1600" b="0">
                          <a:solidFill>
                            <a:srgbClr val="323232"/>
                          </a:solidFill>
                        </a:rPr>
                        <a:t>11 (0.057)</a:t>
                      </a:r>
                    </a:p>
                  </a:txBody>
                  <a:tcPr marL="91440" marR="91440" marT="27432" marB="27432" anchor="ctr">
                    <a:solidFill>
                      <a:srgbClr val="FFFFFF"/>
                    </a:solidFill>
                  </a:tcPr>
                </a:tc>
                <a:tc>
                  <a:txBody>
                    <a:bodyPr wrap="square"/>
                    <a:lstStyle/>
                    <a:p>
                      <a:pPr algn="ctr"/>
                      <a:r>
                        <a:rPr sz="1600" b="0">
                          <a:solidFill>
                            <a:srgbClr val="323232"/>
                          </a:solidFill>
                        </a:rPr>
                        <a:t>30 (0.155)</a:t>
                      </a:r>
                    </a:p>
                  </a:txBody>
                  <a:tcPr marL="91440" marR="91440" marT="27432" marB="27432" anchor="ctr">
                    <a:solidFill>
                      <a:srgbClr val="FFFFFF"/>
                    </a:solidFill>
                  </a:tcPr>
                </a:tc>
                <a:tc>
                  <a:txBody>
                    <a:bodyPr wrap="square"/>
                    <a:lstStyle/>
                    <a:p>
                      <a:pPr algn="ctr"/>
                      <a:r>
                        <a:rPr sz="1600" b="0">
                          <a:solidFill>
                            <a:srgbClr val="323232"/>
                          </a:solidFill>
                        </a:rPr>
                        <a:t>94.3%</a:t>
                      </a:r>
                    </a:p>
                  </a:txBody>
                  <a:tcPr marL="91440" marR="91440" marT="27432" marB="27432" anchor="ctr">
                    <a:solidFill>
                      <a:srgbClr val="FFFFFF"/>
                    </a:solidFill>
                  </a:tcPr>
                </a:tc>
              </a:tr>
              <a:tr h="487680">
                <a:tc>
                  <a:txBody>
                    <a:bodyPr wrap="square"/>
                    <a:lstStyle/>
                    <a:p>
                      <a:pPr algn="l"/>
                      <a:r>
                        <a:rPr sz="1600" b="1">
                          <a:solidFill>
                            <a:srgbClr val="323232"/>
                          </a:solidFill>
                        </a:rPr>
                        <a:t>ModernBERT</a:t>
                      </a:r>
                    </a:p>
                  </a:txBody>
                  <a:tcPr marL="91440" marR="91440" marT="27432" marB="27432" anchor="ctr">
                    <a:solidFill>
                      <a:srgbClr val="DEF0FF"/>
                    </a:solidFill>
                  </a:tcPr>
                </a:tc>
                <a:tc>
                  <a:txBody>
                    <a:bodyPr wrap="square"/>
                    <a:lstStyle/>
                    <a:p>
                      <a:pPr algn="ctr"/>
                      <a:r>
                        <a:rPr sz="1600" b="1">
                          <a:solidFill>
                            <a:srgbClr val="323232"/>
                          </a:solidFill>
                        </a:rPr>
                        <a:t>22.3%</a:t>
                      </a:r>
                    </a:p>
                  </a:txBody>
                  <a:tcPr marL="91440" marR="91440" marT="27432" marB="27432" anchor="ctr">
                    <a:solidFill>
                      <a:srgbClr val="DEF0FF"/>
                    </a:solidFill>
                  </a:tcPr>
                </a:tc>
                <a:tc>
                  <a:txBody>
                    <a:bodyPr wrap="square"/>
                    <a:lstStyle/>
                    <a:p>
                      <a:pPr algn="ctr"/>
                      <a:r>
                        <a:rPr sz="1600" b="1">
                          <a:solidFill>
                            <a:srgbClr val="323232"/>
                          </a:solidFill>
                        </a:rPr>
                        <a:t>14.11</a:t>
                      </a:r>
                    </a:p>
                  </a:txBody>
                  <a:tcPr marL="91440" marR="91440" marT="27432" marB="27432" anchor="ctr">
                    <a:solidFill>
                      <a:srgbClr val="DEF0FF"/>
                    </a:solidFill>
                  </a:tcPr>
                </a:tc>
                <a:tc>
                  <a:txBody>
                    <a:bodyPr wrap="square"/>
                    <a:lstStyle/>
                    <a:p>
                      <a:pPr algn="ctr"/>
                      <a:r>
                        <a:rPr sz="1600" b="1">
                          <a:solidFill>
                            <a:srgbClr val="323232"/>
                          </a:solidFill>
                        </a:rPr>
                        <a:t>6,666</a:t>
                      </a:r>
                    </a:p>
                  </a:txBody>
                  <a:tcPr marL="91440" marR="91440" marT="27432" marB="27432" anchor="ctr">
                    <a:solidFill>
                      <a:srgbClr val="DEF0FF"/>
                    </a:solidFill>
                  </a:tcPr>
                </a:tc>
                <a:tc>
                  <a:txBody>
                    <a:bodyPr wrap="square"/>
                    <a:lstStyle/>
                    <a:p>
                      <a:pPr algn="ctr"/>
                      <a:r>
                        <a:rPr sz="1600" b="1">
                          <a:solidFill>
                            <a:srgbClr val="323232"/>
                          </a:solidFill>
                        </a:rPr>
                        <a:t>62.7%</a:t>
                      </a:r>
                    </a:p>
                  </a:txBody>
                  <a:tcPr marL="91440" marR="91440" marT="27432" marB="27432" anchor="ctr">
                    <a:solidFill>
                      <a:srgbClr val="DEF0FF"/>
                    </a:solidFill>
                  </a:tcPr>
                </a:tc>
                <a:tc>
                  <a:txBody>
                    <a:bodyPr wrap="square"/>
                    <a:lstStyle/>
                    <a:p>
                      <a:pPr algn="ctr"/>
                      <a:r>
                        <a:rPr sz="1600" b="1">
                          <a:solidFill>
                            <a:srgbClr val="323232"/>
                          </a:solidFill>
                        </a:rPr>
                        <a:t>16 (0.083)</a:t>
                      </a:r>
                    </a:p>
                  </a:txBody>
                  <a:tcPr marL="91440" marR="91440" marT="27432" marB="27432" anchor="ctr">
                    <a:solidFill>
                      <a:srgbClr val="DEF0FF"/>
                    </a:solidFill>
                  </a:tcPr>
                </a:tc>
                <a:tc>
                  <a:txBody>
                    <a:bodyPr wrap="square"/>
                    <a:lstStyle/>
                    <a:p>
                      <a:pPr algn="ctr"/>
                      <a:r>
                        <a:rPr sz="1600" b="1">
                          <a:solidFill>
                            <a:srgbClr val="323232"/>
                          </a:solidFill>
                        </a:rPr>
                        <a:t>10 (0.052)</a:t>
                      </a:r>
                    </a:p>
                  </a:txBody>
                  <a:tcPr marL="91440" marR="91440" marT="27432" marB="27432" anchor="ctr">
                    <a:solidFill>
                      <a:srgbClr val="DEF0FF"/>
                    </a:solidFill>
                  </a:tcPr>
                </a:tc>
                <a:tc>
                  <a:txBody>
                    <a:bodyPr wrap="square"/>
                    <a:lstStyle/>
                    <a:p>
                      <a:pPr algn="ctr"/>
                      <a:r>
                        <a:rPr sz="1600" b="1">
                          <a:solidFill>
                            <a:srgbClr val="323232"/>
                          </a:solidFill>
                        </a:rPr>
                        <a:t>91.7%</a:t>
                      </a:r>
                    </a:p>
                  </a:txBody>
                  <a:tcPr marL="91440" marR="91440" marT="27432" marB="27432" anchor="ctr">
                    <a:solidFill>
                      <a:srgbClr val="DEF0FF"/>
                    </a:solidFill>
                  </a:tcPr>
                </a:tc>
              </a:tr>
              <a:tr h="487680">
                <a:tc>
                  <a:txBody>
                    <a:bodyPr wrap="square"/>
                    <a:lstStyle/>
                    <a:p>
                      <a:pPr algn="l"/>
                      <a:r>
                        <a:rPr sz="1600" b="0">
                          <a:solidFill>
                            <a:srgbClr val="323232"/>
                          </a:solidFill>
                        </a:rPr>
                        <a:t>Always-Mix</a:t>
                      </a:r>
                    </a:p>
                  </a:txBody>
                  <a:tcPr marL="91440" marR="91440" marT="27432" marB="27432" anchor="ctr">
                    <a:solidFill>
                      <a:srgbClr val="FFFFFF"/>
                    </a:solidFill>
                  </a:tcPr>
                </a:tc>
                <a:tc>
                  <a:txBody>
                    <a:bodyPr wrap="square"/>
                    <a:lstStyle/>
                    <a:p>
                      <a:pPr algn="ctr"/>
                      <a:r>
                        <a:rPr sz="1600" b="0">
                          <a:solidFill>
                            <a:srgbClr val="323232"/>
                          </a:solidFill>
                        </a:rPr>
                        <a:t>100.0%</a:t>
                      </a:r>
                    </a:p>
                  </a:txBody>
                  <a:tcPr marL="91440" marR="91440" marT="27432" marB="27432" anchor="ctr">
                    <a:solidFill>
                      <a:srgbClr val="FFFFFF"/>
                    </a:solidFill>
                  </a:tcPr>
                </a:tc>
                <a:tc>
                  <a:txBody>
                    <a:bodyPr wrap="square"/>
                    <a:lstStyle/>
                    <a:p>
                      <a:pPr algn="ctr"/>
                      <a:r>
                        <a:rPr sz="1600" b="0">
                          <a:solidFill>
                            <a:srgbClr val="323232"/>
                          </a:solidFill>
                        </a:rPr>
                        <a:t>24.42</a:t>
                      </a:r>
                    </a:p>
                  </a:txBody>
                  <a:tcPr marL="91440" marR="91440" marT="27432" marB="27432" anchor="ctr">
                    <a:solidFill>
                      <a:srgbClr val="FFFFFF"/>
                    </a:solidFill>
                  </a:tcPr>
                </a:tc>
                <a:tc>
                  <a:txBody>
                    <a:bodyPr wrap="square"/>
                    <a:lstStyle/>
                    <a:p>
                      <a:pPr algn="ctr"/>
                      <a:r>
                        <a:rPr sz="1600" b="0">
                          <a:solidFill>
                            <a:srgbClr val="323232"/>
                          </a:solidFill>
                        </a:rPr>
                        <a:t>17,857</a:t>
                      </a:r>
                    </a:p>
                  </a:txBody>
                  <a:tcPr marL="91440" marR="91440" marT="27432" marB="27432" anchor="ctr">
                    <a:solidFill>
                      <a:srgbClr val="FFFFFF"/>
                    </a:solidFill>
                  </a:tcPr>
                </a:tc>
                <a:tc>
                  <a:txBody>
                    <a:bodyPr wrap="square"/>
                    <a:lstStyle/>
                    <a:p>
                      <a:pPr algn="ctr"/>
                      <a:r>
                        <a:rPr sz="1600" b="0">
                          <a:solidFill>
                            <a:srgbClr val="323232"/>
                          </a:solidFill>
                        </a:rPr>
                        <a:t>0.0%</a:t>
                      </a:r>
                    </a:p>
                  </a:txBody>
                  <a:tcPr marL="91440" marR="91440" marT="27432" marB="27432" anchor="ctr">
                    <a:solidFill>
                      <a:srgbClr val="FFFFFF"/>
                    </a:solidFill>
                  </a:tcPr>
                </a:tc>
                <a:tc>
                  <a:txBody>
                    <a:bodyPr wrap="square"/>
                    <a:lstStyle/>
                    <a:p>
                      <a:pPr algn="ctr"/>
                      <a:r>
                        <a:rPr sz="1600" b="0">
                          <a:solidFill>
                            <a:srgbClr val="323232"/>
                          </a:solidFill>
                        </a:rPr>
                        <a:t>0 (0.000)</a:t>
                      </a:r>
                    </a:p>
                  </a:txBody>
                  <a:tcPr marL="91440" marR="91440" marT="27432" marB="27432" anchor="ctr">
                    <a:solidFill>
                      <a:srgbClr val="FFFFFF"/>
                    </a:solidFill>
                  </a:tcPr>
                </a:tc>
                <a:tc>
                  <a:txBody>
                    <a:bodyPr wrap="square"/>
                    <a:lstStyle/>
                    <a:p>
                      <a:pPr algn="ctr"/>
                      <a:r>
                        <a:rPr sz="1600" b="0">
                          <a:solidFill>
                            <a:srgbClr val="323232"/>
                          </a:solidFill>
                        </a:rPr>
                        <a:t>144 (0.746)</a:t>
                      </a:r>
                    </a:p>
                  </a:txBody>
                  <a:tcPr marL="91440" marR="91440" marT="27432" marB="27432" anchor="ctr">
                    <a:solidFill>
                      <a:srgbClr val="FFFFFF"/>
                    </a:solidFill>
                  </a:tcPr>
                </a:tc>
                <a:tc>
                  <a:txBody>
                    <a:bodyPr wrap="square"/>
                    <a:lstStyle/>
                    <a:p>
                      <a:pPr algn="ctr"/>
                      <a:r>
                        <a:rPr sz="1600" b="0">
                          <a:solidFill>
                            <a:srgbClr val="323232"/>
                          </a:solidFill>
                        </a:rPr>
                        <a:t>100.0%</a:t>
                      </a:r>
                    </a:p>
                  </a:txBody>
                  <a:tcPr marL="91440" marR="91440" marT="27432" marB="27432" anchor="ctr">
                    <a:solidFill>
                      <a:srgbClr val="FFFFFF"/>
                    </a:solidFill>
                  </a:tcPr>
                </a:tc>
              </a:tr>
            </a:tbl>
          </a:graphicData>
        </a:graphic>
      </p:graphicFrame>
      <p:sp>
        <p:nvSpPr>
          <p:cNvPr id="7" name="TextBox 6"/>
          <p:cNvSpPr txBox="1"/>
          <p:nvPr/>
        </p:nvSpPr>
        <p:spPr>
          <a:xfrm>
            <a:off x="603504" y="5257800"/>
            <a:ext cx="10991088" cy="914400"/>
          </a:xfrm>
          <a:prstGeom prst="rect">
            <a:avLst/>
          </a:prstGeom>
          <a:noFill/>
        </p:spPr>
        <p:txBody>
          <a:bodyPr wrap="square" anchor="t" lIns="0" rIns="0" tIns="0" bIns="0">
            <a:spAutoFit/>
          </a:bodyPr>
          <a:lstStyle/>
          <a:p>
            <a:pPr algn="l">
              <a:lnSpc>
                <a:spcPct val="105000"/>
              </a:lnSpc>
              <a:spcAft>
                <a:spcPts val="600"/>
              </a:spcAft>
            </a:pPr>
            <a:r>
              <a:rPr sz="1500" b="0" i="0">
                <a:solidFill>
                  <a:srgbClr val="323232"/>
                </a:solidFill>
              </a:rPr>
              <a:t>Time: measured per query. Tokens: per-mode means from 15 instrumented queries (3,458 Naive, 17,857 Mix; prompt, output and reasoning tokens; embeddings excluded). Missed Mix = under-routing, Extra Mix = over-routing. *Kept answers = 1 − under-routing, assuming Mix is correct wherever Naive was.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03504" y="868680"/>
            <a:ext cx="10991088" cy="960120"/>
          </a:xfrm>
        </p:spPr>
        <p:txBody>
          <a:bodyPr anchor="t" wrap="square"/>
          <a:lstStyle/>
          <a:p>
            <a:pPr>
              <a:lnSpc>
                <a:spcPct val="95000"/>
              </a:lnSpc>
            </a:pPr>
            <a:r>
              <a:rPr sz="3000"/>
              <a:t>Backup: dataset composition by split and question type</a:t>
            </a:r>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t>Adaptive Hybrid RAG  ·  Dante Wesslund  ·  KTH 2026</a:t>
            </a:r>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graphicFrame>
        <p:nvGraphicFramePr>
          <p:cNvPr id="6" name="Table 5"/>
          <p:cNvGraphicFramePr>
            <a:graphicFrameLocks noGrp="1"/>
          </p:cNvGraphicFramePr>
          <p:nvPr/>
        </p:nvGraphicFramePr>
        <p:xfrm>
          <a:off x="603504" y="2103120"/>
          <a:ext cx="10991088" cy="2377440"/>
        </p:xfrm>
        <a:graphic>
          <a:graphicData uri="http://schemas.openxmlformats.org/drawingml/2006/table">
            <a:tbl>
              <a:tblPr firstRow="1" bandRow="1">
                <a:tableStyleId>{5940675A-B579-460E-94D1-54222C63F5DA}</a:tableStyleId>
              </a:tblPr>
              <a:tblGrid>
                <a:gridCol w="1645920"/>
                <a:gridCol w="1097280"/>
                <a:gridCol w="2011680"/>
                <a:gridCol w="2103120"/>
                <a:gridCol w="2212848"/>
                <a:gridCol w="1920240"/>
              </a:tblGrid>
              <a:tr h="475488">
                <a:tc>
                  <a:txBody>
                    <a:bodyPr wrap="square"/>
                    <a:lstStyle/>
                    <a:p>
                      <a:pPr algn="l"/>
                      <a:r>
                        <a:rPr sz="1700" b="1">
                          <a:solidFill>
                            <a:srgbClr val="FFFFFF"/>
                          </a:solidFill>
                        </a:rPr>
                        <a:t>Split</a:t>
                      </a:r>
                    </a:p>
                  </a:txBody>
                  <a:tcPr marL="91440" marR="91440" marT="27432" marB="27432" anchor="ctr">
                    <a:solidFill>
                      <a:srgbClr val="004791"/>
                    </a:solidFill>
                  </a:tcPr>
                </a:tc>
                <a:tc>
                  <a:txBody>
                    <a:bodyPr wrap="square"/>
                    <a:lstStyle/>
                    <a:p>
                      <a:pPr algn="ctr"/>
                      <a:r>
                        <a:rPr sz="1700" b="1">
                          <a:solidFill>
                            <a:srgbClr val="FFFFFF"/>
                          </a:solidFill>
                        </a:rPr>
                        <a:t>Total</a:t>
                      </a:r>
                    </a:p>
                  </a:txBody>
                  <a:tcPr marL="91440" marR="91440" marT="27432" marB="27432" anchor="ctr">
                    <a:solidFill>
                      <a:srgbClr val="004791"/>
                    </a:solidFill>
                  </a:tcPr>
                </a:tc>
                <a:tc>
                  <a:txBody>
                    <a:bodyPr wrap="square"/>
                    <a:lstStyle/>
                    <a:p>
                      <a:pPr algn="ctr"/>
                      <a:r>
                        <a:rPr sz="1700" b="1">
                          <a:solidFill>
                            <a:srgbClr val="FFFFFF"/>
                          </a:solidFill>
                        </a:rPr>
                        <a:t>Comparison</a:t>
                      </a:r>
                    </a:p>
                  </a:txBody>
                  <a:tcPr marL="91440" marR="91440" marT="27432" marB="27432" anchor="ctr">
                    <a:solidFill>
                      <a:srgbClr val="004791"/>
                    </a:solidFill>
                  </a:tcPr>
                </a:tc>
                <a:tc>
                  <a:txBody>
                    <a:bodyPr wrap="square"/>
                    <a:lstStyle/>
                    <a:p>
                      <a:pPr algn="ctr"/>
                      <a:r>
                        <a:rPr sz="1700" b="1">
                          <a:solidFill>
                            <a:srgbClr val="FFFFFF"/>
                          </a:solidFill>
                        </a:rPr>
                        <a:t>Compositional</a:t>
                      </a:r>
                    </a:p>
                  </a:txBody>
                  <a:tcPr marL="91440" marR="91440" marT="27432" marB="27432" anchor="ctr">
                    <a:solidFill>
                      <a:srgbClr val="004791"/>
                    </a:solidFill>
                  </a:tcPr>
                </a:tc>
                <a:tc>
                  <a:txBody>
                    <a:bodyPr wrap="square"/>
                    <a:lstStyle/>
                    <a:p>
                      <a:pPr algn="ctr"/>
                      <a:r>
                        <a:rPr sz="1700" b="1">
                          <a:solidFill>
                            <a:srgbClr val="FFFFFF"/>
                          </a:solidFill>
                        </a:rPr>
                        <a:t>Bridge-comparison</a:t>
                      </a:r>
                    </a:p>
                  </a:txBody>
                  <a:tcPr marL="91440" marR="91440" marT="27432" marB="27432" anchor="ctr">
                    <a:solidFill>
                      <a:srgbClr val="004791"/>
                    </a:solidFill>
                  </a:tcPr>
                </a:tc>
                <a:tc>
                  <a:txBody>
                    <a:bodyPr wrap="square"/>
                    <a:lstStyle/>
                    <a:p>
                      <a:pPr algn="ctr"/>
                      <a:r>
                        <a:rPr sz="1700" b="1">
                          <a:solidFill>
                            <a:srgbClr val="FFFFFF"/>
                          </a:solidFill>
                        </a:rPr>
                        <a:t>Inference</a:t>
                      </a:r>
                    </a:p>
                  </a:txBody>
                  <a:tcPr marL="91440" marR="91440" marT="27432" marB="27432" anchor="ctr">
                    <a:solidFill>
                      <a:srgbClr val="004791"/>
                    </a:solidFill>
                  </a:tcPr>
                </a:tc>
              </a:tr>
              <a:tr h="475488">
                <a:tc>
                  <a:txBody>
                    <a:bodyPr wrap="square"/>
                    <a:lstStyle/>
                    <a:p>
                      <a:pPr algn="l"/>
                      <a:r>
                        <a:rPr sz="1700" b="0">
                          <a:solidFill>
                            <a:srgbClr val="323232"/>
                          </a:solidFill>
                        </a:rPr>
                        <a:t>Train</a:t>
                      </a:r>
                    </a:p>
                  </a:txBody>
                  <a:tcPr marL="91440" marR="91440" marT="27432" marB="27432" anchor="ctr">
                    <a:solidFill>
                      <a:srgbClr val="FFFFFF"/>
                    </a:solidFill>
                  </a:tcPr>
                </a:tc>
                <a:tc>
                  <a:txBody>
                    <a:bodyPr wrap="square"/>
                    <a:lstStyle/>
                    <a:p>
                      <a:pPr algn="ctr"/>
                      <a:r>
                        <a:rPr sz="1700" b="0">
                          <a:solidFill>
                            <a:srgbClr val="323232"/>
                          </a:solidFill>
                        </a:rPr>
                        <a:t>900</a:t>
                      </a:r>
                    </a:p>
                  </a:txBody>
                  <a:tcPr marL="91440" marR="91440" marT="27432" marB="27432" anchor="ctr">
                    <a:solidFill>
                      <a:srgbClr val="FFFFFF"/>
                    </a:solidFill>
                  </a:tcPr>
                </a:tc>
                <a:tc>
                  <a:txBody>
                    <a:bodyPr wrap="square"/>
                    <a:lstStyle/>
                    <a:p>
                      <a:pPr algn="ctr"/>
                      <a:r>
                        <a:rPr sz="1700" b="0">
                          <a:solidFill>
                            <a:srgbClr val="323232"/>
                          </a:solidFill>
                        </a:rPr>
                        <a:t>415 (8 mix)</a:t>
                      </a:r>
                    </a:p>
                  </a:txBody>
                  <a:tcPr marL="91440" marR="91440" marT="27432" marB="27432" anchor="ctr">
                    <a:solidFill>
                      <a:srgbClr val="FFFFFF"/>
                    </a:solidFill>
                  </a:tcPr>
                </a:tc>
                <a:tc>
                  <a:txBody>
                    <a:bodyPr wrap="square"/>
                    <a:lstStyle/>
                    <a:p>
                      <a:pPr algn="ctr"/>
                      <a:r>
                        <a:rPr sz="1700" b="0">
                          <a:solidFill>
                            <a:srgbClr val="323232"/>
                          </a:solidFill>
                        </a:rPr>
                        <a:t>305 (178 mix)</a:t>
                      </a:r>
                    </a:p>
                  </a:txBody>
                  <a:tcPr marL="91440" marR="91440" marT="27432" marB="27432" anchor="ctr">
                    <a:solidFill>
                      <a:srgbClr val="FFFFFF"/>
                    </a:solidFill>
                  </a:tcPr>
                </a:tc>
                <a:tc>
                  <a:txBody>
                    <a:bodyPr wrap="square"/>
                    <a:lstStyle/>
                    <a:p>
                      <a:pPr algn="ctr"/>
                      <a:r>
                        <a:rPr sz="1700" b="0">
                          <a:solidFill>
                            <a:srgbClr val="323232"/>
                          </a:solidFill>
                        </a:rPr>
                        <a:t>155 (37 mix)</a:t>
                      </a:r>
                    </a:p>
                  </a:txBody>
                  <a:tcPr marL="91440" marR="91440" marT="27432" marB="27432" anchor="ctr">
                    <a:solidFill>
                      <a:srgbClr val="FFFFFF"/>
                    </a:solidFill>
                  </a:tcPr>
                </a:tc>
                <a:tc>
                  <a:txBody>
                    <a:bodyPr wrap="square"/>
                    <a:lstStyle/>
                    <a:p>
                      <a:pPr algn="ctr"/>
                      <a:r>
                        <a:rPr sz="1700" b="0">
                          <a:solidFill>
                            <a:srgbClr val="323232"/>
                          </a:solidFill>
                        </a:rPr>
                        <a:t>25 (6 mix)</a:t>
                      </a:r>
                    </a:p>
                  </a:txBody>
                  <a:tcPr marL="91440" marR="91440" marT="27432" marB="27432" anchor="ctr">
                    <a:solidFill>
                      <a:srgbClr val="FFFFFF"/>
                    </a:solidFill>
                  </a:tcPr>
                </a:tc>
              </a:tr>
              <a:tr h="475488">
                <a:tc>
                  <a:txBody>
                    <a:bodyPr wrap="square"/>
                    <a:lstStyle/>
                    <a:p>
                      <a:pPr algn="l"/>
                      <a:r>
                        <a:rPr sz="1700" b="0">
                          <a:solidFill>
                            <a:srgbClr val="323232"/>
                          </a:solidFill>
                        </a:rPr>
                        <a:t>Validation</a:t>
                      </a:r>
                    </a:p>
                  </a:txBody>
                  <a:tcPr marL="91440" marR="91440" marT="27432" marB="27432" anchor="ctr">
                    <a:solidFill>
                      <a:srgbClr val="DEF0FF"/>
                    </a:solidFill>
                  </a:tcPr>
                </a:tc>
                <a:tc>
                  <a:txBody>
                    <a:bodyPr wrap="square"/>
                    <a:lstStyle/>
                    <a:p>
                      <a:pPr algn="ctr"/>
                      <a:r>
                        <a:rPr sz="1700" b="0">
                          <a:solidFill>
                            <a:srgbClr val="323232"/>
                          </a:solidFill>
                        </a:rPr>
                        <a:t>193</a:t>
                      </a:r>
                    </a:p>
                  </a:txBody>
                  <a:tcPr marL="91440" marR="91440" marT="27432" marB="27432" anchor="ctr">
                    <a:solidFill>
                      <a:srgbClr val="DEF0FF"/>
                    </a:solidFill>
                  </a:tcPr>
                </a:tc>
                <a:tc>
                  <a:txBody>
                    <a:bodyPr wrap="square"/>
                    <a:lstStyle/>
                    <a:p>
                      <a:pPr algn="ctr"/>
                      <a:r>
                        <a:rPr sz="1700" b="0">
                          <a:solidFill>
                            <a:srgbClr val="323232"/>
                          </a:solidFill>
                        </a:rPr>
                        <a:t>89 (2 mix)</a:t>
                      </a:r>
                    </a:p>
                  </a:txBody>
                  <a:tcPr marL="91440" marR="91440" marT="27432" marB="27432" anchor="ctr">
                    <a:solidFill>
                      <a:srgbClr val="DEF0FF"/>
                    </a:solidFill>
                  </a:tcPr>
                </a:tc>
                <a:tc>
                  <a:txBody>
                    <a:bodyPr wrap="square"/>
                    <a:lstStyle/>
                    <a:p>
                      <a:pPr algn="ctr"/>
                      <a:r>
                        <a:rPr sz="1700" b="0">
                          <a:solidFill>
                            <a:srgbClr val="323232"/>
                          </a:solidFill>
                        </a:rPr>
                        <a:t>66 (38 mix)</a:t>
                      </a:r>
                    </a:p>
                  </a:txBody>
                  <a:tcPr marL="91440" marR="91440" marT="27432" marB="27432" anchor="ctr">
                    <a:solidFill>
                      <a:srgbClr val="DEF0FF"/>
                    </a:solidFill>
                  </a:tcPr>
                </a:tc>
                <a:tc>
                  <a:txBody>
                    <a:bodyPr wrap="square"/>
                    <a:lstStyle/>
                    <a:p>
                      <a:pPr algn="ctr"/>
                      <a:r>
                        <a:rPr sz="1700" b="0">
                          <a:solidFill>
                            <a:srgbClr val="323232"/>
                          </a:solidFill>
                        </a:rPr>
                        <a:t>33 (8 mix)</a:t>
                      </a:r>
                    </a:p>
                  </a:txBody>
                  <a:tcPr marL="91440" marR="91440" marT="27432" marB="27432" anchor="ctr">
                    <a:solidFill>
                      <a:srgbClr val="DEF0FF"/>
                    </a:solidFill>
                  </a:tcPr>
                </a:tc>
                <a:tc>
                  <a:txBody>
                    <a:bodyPr wrap="square"/>
                    <a:lstStyle/>
                    <a:p>
                      <a:pPr algn="ctr"/>
                      <a:r>
                        <a:rPr sz="1700" b="0">
                          <a:solidFill>
                            <a:srgbClr val="323232"/>
                          </a:solidFill>
                        </a:rPr>
                        <a:t>5 (1 mix)</a:t>
                      </a:r>
                    </a:p>
                  </a:txBody>
                  <a:tcPr marL="91440" marR="91440" marT="27432" marB="27432" anchor="ctr">
                    <a:solidFill>
                      <a:srgbClr val="DEF0FF"/>
                    </a:solidFill>
                  </a:tcPr>
                </a:tc>
              </a:tr>
              <a:tr h="475488">
                <a:tc>
                  <a:txBody>
                    <a:bodyPr wrap="square"/>
                    <a:lstStyle/>
                    <a:p>
                      <a:pPr algn="l"/>
                      <a:r>
                        <a:rPr sz="1700" b="0">
                          <a:solidFill>
                            <a:srgbClr val="323232"/>
                          </a:solidFill>
                        </a:rPr>
                        <a:t>Test</a:t>
                      </a:r>
                    </a:p>
                  </a:txBody>
                  <a:tcPr marL="91440" marR="91440" marT="27432" marB="27432" anchor="ctr">
                    <a:solidFill>
                      <a:srgbClr val="FFFFFF"/>
                    </a:solidFill>
                  </a:tcPr>
                </a:tc>
                <a:tc>
                  <a:txBody>
                    <a:bodyPr wrap="square"/>
                    <a:lstStyle/>
                    <a:p>
                      <a:pPr algn="ctr"/>
                      <a:r>
                        <a:rPr sz="1700" b="0">
                          <a:solidFill>
                            <a:srgbClr val="323232"/>
                          </a:solidFill>
                        </a:rPr>
                        <a:t>193</a:t>
                      </a:r>
                    </a:p>
                  </a:txBody>
                  <a:tcPr marL="91440" marR="91440" marT="27432" marB="27432" anchor="ctr">
                    <a:solidFill>
                      <a:srgbClr val="FFFFFF"/>
                    </a:solidFill>
                  </a:tcPr>
                </a:tc>
                <a:tc>
                  <a:txBody>
                    <a:bodyPr wrap="square"/>
                    <a:lstStyle/>
                    <a:p>
                      <a:pPr algn="ctr"/>
                      <a:r>
                        <a:rPr sz="1700" b="0">
                          <a:solidFill>
                            <a:srgbClr val="323232"/>
                          </a:solidFill>
                        </a:rPr>
                        <a:t>90 (2 mix)</a:t>
                      </a:r>
                    </a:p>
                  </a:txBody>
                  <a:tcPr marL="91440" marR="91440" marT="27432" marB="27432" anchor="ctr">
                    <a:solidFill>
                      <a:srgbClr val="FFFFFF"/>
                    </a:solidFill>
                  </a:tcPr>
                </a:tc>
                <a:tc>
                  <a:txBody>
                    <a:bodyPr wrap="square"/>
                    <a:lstStyle/>
                    <a:p>
                      <a:pPr algn="ctr"/>
                      <a:r>
                        <a:rPr sz="1700" b="0">
                          <a:solidFill>
                            <a:srgbClr val="323232"/>
                          </a:solidFill>
                        </a:rPr>
                        <a:t>65 (38 mix)</a:t>
                      </a:r>
                    </a:p>
                  </a:txBody>
                  <a:tcPr marL="91440" marR="91440" marT="27432" marB="27432" anchor="ctr">
                    <a:solidFill>
                      <a:srgbClr val="FFFFFF"/>
                    </a:solidFill>
                  </a:tcPr>
                </a:tc>
                <a:tc>
                  <a:txBody>
                    <a:bodyPr wrap="square"/>
                    <a:lstStyle/>
                    <a:p>
                      <a:pPr algn="ctr"/>
                      <a:r>
                        <a:rPr sz="1700" b="0">
                          <a:solidFill>
                            <a:srgbClr val="323232"/>
                          </a:solidFill>
                        </a:rPr>
                        <a:t>33 (8 mix)</a:t>
                      </a:r>
                    </a:p>
                  </a:txBody>
                  <a:tcPr marL="91440" marR="91440" marT="27432" marB="27432" anchor="ctr">
                    <a:solidFill>
                      <a:srgbClr val="FFFFFF"/>
                    </a:solidFill>
                  </a:tcPr>
                </a:tc>
                <a:tc>
                  <a:txBody>
                    <a:bodyPr wrap="square"/>
                    <a:lstStyle/>
                    <a:p>
                      <a:pPr algn="ctr"/>
                      <a:r>
                        <a:rPr sz="1700" b="0">
                          <a:solidFill>
                            <a:srgbClr val="323232"/>
                          </a:solidFill>
                        </a:rPr>
                        <a:t>5 (1 mix)</a:t>
                      </a:r>
                    </a:p>
                  </a:txBody>
                  <a:tcPr marL="91440" marR="91440" marT="27432" marB="27432" anchor="ctr">
                    <a:solidFill>
                      <a:srgbClr val="FFFFFF"/>
                    </a:solidFill>
                  </a:tcPr>
                </a:tc>
              </a:tr>
              <a:tr h="475488">
                <a:tc>
                  <a:txBody>
                    <a:bodyPr wrap="square"/>
                    <a:lstStyle/>
                    <a:p>
                      <a:pPr algn="l"/>
                      <a:r>
                        <a:rPr sz="1700" b="1">
                          <a:solidFill>
                            <a:srgbClr val="323232"/>
                          </a:solidFill>
                        </a:rPr>
                        <a:t>Overall</a:t>
                      </a:r>
                    </a:p>
                  </a:txBody>
                  <a:tcPr marL="91440" marR="91440" marT="27432" marB="27432" anchor="ctr">
                    <a:solidFill>
                      <a:srgbClr val="DEF0FF"/>
                    </a:solidFill>
                  </a:tcPr>
                </a:tc>
                <a:tc>
                  <a:txBody>
                    <a:bodyPr wrap="square"/>
                    <a:lstStyle/>
                    <a:p>
                      <a:pPr algn="ctr"/>
                      <a:r>
                        <a:rPr sz="1700" b="1">
                          <a:solidFill>
                            <a:srgbClr val="323232"/>
                          </a:solidFill>
                        </a:rPr>
                        <a:t>1,286</a:t>
                      </a:r>
                    </a:p>
                  </a:txBody>
                  <a:tcPr marL="91440" marR="91440" marT="27432" marB="27432" anchor="ctr">
                    <a:solidFill>
                      <a:srgbClr val="DEF0FF"/>
                    </a:solidFill>
                  </a:tcPr>
                </a:tc>
                <a:tc>
                  <a:txBody>
                    <a:bodyPr wrap="square"/>
                    <a:lstStyle/>
                    <a:p>
                      <a:pPr algn="ctr"/>
                      <a:r>
                        <a:rPr sz="1700" b="1">
                          <a:solidFill>
                            <a:srgbClr val="323232"/>
                          </a:solidFill>
                        </a:rPr>
                        <a:t>594 (12 mix)</a:t>
                      </a:r>
                    </a:p>
                  </a:txBody>
                  <a:tcPr marL="91440" marR="91440" marT="27432" marB="27432" anchor="ctr">
                    <a:solidFill>
                      <a:srgbClr val="DEF0FF"/>
                    </a:solidFill>
                  </a:tcPr>
                </a:tc>
                <a:tc>
                  <a:txBody>
                    <a:bodyPr wrap="square"/>
                    <a:lstStyle/>
                    <a:p>
                      <a:pPr algn="ctr"/>
                      <a:r>
                        <a:rPr sz="1700" b="1">
                          <a:solidFill>
                            <a:srgbClr val="323232"/>
                          </a:solidFill>
                        </a:rPr>
                        <a:t>436 (254 mix)</a:t>
                      </a:r>
                    </a:p>
                  </a:txBody>
                  <a:tcPr marL="91440" marR="91440" marT="27432" marB="27432" anchor="ctr">
                    <a:solidFill>
                      <a:srgbClr val="DEF0FF"/>
                    </a:solidFill>
                  </a:tcPr>
                </a:tc>
                <a:tc>
                  <a:txBody>
                    <a:bodyPr wrap="square"/>
                    <a:lstStyle/>
                    <a:p>
                      <a:pPr algn="ctr"/>
                      <a:r>
                        <a:rPr sz="1700" b="1">
                          <a:solidFill>
                            <a:srgbClr val="323232"/>
                          </a:solidFill>
                        </a:rPr>
                        <a:t>221 (53 mix)</a:t>
                      </a:r>
                    </a:p>
                  </a:txBody>
                  <a:tcPr marL="91440" marR="91440" marT="27432" marB="27432" anchor="ctr">
                    <a:solidFill>
                      <a:srgbClr val="DEF0FF"/>
                    </a:solidFill>
                  </a:tcPr>
                </a:tc>
                <a:tc>
                  <a:txBody>
                    <a:bodyPr wrap="square"/>
                    <a:lstStyle/>
                    <a:p>
                      <a:pPr algn="ctr"/>
                      <a:r>
                        <a:rPr sz="1700" b="1">
                          <a:solidFill>
                            <a:srgbClr val="323232"/>
                          </a:solidFill>
                        </a:rPr>
                        <a:t>35 (8 mix)</a:t>
                      </a:r>
                    </a:p>
                  </a:txBody>
                  <a:tcPr marL="91440" marR="91440" marT="27432" marB="27432" anchor="ctr">
                    <a:solidFill>
                      <a:srgbClr val="DEF0FF"/>
                    </a:solidFill>
                  </a:tcPr>
                </a:tc>
              </a:tr>
            </a:tbl>
          </a:graphicData>
        </a:graphic>
      </p:graphicFrame>
      <p:sp>
        <p:nvSpPr>
          <p:cNvPr id="7" name="TextBox 6"/>
          <p:cNvSpPr txBox="1"/>
          <p:nvPr/>
        </p:nvSpPr>
        <p:spPr>
          <a:xfrm>
            <a:off x="603504" y="4754880"/>
            <a:ext cx="10991088" cy="1280160"/>
          </a:xfrm>
          <a:prstGeom prst="rect">
            <a:avLst/>
          </a:prstGeom>
          <a:noFill/>
        </p:spPr>
        <p:txBody>
          <a:bodyPr wrap="square" anchor="t" lIns="0" rIns="0" tIns="0" bIns="0">
            <a:spAutoFit/>
          </a:bodyPr>
          <a:lstStyle/>
          <a:p>
            <a:pPr algn="l">
              <a:lnSpc>
                <a:spcPct val="105000"/>
              </a:lnSpc>
              <a:spcAft>
                <a:spcPts val="600"/>
              </a:spcAft>
            </a:pPr>
            <a:r>
              <a:rPr sz="1700" b="0" i="0">
                <a:solidFill>
                  <a:srgbClr val="323232"/>
                </a:solidFill>
              </a:rPr>
              <a:t>Label flow: 2,000 judged → 959 naive_enough, 327 mix_required, 714 none_enough (excluded) → 1,286 binary.</a:t>
            </a:r>
          </a:p>
          <a:p>
            <a:pPr algn="l">
              <a:lnSpc>
                <a:spcPct val="105000"/>
              </a:lnSpc>
              <a:spcAft>
                <a:spcPts val="600"/>
              </a:spcAft>
            </a:pPr>
            <a:r>
              <a:rPr sz="1700" b="0" i="0">
                <a:solidFill>
                  <a:srgbClr val="323232"/>
                </a:solidFill>
              </a:rPr>
              <a:t>Query set: first 2,000 of the 2,279 queryable questions of the 2WikiMultihopQA train split, in benchmark order. Split jointly stratified by question type and label.</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03504" y="868680"/>
            <a:ext cx="10991088" cy="960120"/>
          </a:xfrm>
        </p:spPr>
        <p:txBody>
          <a:bodyPr anchor="t" wrap="square"/>
          <a:lstStyle/>
          <a:p>
            <a:pPr>
              <a:lnSpc>
                <a:spcPct val="95000"/>
              </a:lnSpc>
            </a:pPr>
            <a:r>
              <a:rPr sz="3000"/>
              <a:t>Backup: the judge sees the gold answer and must return the minimum sufficient label</a:t>
            </a:r>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t>Adaptive Hybrid RAG  ·  Dante Wesslund  ·  KTH 2026</a:t>
            </a:r>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sp>
        <p:nvSpPr>
          <p:cNvPr id="6" name="Rounded Rectangle 5"/>
          <p:cNvSpPr/>
          <p:nvPr/>
        </p:nvSpPr>
        <p:spPr>
          <a:xfrm>
            <a:off x="603504" y="2057400"/>
            <a:ext cx="10991088" cy="4023360"/>
          </a:xfrm>
          <a:prstGeom prst="roundRect">
            <a:avLst>
              <a:gd name="adj" fmla="val 6000"/>
            </a:avLst>
          </a:prstGeom>
          <a:solidFill>
            <a:srgbClr val="DEF0FF"/>
          </a:solidFill>
          <a:ln>
            <a:noFill/>
          </a:ln>
          <a:effectLst/>
        </p:spPr>
        <p:style>
          <a:lnRef idx="1">
            <a:schemeClr val="accent1"/>
          </a:lnRef>
          <a:fillRef idx="3">
            <a:schemeClr val="accent1"/>
          </a:fillRef>
          <a:effectRef idx="2">
            <a:schemeClr val="accent1"/>
          </a:effectRef>
          <a:fontRef idx="minor">
            <a:schemeClr val="lt1"/>
          </a:fontRef>
        </p:style>
        <p:txBody>
          <a:bodyPr rtlCol="0" anchor="t" lIns="274320" rIns="274320" tIns="274320" bIns="274320" wrap="square"/>
          <a:lstStyle/>
          <a:p>
            <a:pPr algn="l">
              <a:lnSpc>
                <a:spcPct val="105000"/>
              </a:lnSpc>
              <a:spcAft>
                <a:spcPts val="400"/>
              </a:spcAft>
            </a:pPr>
            <a:r>
              <a:rPr sz="1800" b="1" i="0">
                <a:solidFill>
                  <a:srgbClr val="000061"/>
                </a:solidFill>
              </a:rPr>
              <a:t>Labels defined in the prompt (quoted)</a:t>
            </a:r>
          </a:p>
          <a:p>
            <a:pPr algn="l" marL="256032" indent="-256032">
              <a:lnSpc>
                <a:spcPct val="105000"/>
              </a:lnSpc>
              <a:spcAft>
                <a:spcPts val="200"/>
              </a:spcAft>
              <a:buFont typeface="Arial"/>
              <a:buChar char="•"/>
            </a:pPr>
            <a:r>
              <a:rPr sz="1600" b="0" i="0">
                <a:solidFill>
                  <a:srgbClr val="323232"/>
                </a:solidFill>
              </a:rPr>
              <a:t>naive_enough: the Naive answer was already enough to answer the question correctly.</a:t>
            </a:r>
          </a:p>
          <a:p>
            <a:pPr algn="l" marL="256032" indent="-256032">
              <a:lnSpc>
                <a:spcPct val="105000"/>
              </a:lnSpc>
              <a:spcAft>
                <a:spcPts val="200"/>
              </a:spcAft>
              <a:buFont typeface="Arial"/>
              <a:buChar char="•"/>
            </a:pPr>
            <a:r>
              <a:rPr sz="1600" b="0" i="0">
                <a:solidFill>
                  <a:srgbClr val="323232"/>
                </a:solidFill>
              </a:rPr>
              <a:t>mix_required: the Naive answer was not enough, but the Mix answer provided more context that led to a correct answer.</a:t>
            </a:r>
          </a:p>
          <a:p>
            <a:pPr algn="l" marL="256032" indent="-256032">
              <a:lnSpc>
                <a:spcPct val="105000"/>
              </a:lnSpc>
              <a:spcAft>
                <a:spcPts val="1200"/>
              </a:spcAft>
              <a:buFont typeface="Arial"/>
              <a:buChar char="•"/>
            </a:pPr>
            <a:r>
              <a:rPr sz="1600" b="0" i="0">
                <a:solidFill>
                  <a:srgbClr val="323232"/>
                </a:solidFill>
              </a:rPr>
              <a:t>none_enough: neither answer was enough.</a:t>
            </a:r>
          </a:p>
          <a:p>
            <a:pPr algn="l">
              <a:lnSpc>
                <a:spcPct val="105000"/>
              </a:lnSpc>
              <a:spcAft>
                <a:spcPts val="400"/>
              </a:spcAft>
            </a:pPr>
            <a:r>
              <a:rPr sz="1800" b="1" i="0">
                <a:solidFill>
                  <a:srgbClr val="000061"/>
                </a:solidFill>
              </a:rPr>
              <a:t>Key rules (9 in total)</a:t>
            </a:r>
          </a:p>
          <a:p>
            <a:pPr algn="l" marL="256032" indent="-256032">
              <a:lnSpc>
                <a:spcPct val="105000"/>
              </a:lnSpc>
              <a:spcAft>
                <a:spcPts val="200"/>
              </a:spcAft>
              <a:buFont typeface="Arial"/>
              <a:buChar char="•"/>
            </a:pPr>
            <a:r>
              <a:rPr sz="1600" b="0" i="0">
                <a:solidFill>
                  <a:srgbClr val="323232"/>
                </a:solidFill>
              </a:rPr>
              <a:t>Use the ground-truth answer to judge correctness when it is provided. A longer answer is not better just because it is longer.</a:t>
            </a:r>
          </a:p>
          <a:p>
            <a:pPr algn="l" marL="256032" indent="-256032">
              <a:lnSpc>
                <a:spcPct val="105000"/>
              </a:lnSpc>
              <a:spcAft>
                <a:spcPts val="200"/>
              </a:spcAft>
              <a:buFont typeface="Arial"/>
              <a:buChar char="•"/>
            </a:pPr>
            <a:r>
              <a:rPr sz="1600" b="0" i="0">
                <a:solidFill>
                  <a:srgbClr val="323232"/>
                </a:solidFill>
              </a:rPr>
              <a:t>If both Naive and Mix are correct, choose naive_enough.</a:t>
            </a:r>
          </a:p>
          <a:p>
            <a:pPr algn="l" marL="256032" indent="-256032">
              <a:lnSpc>
                <a:spcPct val="105000"/>
              </a:lnSpc>
              <a:spcAft>
                <a:spcPts val="1200"/>
              </a:spcAft>
              <a:buFont typeface="Arial"/>
              <a:buChar char="•"/>
            </a:pPr>
            <a:r>
              <a:rPr sz="1600" b="0" i="0">
                <a:solidFill>
                  <a:srgbClr val="323232"/>
                </a:solidFill>
              </a:rPr>
              <a:t>Treat explicit admissions of missing information and obvious error messages as not enough.</a:t>
            </a:r>
          </a:p>
          <a:p>
            <a:pPr algn="l">
              <a:lnSpc>
                <a:spcPct val="105000"/>
              </a:lnSpc>
              <a:spcAft>
                <a:spcPts val="600"/>
              </a:spcAft>
            </a:pPr>
            <a:r>
              <a:rPr sz="1500" b="0" i="0">
                <a:solidFill>
                  <a:srgbClr val="595959"/>
                </a:solidFill>
              </a:rPr>
              <a:t>Model gemini-3-flash-preview, temperature 0, one fixed prompt for all 2,000 questions. Full system and user prompt verbatim in thesis Appendix B.</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03504" y="868680"/>
            <a:ext cx="10991088" cy="960120"/>
          </a:xfrm>
        </p:spPr>
        <p:txBody>
          <a:bodyPr anchor="t" wrap="square"/>
          <a:lstStyle/>
          <a:p>
            <a:pPr>
              <a:lnSpc>
                <a:spcPct val="95000"/>
              </a:lnSpc>
            </a:pPr>
            <a:r>
              <a:rPr sz="3000"/>
              <a:t>Backup: precision-recall and ROC curves on the test set</a:t>
            </a:r>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t>Adaptive Hybrid RAG  ·  Dante Wesslund  ·  KTH 2026</a:t>
            </a:r>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Picture 5" descr="Precision-recall and ROC curves for TF-IDF and ModernBERT on the 193-question test set."/>
          <p:cNvPicPr>
            <a:picLocks noChangeAspect="1"/>
          </p:cNvPicPr>
          <p:nvPr/>
        </p:nvPicPr>
        <p:blipFill>
          <a:blip r:embed="rId2"/>
          <a:stretch>
            <a:fillRect/>
          </a:stretch>
        </p:blipFill>
        <p:spPr>
          <a:xfrm>
            <a:off x="603504" y="2011680"/>
            <a:ext cx="10991088" cy="406908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03504" y="868680"/>
            <a:ext cx="10991088" cy="960120"/>
          </a:xfrm>
        </p:spPr>
        <p:txBody>
          <a:bodyPr anchor="t" wrap="square"/>
          <a:lstStyle/>
          <a:p>
            <a:pPr>
              <a:lnSpc>
                <a:spcPct val="95000"/>
              </a:lnSpc>
            </a:pPr>
            <a:r>
              <a:rPr sz="3000"/>
              <a:t>Backup: why the ranking differences stay undecided</a:t>
            </a:r>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t>Adaptive Hybrid RAG  ·  Dante Wesslund  ·  KTH 2026</a:t>
            </a:r>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graphicFrame>
        <p:nvGraphicFramePr>
          <p:cNvPr id="6" name="Table 5"/>
          <p:cNvGraphicFramePr>
            <a:graphicFrameLocks noGrp="1"/>
          </p:cNvGraphicFramePr>
          <p:nvPr/>
        </p:nvGraphicFramePr>
        <p:xfrm>
          <a:off x="603504" y="2103120"/>
          <a:ext cx="10991088" cy="2377440"/>
        </p:xfrm>
        <a:graphic>
          <a:graphicData uri="http://schemas.openxmlformats.org/drawingml/2006/table">
            <a:tbl>
              <a:tblPr firstRow="1" bandRow="1">
                <a:tableStyleId>{5940675A-B579-460E-94D1-54222C63F5DA}</a:tableStyleId>
              </a:tblPr>
              <a:tblGrid>
                <a:gridCol w="2377440"/>
                <a:gridCol w="2194560"/>
                <a:gridCol w="4206240"/>
                <a:gridCol w="2212848"/>
              </a:tblGrid>
              <a:tr h="475488">
                <a:tc>
                  <a:txBody>
                    <a:bodyPr wrap="square"/>
                    <a:lstStyle/>
                    <a:p>
                      <a:pPr algn="l"/>
                      <a:r>
                        <a:rPr sz="1700" b="1">
                          <a:solidFill>
                            <a:srgbClr val="FFFFFF"/>
                          </a:solidFill>
                        </a:rPr>
                        <a:t>Metric</a:t>
                      </a:r>
                    </a:p>
                  </a:txBody>
                  <a:tcPr marL="91440" marR="91440" marT="27432" marB="27432" anchor="ctr">
                    <a:solidFill>
                      <a:srgbClr val="004791"/>
                    </a:solidFill>
                  </a:tcPr>
                </a:tc>
                <a:tc>
                  <a:txBody>
                    <a:bodyPr wrap="square"/>
                    <a:lstStyle/>
                    <a:p>
                      <a:pPr algn="ctr"/>
                      <a:r>
                        <a:rPr sz="1700" b="1">
                          <a:solidFill>
                            <a:srgbClr val="FFFFFF"/>
                          </a:solidFill>
                        </a:rPr>
                        <a:t>Observed difference</a:t>
                      </a:r>
                    </a:p>
                  </a:txBody>
                  <a:tcPr marL="91440" marR="91440" marT="27432" marB="27432" anchor="ctr">
                    <a:solidFill>
                      <a:srgbClr val="004791"/>
                    </a:solidFill>
                  </a:tcPr>
                </a:tc>
                <a:tc>
                  <a:txBody>
                    <a:bodyPr wrap="square"/>
                    <a:lstStyle/>
                    <a:p>
                      <a:pPr algn="ctr"/>
                      <a:r>
                        <a:rPr sz="1700" b="1">
                          <a:solidFill>
                            <a:srgbClr val="FFFFFF"/>
                          </a:solidFill>
                        </a:rPr>
                        <a:t>Min. detectable difference (80% power, α = 0.05)</a:t>
                      </a:r>
                    </a:p>
                  </a:txBody>
                  <a:tcPr marL="91440" marR="91440" marT="27432" marB="27432" anchor="ctr">
                    <a:solidFill>
                      <a:srgbClr val="004791"/>
                    </a:solidFill>
                  </a:tcPr>
                </a:tc>
                <a:tc>
                  <a:txBody>
                    <a:bodyPr wrap="square"/>
                    <a:lstStyle/>
                    <a:p>
                      <a:pPr algn="ctr"/>
                      <a:r>
                        <a:rPr sz="1700" b="1">
                          <a:solidFill>
                            <a:srgbClr val="FFFFFF"/>
                          </a:solidFill>
                        </a:rPr>
                        <a:t>Test set needed</a:t>
                      </a:r>
                    </a:p>
                  </a:txBody>
                  <a:tcPr marL="91440" marR="91440" marT="27432" marB="27432" anchor="ctr">
                    <a:solidFill>
                      <a:srgbClr val="004791"/>
                    </a:solidFill>
                  </a:tcPr>
                </a:tc>
              </a:tr>
              <a:tr h="475488">
                <a:tc>
                  <a:txBody>
                    <a:bodyPr wrap="square"/>
                    <a:lstStyle/>
                    <a:p>
                      <a:pPr algn="l"/>
                      <a:r>
                        <a:rPr sz="1700" b="0">
                          <a:solidFill>
                            <a:srgbClr val="323232"/>
                          </a:solidFill>
                        </a:rPr>
                        <a:t>AUROC</a:t>
                      </a:r>
                    </a:p>
                  </a:txBody>
                  <a:tcPr marL="91440" marR="91440" marT="27432" marB="27432" anchor="ctr">
                    <a:solidFill>
                      <a:srgbClr val="FFFFFF"/>
                    </a:solidFill>
                  </a:tcPr>
                </a:tc>
                <a:tc>
                  <a:txBody>
                    <a:bodyPr wrap="square"/>
                    <a:lstStyle/>
                    <a:p>
                      <a:pPr algn="ctr"/>
                      <a:r>
                        <a:rPr sz="1700" b="0">
                          <a:solidFill>
                            <a:srgbClr val="323232"/>
                          </a:solidFill>
                        </a:rPr>
                        <a:t>+0.018</a:t>
                      </a:r>
                    </a:p>
                  </a:txBody>
                  <a:tcPr marL="91440" marR="91440" marT="27432" marB="27432" anchor="ctr">
                    <a:solidFill>
                      <a:srgbClr val="FFFFFF"/>
                    </a:solidFill>
                  </a:tcPr>
                </a:tc>
                <a:tc>
                  <a:txBody>
                    <a:bodyPr wrap="square"/>
                    <a:lstStyle/>
                    <a:p>
                      <a:pPr algn="ctr"/>
                      <a:r>
                        <a:rPr sz="1700" b="0">
                          <a:solidFill>
                            <a:srgbClr val="323232"/>
                          </a:solidFill>
                        </a:rPr>
                        <a:t>≈ 0.04</a:t>
                      </a:r>
                    </a:p>
                  </a:txBody>
                  <a:tcPr marL="91440" marR="91440" marT="27432" marB="27432" anchor="ctr">
                    <a:solidFill>
                      <a:srgbClr val="FFFFFF"/>
                    </a:solidFill>
                  </a:tcPr>
                </a:tc>
                <a:tc>
                  <a:txBody>
                    <a:bodyPr wrap="square"/>
                    <a:lstStyle/>
                    <a:p>
                      <a:pPr algn="ctr"/>
                      <a:r>
                        <a:rPr sz="1700" b="0">
                          <a:solidFill>
                            <a:srgbClr val="323232"/>
                          </a:solidFill>
                        </a:rPr>
                        <a:t>≈ 5× larger</a:t>
                      </a:r>
                    </a:p>
                  </a:txBody>
                  <a:tcPr marL="91440" marR="91440" marT="27432" marB="27432" anchor="ctr">
                    <a:solidFill>
                      <a:srgbClr val="FFFFFF"/>
                    </a:solidFill>
                  </a:tcPr>
                </a:tc>
              </a:tr>
              <a:tr h="475488">
                <a:tc>
                  <a:txBody>
                    <a:bodyPr wrap="square"/>
                    <a:lstStyle/>
                    <a:p>
                      <a:pPr algn="l"/>
                      <a:r>
                        <a:rPr sz="1700" b="0">
                          <a:solidFill>
                            <a:srgbClr val="323232"/>
                          </a:solidFill>
                        </a:rPr>
                        <a:t>Balanced accuracy</a:t>
                      </a:r>
                    </a:p>
                  </a:txBody>
                  <a:tcPr marL="91440" marR="91440" marT="27432" marB="27432" anchor="ctr">
                    <a:solidFill>
                      <a:srgbClr val="DEF0FF"/>
                    </a:solidFill>
                  </a:tcPr>
                </a:tc>
                <a:tc>
                  <a:txBody>
                    <a:bodyPr wrap="square"/>
                    <a:lstStyle/>
                    <a:p>
                      <a:pPr algn="ctr"/>
                      <a:r>
                        <a:rPr sz="1700" b="0">
                          <a:solidFill>
                            <a:srgbClr val="323232"/>
                          </a:solidFill>
                        </a:rPr>
                        <a:t>+0.018</a:t>
                      </a:r>
                    </a:p>
                  </a:txBody>
                  <a:tcPr marL="91440" marR="91440" marT="27432" marB="27432" anchor="ctr">
                    <a:solidFill>
                      <a:srgbClr val="DEF0FF"/>
                    </a:solidFill>
                  </a:tcPr>
                </a:tc>
                <a:tc>
                  <a:txBody>
                    <a:bodyPr wrap="square"/>
                    <a:lstStyle/>
                    <a:p>
                      <a:pPr algn="ctr"/>
                      <a:r>
                        <a:rPr sz="1700" b="0">
                          <a:solidFill>
                            <a:srgbClr val="323232"/>
                          </a:solidFill>
                        </a:rPr>
                        <a:t>≈ 0.08</a:t>
                      </a:r>
                    </a:p>
                  </a:txBody>
                  <a:tcPr marL="91440" marR="91440" marT="27432" marB="27432" anchor="ctr">
                    <a:solidFill>
                      <a:srgbClr val="DEF0FF"/>
                    </a:solidFill>
                  </a:tcPr>
                </a:tc>
                <a:tc>
                  <a:txBody>
                    <a:bodyPr wrap="square"/>
                    <a:lstStyle/>
                    <a:p>
                      <a:pPr algn="ctr"/>
                      <a:r>
                        <a:rPr sz="1700" b="0">
                          <a:solidFill>
                            <a:srgbClr val="323232"/>
                          </a:solidFill>
                        </a:rPr>
                        <a:t>≈ 21× larger</a:t>
                      </a:r>
                    </a:p>
                  </a:txBody>
                  <a:tcPr marL="91440" marR="91440" marT="27432" marB="27432" anchor="ctr">
                    <a:solidFill>
                      <a:srgbClr val="DEF0FF"/>
                    </a:solidFill>
                  </a:tcPr>
                </a:tc>
              </a:tr>
              <a:tr h="475488">
                <a:tc>
                  <a:txBody>
                    <a:bodyPr wrap="square"/>
                    <a:lstStyle/>
                    <a:p>
                      <a:pPr algn="l"/>
                      <a:r>
                        <a:rPr sz="1700" b="0">
                          <a:solidFill>
                            <a:srgbClr val="323232"/>
                          </a:solidFill>
                        </a:rPr>
                        <a:t>AUPRC</a:t>
                      </a:r>
                    </a:p>
                  </a:txBody>
                  <a:tcPr marL="91440" marR="91440" marT="27432" marB="27432" anchor="ctr">
                    <a:solidFill>
                      <a:srgbClr val="FFFFFF"/>
                    </a:solidFill>
                  </a:tcPr>
                </a:tc>
                <a:tc>
                  <a:txBody>
                    <a:bodyPr wrap="square"/>
                    <a:lstStyle/>
                    <a:p>
                      <a:pPr algn="ctr"/>
                      <a:r>
                        <a:rPr sz="1700" b="0">
                          <a:solidFill>
                            <a:srgbClr val="323232"/>
                          </a:solidFill>
                        </a:rPr>
                        <a:t>+0.027</a:t>
                      </a:r>
                    </a:p>
                  </a:txBody>
                  <a:tcPr marL="91440" marR="91440" marT="27432" marB="27432" anchor="ctr">
                    <a:solidFill>
                      <a:srgbClr val="FFFFFF"/>
                    </a:solidFill>
                  </a:tcPr>
                </a:tc>
                <a:tc>
                  <a:txBody>
                    <a:bodyPr wrap="square"/>
                    <a:lstStyle/>
                    <a:p>
                      <a:pPr algn="ctr"/>
                      <a:r>
                        <a:rPr sz="1700" b="0">
                          <a:solidFill>
                            <a:srgbClr val="323232"/>
                          </a:solidFill>
                        </a:rPr>
                        <a:t>≈ 0.11</a:t>
                      </a:r>
                    </a:p>
                  </a:txBody>
                  <a:tcPr marL="91440" marR="91440" marT="27432" marB="27432" anchor="ctr">
                    <a:solidFill>
                      <a:srgbClr val="FFFFFF"/>
                    </a:solidFill>
                  </a:tcPr>
                </a:tc>
                <a:tc>
                  <a:txBody>
                    <a:bodyPr wrap="square"/>
                    <a:lstStyle/>
                    <a:p>
                      <a:pPr algn="ctr"/>
                      <a:r>
                        <a:rPr sz="1700" b="0">
                          <a:solidFill>
                            <a:srgbClr val="323232"/>
                          </a:solidFill>
                        </a:rPr>
                        <a:t>≈ 17× larger</a:t>
                      </a:r>
                    </a:p>
                  </a:txBody>
                  <a:tcPr marL="91440" marR="91440" marT="27432" marB="27432" anchor="ctr">
                    <a:solidFill>
                      <a:srgbClr val="FFFFFF"/>
                    </a:solidFill>
                  </a:tcPr>
                </a:tc>
              </a:tr>
              <a:tr h="475488">
                <a:tc>
                  <a:txBody>
                    <a:bodyPr wrap="square"/>
                    <a:lstStyle/>
                    <a:p>
                      <a:pPr algn="l"/>
                      <a:r>
                        <a:rPr sz="1700" b="0">
                          <a:solidFill>
                            <a:srgbClr val="323232"/>
                          </a:solidFill>
                        </a:rPr>
                        <a:t>F1 (mix)</a:t>
                      </a:r>
                    </a:p>
                  </a:txBody>
                  <a:tcPr marL="91440" marR="91440" marT="27432" marB="27432" anchor="ctr">
                    <a:solidFill>
                      <a:srgbClr val="DEF0FF"/>
                    </a:solidFill>
                  </a:tcPr>
                </a:tc>
                <a:tc>
                  <a:txBody>
                    <a:bodyPr wrap="square"/>
                    <a:lstStyle/>
                    <a:p>
                      <a:pPr algn="ctr"/>
                      <a:r>
                        <a:rPr sz="1700" b="0">
                          <a:solidFill>
                            <a:srgbClr val="323232"/>
                          </a:solidFill>
                        </a:rPr>
                        <a:t>+0.068</a:t>
                      </a:r>
                    </a:p>
                  </a:txBody>
                  <a:tcPr marL="91440" marR="91440" marT="27432" marB="27432" anchor="ctr">
                    <a:solidFill>
                      <a:srgbClr val="DEF0FF"/>
                    </a:solidFill>
                  </a:tcPr>
                </a:tc>
                <a:tc>
                  <a:txBody>
                    <a:bodyPr wrap="square"/>
                    <a:lstStyle/>
                    <a:p>
                      <a:pPr algn="ctr"/>
                      <a:r>
                        <a:rPr sz="1700" b="0">
                          <a:solidFill>
                            <a:srgbClr val="323232"/>
                          </a:solidFill>
                        </a:rPr>
                        <a:t>≈ 0.13</a:t>
                      </a:r>
                    </a:p>
                  </a:txBody>
                  <a:tcPr marL="91440" marR="91440" marT="27432" marB="27432" anchor="ctr">
                    <a:solidFill>
                      <a:srgbClr val="DEF0FF"/>
                    </a:solidFill>
                  </a:tcPr>
                </a:tc>
                <a:tc>
                  <a:txBody>
                    <a:bodyPr wrap="square"/>
                    <a:lstStyle/>
                    <a:p>
                      <a:pPr algn="ctr"/>
                      <a:r>
                        <a:rPr sz="1700" b="0">
                          <a:solidFill>
                            <a:srgbClr val="323232"/>
                          </a:solidFill>
                        </a:rPr>
                        <a:t>≈ 4× larger</a:t>
                      </a:r>
                    </a:p>
                  </a:txBody>
                  <a:tcPr marL="91440" marR="91440" marT="27432" marB="27432" anchor="ctr">
                    <a:solidFill>
                      <a:srgbClr val="DEF0FF"/>
                    </a:solidFill>
                  </a:tcPr>
                </a:tc>
              </a:tr>
            </a:tbl>
          </a:graphicData>
        </a:graphic>
      </p:graphicFrame>
      <p:sp>
        <p:nvSpPr>
          <p:cNvPr id="7" name="TextBox 6"/>
          <p:cNvSpPr txBox="1"/>
          <p:nvPr/>
        </p:nvSpPr>
        <p:spPr>
          <a:xfrm>
            <a:off x="603504" y="4800600"/>
            <a:ext cx="10991088" cy="1280160"/>
          </a:xfrm>
          <a:prstGeom prst="rect">
            <a:avLst/>
          </a:prstGeom>
          <a:noFill/>
        </p:spPr>
        <p:txBody>
          <a:bodyPr wrap="square" anchor="t" lIns="0" rIns="0" tIns="0" bIns="0">
            <a:spAutoFit/>
          </a:bodyPr>
          <a:lstStyle/>
          <a:p>
            <a:pPr algn="l">
              <a:lnSpc>
                <a:spcPct val="105000"/>
              </a:lnSpc>
              <a:spcAft>
                <a:spcPts val="600"/>
              </a:spcAft>
            </a:pPr>
            <a:r>
              <a:rPr sz="1700" b="0" i="0">
                <a:solidFill>
                  <a:srgbClr val="323232"/>
                </a:solidFill>
              </a:rPr>
              <a:t>Derived from the paired-bootstrap standard errors on 193 test questions (49 Mix-required). A non-significant result here means undecided, not equal. Required size scales with (detectable / observed)².</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03504" y="868680"/>
            <a:ext cx="10991088" cy="960120"/>
          </a:xfrm>
        </p:spPr>
        <p:txBody>
          <a:bodyPr anchor="t" wrap="square"/>
          <a:lstStyle/>
          <a:p>
            <a:pPr>
              <a:lnSpc>
                <a:spcPct val="95000"/>
              </a:lnSpc>
            </a:pPr>
            <a:r>
              <a:rPr sz="3000"/>
              <a:t>Backup: even a perfect Naive-first cascade costs more time than query-only routing</a:t>
            </a:r>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t>Adaptive Hybrid RAG  ·  Dante Wesslund  ·  KTH 2026</a:t>
            </a:r>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graphicFrame>
        <p:nvGraphicFramePr>
          <p:cNvPr id="6" name="Table 5"/>
          <p:cNvGraphicFramePr>
            <a:graphicFrameLocks noGrp="1"/>
          </p:cNvGraphicFramePr>
          <p:nvPr/>
        </p:nvGraphicFramePr>
        <p:xfrm>
          <a:off x="603504" y="2103120"/>
          <a:ext cx="10991088" cy="2194560"/>
        </p:xfrm>
        <a:graphic>
          <a:graphicData uri="http://schemas.openxmlformats.org/drawingml/2006/table">
            <a:tbl>
              <a:tblPr firstRow="1" bandRow="1">
                <a:tableStyleId>{5940675A-B579-460E-94D1-54222C63F5DA}</a:tableStyleId>
              </a:tblPr>
              <a:tblGrid>
                <a:gridCol w="3840480"/>
                <a:gridCol w="1783080"/>
                <a:gridCol w="1828800"/>
                <a:gridCol w="1463040"/>
                <a:gridCol w="2075688"/>
              </a:tblGrid>
              <a:tr h="548640">
                <a:tc>
                  <a:txBody>
                    <a:bodyPr wrap="square"/>
                    <a:lstStyle/>
                    <a:p>
                      <a:pPr algn="l"/>
                      <a:r>
                        <a:rPr sz="1600" b="1">
                          <a:solidFill>
                            <a:srgbClr val="FFFFFF"/>
                          </a:solidFill>
                        </a:rPr>
                        <a:t>Policy</a:t>
                      </a:r>
                    </a:p>
                  </a:txBody>
                  <a:tcPr marL="91440" marR="91440" marT="27432" marB="27432" anchor="ctr">
                    <a:solidFill>
                      <a:srgbClr val="004791"/>
                    </a:solidFill>
                  </a:tcPr>
                </a:tc>
                <a:tc>
                  <a:txBody>
                    <a:bodyPr wrap="square"/>
                    <a:lstStyle/>
                    <a:p>
                      <a:pPr algn="ctr"/>
                      <a:r>
                        <a:rPr sz="1600" b="1">
                          <a:solidFill>
                            <a:srgbClr val="FFFFFF"/>
                          </a:solidFill>
                        </a:rPr>
                        <a:t>Mean time per query</a:t>
                      </a:r>
                    </a:p>
                  </a:txBody>
                  <a:tcPr marL="91440" marR="91440" marT="27432" marB="27432" anchor="ctr">
                    <a:solidFill>
                      <a:srgbClr val="004791"/>
                    </a:solidFill>
                  </a:tcPr>
                </a:tc>
                <a:tc>
                  <a:txBody>
                    <a:bodyPr wrap="square"/>
                    <a:lstStyle/>
                    <a:p>
                      <a:pPr algn="ctr"/>
                      <a:r>
                        <a:rPr sz="1600" b="1">
                          <a:solidFill>
                            <a:srgbClr val="FFFFFF"/>
                          </a:solidFill>
                        </a:rPr>
                        <a:t>Est. tokens per query</a:t>
                      </a:r>
                    </a:p>
                  </a:txBody>
                  <a:tcPr marL="91440" marR="91440" marT="27432" marB="27432" anchor="ctr">
                    <a:solidFill>
                      <a:srgbClr val="004791"/>
                    </a:solidFill>
                  </a:tcPr>
                </a:tc>
                <a:tc>
                  <a:txBody>
                    <a:bodyPr wrap="square"/>
                    <a:lstStyle/>
                    <a:p>
                      <a:pPr algn="ctr"/>
                      <a:r>
                        <a:rPr sz="1600" b="1">
                          <a:solidFill>
                            <a:srgbClr val="FFFFFF"/>
                          </a:solidFill>
                        </a:rPr>
                        <a:t>Kept answers*</a:t>
                      </a:r>
                    </a:p>
                  </a:txBody>
                  <a:tcPr marL="91440" marR="91440" marT="27432" marB="27432" anchor="ctr">
                    <a:solidFill>
                      <a:srgbClr val="004791"/>
                    </a:solidFill>
                  </a:tcPr>
                </a:tc>
                <a:tc>
                  <a:txBody>
                    <a:bodyPr wrap="square"/>
                    <a:lstStyle/>
                    <a:p>
                      <a:pPr algn="ctr"/>
                      <a:r>
                        <a:rPr sz="1600" b="1">
                          <a:solidFill>
                            <a:srgbClr val="FFFFFF"/>
                          </a:solidFill>
                        </a:rPr>
                        <a:t>Wait for Mix-needing questions</a:t>
                      </a:r>
                    </a:p>
                  </a:txBody>
                  <a:tcPr marL="91440" marR="91440" marT="27432" marB="27432" anchor="ctr">
                    <a:solidFill>
                      <a:srgbClr val="004791"/>
                    </a:solidFill>
                  </a:tcPr>
                </a:tc>
              </a:tr>
              <a:tr h="548640">
                <a:tc>
                  <a:txBody>
                    <a:bodyPr wrap="square"/>
                    <a:lstStyle/>
                    <a:p>
                      <a:pPr algn="l"/>
                      <a:r>
                        <a:rPr sz="1600" b="1">
                          <a:solidFill>
                            <a:srgbClr val="323232"/>
                          </a:solidFill>
                        </a:rPr>
                        <a:t>ModernBERT router (query-only)</a:t>
                      </a:r>
                    </a:p>
                  </a:txBody>
                  <a:tcPr marL="91440" marR="91440" marT="27432" marB="27432" anchor="ctr">
                    <a:solidFill>
                      <a:srgbClr val="FFFFFF"/>
                    </a:solidFill>
                  </a:tcPr>
                </a:tc>
                <a:tc>
                  <a:txBody>
                    <a:bodyPr wrap="square"/>
                    <a:lstStyle/>
                    <a:p>
                      <a:pPr algn="ctr"/>
                      <a:r>
                        <a:rPr sz="1600" b="1">
                          <a:solidFill>
                            <a:srgbClr val="323232"/>
                          </a:solidFill>
                        </a:rPr>
                        <a:t>14.1 s</a:t>
                      </a:r>
                    </a:p>
                  </a:txBody>
                  <a:tcPr marL="91440" marR="91440" marT="27432" marB="27432" anchor="ctr">
                    <a:solidFill>
                      <a:srgbClr val="FFFFFF"/>
                    </a:solidFill>
                  </a:tcPr>
                </a:tc>
                <a:tc>
                  <a:txBody>
                    <a:bodyPr wrap="square"/>
                    <a:lstStyle/>
                    <a:p>
                      <a:pPr algn="ctr"/>
                      <a:r>
                        <a:rPr sz="1600" b="1">
                          <a:solidFill>
                            <a:srgbClr val="323232"/>
                          </a:solidFill>
                        </a:rPr>
                        <a:t>6,666</a:t>
                      </a:r>
                    </a:p>
                  </a:txBody>
                  <a:tcPr marL="91440" marR="91440" marT="27432" marB="27432" anchor="ctr">
                    <a:solidFill>
                      <a:srgbClr val="FFFFFF"/>
                    </a:solidFill>
                  </a:tcPr>
                </a:tc>
                <a:tc>
                  <a:txBody>
                    <a:bodyPr wrap="square"/>
                    <a:lstStyle/>
                    <a:p>
                      <a:pPr algn="ctr"/>
                      <a:r>
                        <a:rPr sz="1600" b="1">
                          <a:solidFill>
                            <a:srgbClr val="323232"/>
                          </a:solidFill>
                        </a:rPr>
                        <a:t>91.7%</a:t>
                      </a:r>
                    </a:p>
                  </a:txBody>
                  <a:tcPr marL="91440" marR="91440" marT="27432" marB="27432" anchor="ctr">
                    <a:solidFill>
                      <a:srgbClr val="FFFFFF"/>
                    </a:solidFill>
                  </a:tcPr>
                </a:tc>
                <a:tc>
                  <a:txBody>
                    <a:bodyPr wrap="square"/>
                    <a:lstStyle/>
                    <a:p>
                      <a:pPr algn="ctr"/>
                      <a:r>
                        <a:rPr sz="1600" b="1">
                          <a:solidFill>
                            <a:srgbClr val="323232"/>
                          </a:solidFill>
                        </a:rPr>
                        <a:t>31 s (Mix only)</a:t>
                      </a:r>
                    </a:p>
                  </a:txBody>
                  <a:tcPr marL="91440" marR="91440" marT="27432" marB="27432" anchor="ctr">
                    <a:solidFill>
                      <a:srgbClr val="FFFFFF"/>
                    </a:solidFill>
                  </a:tcPr>
                </a:tc>
              </a:tr>
              <a:tr h="548640">
                <a:tc>
                  <a:txBody>
                    <a:bodyPr wrap="square"/>
                    <a:lstStyle/>
                    <a:p>
                      <a:pPr algn="l"/>
                      <a:r>
                        <a:rPr sz="1600" b="0">
                          <a:solidFill>
                            <a:srgbClr val="323232"/>
                          </a:solidFill>
                        </a:rPr>
                        <a:t>Perfect cascade: Naive first, escalate exactly the Mix-required</a:t>
                      </a:r>
                    </a:p>
                  </a:txBody>
                  <a:tcPr marL="91440" marR="91440" marT="27432" marB="27432" anchor="ctr">
                    <a:solidFill>
                      <a:srgbClr val="DEF0FF"/>
                    </a:solidFill>
                  </a:tcPr>
                </a:tc>
                <a:tc>
                  <a:txBody>
                    <a:bodyPr wrap="square"/>
                    <a:lstStyle/>
                    <a:p>
                      <a:pPr algn="ctr"/>
                      <a:r>
                        <a:rPr sz="1600" b="0">
                          <a:solidFill>
                            <a:srgbClr val="323232"/>
                          </a:solidFill>
                        </a:rPr>
                        <a:t>19.5 s</a:t>
                      </a:r>
                    </a:p>
                  </a:txBody>
                  <a:tcPr marL="91440" marR="91440" marT="27432" marB="27432" anchor="ctr">
                    <a:solidFill>
                      <a:srgbClr val="DEF0FF"/>
                    </a:solidFill>
                  </a:tcPr>
                </a:tc>
                <a:tc>
                  <a:txBody>
                    <a:bodyPr wrap="square"/>
                    <a:lstStyle/>
                    <a:p>
                      <a:pPr algn="ctr"/>
                      <a:r>
                        <a:rPr sz="1600" b="0">
                          <a:solidFill>
                            <a:srgbClr val="323232"/>
                          </a:solidFill>
                        </a:rPr>
                        <a:t>7,992</a:t>
                      </a:r>
                    </a:p>
                  </a:txBody>
                  <a:tcPr marL="91440" marR="91440" marT="27432" marB="27432" anchor="ctr">
                    <a:solidFill>
                      <a:srgbClr val="DEF0FF"/>
                    </a:solidFill>
                  </a:tcPr>
                </a:tc>
                <a:tc>
                  <a:txBody>
                    <a:bodyPr wrap="square"/>
                    <a:lstStyle/>
                    <a:p>
                      <a:pPr algn="ctr"/>
                      <a:r>
                        <a:rPr sz="1600" b="0">
                          <a:solidFill>
                            <a:srgbClr val="323232"/>
                          </a:solidFill>
                        </a:rPr>
                        <a:t>100%</a:t>
                      </a:r>
                    </a:p>
                  </a:txBody>
                  <a:tcPr marL="91440" marR="91440" marT="27432" marB="27432" anchor="ctr">
                    <a:solidFill>
                      <a:srgbClr val="DEF0FF"/>
                    </a:solidFill>
                  </a:tcPr>
                </a:tc>
                <a:tc>
                  <a:txBody>
                    <a:bodyPr wrap="square"/>
                    <a:lstStyle/>
                    <a:p>
                      <a:pPr algn="ctr"/>
                      <a:r>
                        <a:rPr sz="1600" b="0">
                          <a:solidFill>
                            <a:srgbClr val="323232"/>
                          </a:solidFill>
                        </a:rPr>
                        <a:t>59 s (Naive, then Mix)</a:t>
                      </a:r>
                    </a:p>
                  </a:txBody>
                  <a:tcPr marL="91440" marR="91440" marT="27432" marB="27432" anchor="ctr">
                    <a:solidFill>
                      <a:srgbClr val="DEF0FF"/>
                    </a:solidFill>
                  </a:tcPr>
                </a:tc>
              </a:tr>
              <a:tr h="548640">
                <a:tc>
                  <a:txBody>
                    <a:bodyPr wrap="square"/>
                    <a:lstStyle/>
                    <a:p>
                      <a:pPr algn="l"/>
                      <a:r>
                        <a:rPr sz="1600" b="0">
                          <a:solidFill>
                            <a:srgbClr val="323232"/>
                          </a:solidFill>
                        </a:rPr>
                        <a:t>Always-Mix</a:t>
                      </a:r>
                    </a:p>
                  </a:txBody>
                  <a:tcPr marL="91440" marR="91440" marT="27432" marB="27432" anchor="ctr">
                    <a:solidFill>
                      <a:srgbClr val="FFFFFF"/>
                    </a:solidFill>
                  </a:tcPr>
                </a:tc>
                <a:tc>
                  <a:txBody>
                    <a:bodyPr wrap="square"/>
                    <a:lstStyle/>
                    <a:p>
                      <a:pPr algn="ctr"/>
                      <a:r>
                        <a:rPr sz="1600" b="0">
                          <a:solidFill>
                            <a:srgbClr val="323232"/>
                          </a:solidFill>
                        </a:rPr>
                        <a:t>24.4 s</a:t>
                      </a:r>
                    </a:p>
                  </a:txBody>
                  <a:tcPr marL="91440" marR="91440" marT="27432" marB="27432" anchor="ctr">
                    <a:solidFill>
                      <a:srgbClr val="FFFFFF"/>
                    </a:solidFill>
                  </a:tcPr>
                </a:tc>
                <a:tc>
                  <a:txBody>
                    <a:bodyPr wrap="square"/>
                    <a:lstStyle/>
                    <a:p>
                      <a:pPr algn="ctr"/>
                      <a:r>
                        <a:rPr sz="1600" b="0">
                          <a:solidFill>
                            <a:srgbClr val="323232"/>
                          </a:solidFill>
                        </a:rPr>
                        <a:t>17,857</a:t>
                      </a:r>
                    </a:p>
                  </a:txBody>
                  <a:tcPr marL="91440" marR="91440" marT="27432" marB="27432" anchor="ctr">
                    <a:solidFill>
                      <a:srgbClr val="FFFFFF"/>
                    </a:solidFill>
                  </a:tcPr>
                </a:tc>
                <a:tc>
                  <a:txBody>
                    <a:bodyPr wrap="square"/>
                    <a:lstStyle/>
                    <a:p>
                      <a:pPr algn="ctr"/>
                      <a:r>
                        <a:rPr sz="1600" b="0">
                          <a:solidFill>
                            <a:srgbClr val="323232"/>
                          </a:solidFill>
                        </a:rPr>
                        <a:t>100%</a:t>
                      </a:r>
                    </a:p>
                  </a:txBody>
                  <a:tcPr marL="91440" marR="91440" marT="27432" marB="27432" anchor="ctr">
                    <a:solidFill>
                      <a:srgbClr val="FFFFFF"/>
                    </a:solidFill>
                  </a:tcPr>
                </a:tc>
                <a:tc>
                  <a:txBody>
                    <a:bodyPr wrap="square"/>
                    <a:lstStyle/>
                    <a:p>
                      <a:pPr algn="ctr"/>
                      <a:r>
                        <a:rPr sz="1600" b="0">
                          <a:solidFill>
                            <a:srgbClr val="323232"/>
                          </a:solidFill>
                        </a:rPr>
                        <a:t>24 s</a:t>
                      </a:r>
                    </a:p>
                  </a:txBody>
                  <a:tcPr marL="91440" marR="91440" marT="27432" marB="27432" anchor="ctr">
                    <a:solidFill>
                      <a:srgbClr val="FFFFFF"/>
                    </a:solidFill>
                  </a:tcPr>
                </a:tc>
              </a:tr>
            </a:tbl>
          </a:graphicData>
        </a:graphic>
      </p:graphicFrame>
      <p:sp>
        <p:nvSpPr>
          <p:cNvPr id="7" name="TextBox 6"/>
          <p:cNvSpPr txBox="1"/>
          <p:nvPr/>
        </p:nvSpPr>
        <p:spPr>
          <a:xfrm>
            <a:off x="603504" y="4526280"/>
            <a:ext cx="10991088" cy="1645920"/>
          </a:xfrm>
          <a:prstGeom prst="rect">
            <a:avLst/>
          </a:prstGeom>
          <a:noFill/>
        </p:spPr>
        <p:txBody>
          <a:bodyPr wrap="square" anchor="t" lIns="0" rIns="0" tIns="0" bIns="0">
            <a:spAutoFit/>
          </a:bodyPr>
          <a:lstStyle/>
          <a:p>
            <a:pPr algn="l">
              <a:lnSpc>
                <a:spcPct val="105000"/>
              </a:lnSpc>
              <a:spcAft>
                <a:spcPts val="800"/>
              </a:spcAft>
            </a:pPr>
            <a:r>
              <a:rPr sz="1700" b="0" i="0">
                <a:solidFill>
                  <a:srgbClr val="323232"/>
                </a:solidFill>
              </a:rPr>
              <a:t>A cascade pays for Naive on every question, and its escalated questions pay for both modes. The perfect cascade is the cheapest possible full-recall cascade; a real one needs an imperfect failure detector, so it would cost more or keep fewer answers.</a:t>
            </a:r>
          </a:p>
          <a:p>
            <a:pPr algn="l">
              <a:lnSpc>
                <a:spcPct val="105000"/>
              </a:lnSpc>
              <a:spcAft>
                <a:spcPts val="600"/>
              </a:spcAft>
            </a:pPr>
            <a:r>
              <a:rPr sz="1400" b="0" i="0">
                <a:solidFill>
                  <a:srgbClr val="595959"/>
                </a:solidFill>
              </a:rPr>
              <a:t>Estimate from the per-query times and per-mode token means on the 193 test questions; not part of the thesis. *Kept answers under the same assumption as slide 17. Mix-needing wait: mean over the questions each policy sends to Mix.</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03504" y="868680"/>
            <a:ext cx="10991088" cy="960120"/>
          </a:xfrm>
        </p:spPr>
        <p:txBody>
          <a:bodyPr anchor="t" wrap="square"/>
          <a:lstStyle/>
          <a:p>
            <a:pPr>
              <a:lnSpc>
                <a:spcPct val="95000"/>
              </a:lnSpc>
            </a:pPr>
            <a:r>
              <a:rPr sz="3000"/>
              <a:t>Backup: experimental configuration</a:t>
            </a:r>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t>Adaptive Hybrid RAG  ·  Dante Wesslund  ·  KTH 2026</a:t>
            </a:r>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graphicFrame>
        <p:nvGraphicFramePr>
          <p:cNvPr id="6" name="Table 5"/>
          <p:cNvGraphicFramePr>
            <a:graphicFrameLocks noGrp="1"/>
          </p:cNvGraphicFramePr>
          <p:nvPr/>
        </p:nvGraphicFramePr>
        <p:xfrm>
          <a:off x="603504" y="2057400"/>
          <a:ext cx="10991088" cy="4023360"/>
        </p:xfrm>
        <a:graphic>
          <a:graphicData uri="http://schemas.openxmlformats.org/drawingml/2006/table">
            <a:tbl>
              <a:tblPr firstRow="1" bandRow="1">
                <a:tableStyleId>{5940675A-B579-460E-94D1-54222C63F5DA}</a:tableStyleId>
              </a:tblPr>
              <a:tblGrid>
                <a:gridCol w="2743200"/>
                <a:gridCol w="8247888"/>
              </a:tblGrid>
              <a:tr h="502920">
                <a:tc>
                  <a:txBody>
                    <a:bodyPr wrap="square"/>
                    <a:lstStyle/>
                    <a:p>
                      <a:pPr algn="l"/>
                      <a:r>
                        <a:rPr sz="1600" b="1">
                          <a:solidFill>
                            <a:srgbClr val="FFFFFF"/>
                          </a:solidFill>
                        </a:rPr>
                        <a:t>Component</a:t>
                      </a:r>
                    </a:p>
                  </a:txBody>
                  <a:tcPr marL="91440" marR="91440" marT="27432" marB="27432" anchor="ctr">
                    <a:solidFill>
                      <a:srgbClr val="004791"/>
                    </a:solidFill>
                  </a:tcPr>
                </a:tc>
                <a:tc>
                  <a:txBody>
                    <a:bodyPr wrap="square"/>
                    <a:lstStyle/>
                    <a:p>
                      <a:pPr algn="l"/>
                      <a:r>
                        <a:rPr sz="1600" b="1">
                          <a:solidFill>
                            <a:srgbClr val="FFFFFF"/>
                          </a:solidFill>
                        </a:rPr>
                        <a:t>Setting</a:t>
                      </a:r>
                    </a:p>
                  </a:txBody>
                  <a:tcPr marL="91440" marR="91440" marT="27432" marB="27432" anchor="ctr">
                    <a:solidFill>
                      <a:srgbClr val="004791"/>
                    </a:solidFill>
                  </a:tcPr>
                </a:tc>
              </a:tr>
              <a:tr h="502920">
                <a:tc>
                  <a:txBody>
                    <a:bodyPr wrap="square"/>
                    <a:lstStyle/>
                    <a:p>
                      <a:pPr algn="l"/>
                      <a:r>
                        <a:rPr sz="1600" b="1">
                          <a:solidFill>
                            <a:srgbClr val="323232"/>
                          </a:solidFill>
                        </a:rPr>
                        <a:t>Generator and judge</a:t>
                      </a:r>
                    </a:p>
                  </a:txBody>
                  <a:tcPr marL="91440" marR="91440" marT="27432" marB="27432" anchor="ctr">
                    <a:solidFill>
                      <a:srgbClr val="FFFFFF"/>
                    </a:solidFill>
                  </a:tcPr>
                </a:tc>
                <a:tc>
                  <a:txBody>
                    <a:bodyPr wrap="square"/>
                    <a:lstStyle/>
                    <a:p>
                      <a:pPr algn="l"/>
                      <a:r>
                        <a:rPr sz="1600" b="0">
                          <a:solidFill>
                            <a:srgbClr val="323232"/>
                          </a:solidFill>
                        </a:rPr>
                        <a:t>gemini-3-flash-preview, temperature 0</a:t>
                      </a:r>
                    </a:p>
                  </a:txBody>
                  <a:tcPr marL="91440" marR="91440" marT="27432" marB="27432" anchor="ctr">
                    <a:solidFill>
                      <a:srgbClr val="FFFFFF"/>
                    </a:solidFill>
                  </a:tcPr>
                </a:tc>
              </a:tr>
              <a:tr h="502920">
                <a:tc>
                  <a:txBody>
                    <a:bodyPr wrap="square"/>
                    <a:lstStyle/>
                    <a:p>
                      <a:pPr algn="l"/>
                      <a:r>
                        <a:rPr sz="1600" b="1">
                          <a:solidFill>
                            <a:srgbClr val="323232"/>
                          </a:solidFill>
                        </a:rPr>
                        <a:t>Embeddings</a:t>
                      </a:r>
                    </a:p>
                  </a:txBody>
                  <a:tcPr marL="91440" marR="91440" marT="27432" marB="27432" anchor="ctr">
                    <a:solidFill>
                      <a:srgbClr val="DEF0FF"/>
                    </a:solidFill>
                  </a:tcPr>
                </a:tc>
                <a:tc>
                  <a:txBody>
                    <a:bodyPr wrap="square"/>
                    <a:lstStyle/>
                    <a:p>
                      <a:pPr algn="l"/>
                      <a:r>
                        <a:rPr sz="1600" b="0">
                          <a:solidFill>
                            <a:srgbClr val="323232"/>
                          </a:solidFill>
                        </a:rPr>
                        <a:t>gemini-embedding-001 (768-dim)</a:t>
                      </a:r>
                    </a:p>
                  </a:txBody>
                  <a:tcPr marL="91440" marR="91440" marT="27432" marB="27432" anchor="ctr">
                    <a:solidFill>
                      <a:srgbClr val="DEF0FF"/>
                    </a:solidFill>
                  </a:tcPr>
                </a:tc>
              </a:tr>
              <a:tr h="502920">
                <a:tc>
                  <a:txBody>
                    <a:bodyPr wrap="square"/>
                    <a:lstStyle/>
                    <a:p>
                      <a:pPr algn="l"/>
                      <a:r>
                        <a:rPr sz="1600" b="1">
                          <a:solidFill>
                            <a:srgbClr val="323232"/>
                          </a:solidFill>
                        </a:rPr>
                        <a:t>LightRAG</a:t>
                      </a:r>
                    </a:p>
                  </a:txBody>
                  <a:tcPr marL="91440" marR="91440" marT="27432" marB="27432" anchor="ctr">
                    <a:solidFill>
                      <a:srgbClr val="FFFFFF"/>
                    </a:solidFill>
                  </a:tcPr>
                </a:tc>
                <a:tc>
                  <a:txBody>
                    <a:bodyPr wrap="square"/>
                    <a:lstStyle/>
                    <a:p>
                      <a:pPr algn="l"/>
                      <a:r>
                        <a:rPr sz="1600" b="0">
                          <a:solidFill>
                            <a:srgbClr val="323232"/>
                          </a:solidFill>
                        </a:rPr>
                        <a:t>v1.4.10; chunks 1,200 tokens, overlap 100; Naive top_k = chunk_top_k = 5; Mix chunk_top_k = 5 (graph retrieval at LightRAG defaults)</a:t>
                      </a:r>
                    </a:p>
                  </a:txBody>
                  <a:tcPr marL="91440" marR="91440" marT="27432" marB="27432" anchor="ctr">
                    <a:solidFill>
                      <a:srgbClr val="FFFFFF"/>
                    </a:solidFill>
                  </a:tcPr>
                </a:tc>
              </a:tr>
              <a:tr h="502920">
                <a:tc>
                  <a:txBody>
                    <a:bodyPr wrap="square"/>
                    <a:lstStyle/>
                    <a:p>
                      <a:pPr algn="l"/>
                      <a:r>
                        <a:rPr sz="1600" b="1">
                          <a:solidFill>
                            <a:srgbClr val="323232"/>
                          </a:solidFill>
                        </a:rPr>
                        <a:t>TF-IDF router</a:t>
                      </a:r>
                    </a:p>
                  </a:txBody>
                  <a:tcPr marL="91440" marR="91440" marT="27432" marB="27432" anchor="ctr">
                    <a:solidFill>
                      <a:srgbClr val="DEF0FF"/>
                    </a:solidFill>
                  </a:tcPr>
                </a:tc>
                <a:tc>
                  <a:txBody>
                    <a:bodyPr wrap="square"/>
                    <a:lstStyle/>
                    <a:p>
                      <a:pPr algn="l"/>
                      <a:r>
                        <a:rPr sz="1600" b="0">
                          <a:solidFill>
                            <a:srgbClr val="323232"/>
                          </a:solidFill>
                        </a:rPr>
                        <a:t>uni- and bigrams, min df 2, 20k features; logistic regression, C = 1.0, balanced weights</a:t>
                      </a:r>
                    </a:p>
                  </a:txBody>
                  <a:tcPr marL="91440" marR="91440" marT="27432" marB="27432" anchor="ctr">
                    <a:solidFill>
                      <a:srgbClr val="DEF0FF"/>
                    </a:solidFill>
                  </a:tcPr>
                </a:tc>
              </a:tr>
              <a:tr h="502920">
                <a:tc>
                  <a:txBody>
                    <a:bodyPr wrap="square"/>
                    <a:lstStyle/>
                    <a:p>
                      <a:pPr algn="l"/>
                      <a:r>
                        <a:rPr sz="1600" b="1">
                          <a:solidFill>
                            <a:srgbClr val="323232"/>
                          </a:solidFill>
                        </a:rPr>
                        <a:t>ModernBERT router</a:t>
                      </a:r>
                    </a:p>
                  </a:txBody>
                  <a:tcPr marL="91440" marR="91440" marT="27432" marB="27432" anchor="ctr">
                    <a:solidFill>
                      <a:srgbClr val="FFFFFF"/>
                    </a:solidFill>
                  </a:tcPr>
                </a:tc>
                <a:tc>
                  <a:txBody>
                    <a:bodyPr wrap="square"/>
                    <a:lstStyle/>
                    <a:p>
                      <a:pPr algn="l"/>
                      <a:r>
                        <a:rPr sz="1600" b="0">
                          <a:solidFill>
                            <a:srgbClr val="323232"/>
                          </a:solidFill>
                        </a:rPr>
                        <a:t>ModernBERT-base, max 128 tokens, lr 2e-5, batch 16, up to 8 epochs, early stopping on validation F1</a:t>
                      </a:r>
                    </a:p>
                  </a:txBody>
                  <a:tcPr marL="91440" marR="91440" marT="27432" marB="27432" anchor="ctr">
                    <a:solidFill>
                      <a:srgbClr val="FFFFFF"/>
                    </a:solidFill>
                  </a:tcPr>
                </a:tc>
              </a:tr>
              <a:tr h="502920">
                <a:tc>
                  <a:txBody>
                    <a:bodyPr wrap="square"/>
                    <a:lstStyle/>
                    <a:p>
                      <a:pPr algn="l"/>
                      <a:r>
                        <a:rPr sz="1600" b="1">
                          <a:solidFill>
                            <a:srgbClr val="323232"/>
                          </a:solidFill>
                        </a:rPr>
                        <a:t>Seeds and thresholds</a:t>
                      </a:r>
                    </a:p>
                  </a:txBody>
                  <a:tcPr marL="91440" marR="91440" marT="27432" marB="27432" anchor="ctr">
                    <a:solidFill>
                      <a:srgbClr val="DEF0FF"/>
                    </a:solidFill>
                  </a:tcPr>
                </a:tc>
                <a:tc>
                  <a:txBody>
                    <a:bodyPr wrap="square"/>
                    <a:lstStyle/>
                    <a:p>
                      <a:pPr algn="l"/>
                      <a:r>
                        <a:rPr sz="1600" b="0">
                          <a:solidFill>
                            <a:srgbClr val="323232"/>
                          </a:solidFill>
                        </a:rPr>
                        <a:t>seeds 7, 13, 42; thresholds from validation F1 (TF-IDF 0.48, ensemble 0.44)</a:t>
                      </a:r>
                    </a:p>
                  </a:txBody>
                  <a:tcPr marL="91440" marR="91440" marT="27432" marB="27432" anchor="ctr">
                    <a:solidFill>
                      <a:srgbClr val="DEF0FF"/>
                    </a:solidFill>
                  </a:tcPr>
                </a:tc>
              </a:tr>
              <a:tr h="502920">
                <a:tc>
                  <a:txBody>
                    <a:bodyPr wrap="square"/>
                    <a:lstStyle/>
                    <a:p>
                      <a:pPr algn="l"/>
                      <a:r>
                        <a:rPr sz="1600" b="1">
                          <a:solidFill>
                            <a:srgbClr val="323232"/>
                          </a:solidFill>
                        </a:rPr>
                        <a:t>Code and data</a:t>
                      </a:r>
                    </a:p>
                  </a:txBody>
                  <a:tcPr marL="91440" marR="91440" marT="27432" marB="27432" anchor="ctr">
                    <a:solidFill>
                      <a:srgbClr val="FFFFFF"/>
                    </a:solidFill>
                  </a:tcPr>
                </a:tc>
                <a:tc>
                  <a:txBody>
                    <a:bodyPr wrap="square"/>
                    <a:lstStyle/>
                    <a:p>
                      <a:pPr algn="l"/>
                      <a:r>
                        <a:rPr sz="1600" b="0">
                          <a:solidFill>
                            <a:srgbClr val="323232"/>
                          </a:solidFill>
                        </a:rPr>
                        <a:t>github.com/Dantecool02/Thesis_ericsson, tag examiner-revision (labels, splits, outputs in results/)</a:t>
                      </a:r>
                    </a:p>
                  </a:txBody>
                  <a:tcPr marL="91440" marR="91440" marT="27432" marB="27432" anchor="ctr">
                    <a:solidFill>
                      <a:srgbClr val="FFFFFF"/>
                    </a:solidFill>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03504" y="868680"/>
            <a:ext cx="10991088" cy="960120"/>
          </a:xfrm>
        </p:spPr>
        <p:txBody>
          <a:bodyPr anchor="t" wrap="square"/>
          <a:lstStyle/>
          <a:p>
            <a:pPr>
              <a:lnSpc>
                <a:spcPct val="95000"/>
              </a:lnSpc>
            </a:pPr>
            <a:r>
              <a:rPr sz="3000"/>
              <a:t>Backup: use of generative AI tools</a:t>
            </a:r>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t>Adaptive Hybrid RAG  ·  Dante Wesslund  ·  KTH 2026</a:t>
            </a:r>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sp>
        <p:nvSpPr>
          <p:cNvPr id="6" name="Rounded Rectangle 5"/>
          <p:cNvSpPr/>
          <p:nvPr/>
        </p:nvSpPr>
        <p:spPr>
          <a:xfrm>
            <a:off x="603504" y="2103120"/>
            <a:ext cx="10991088" cy="3108960"/>
          </a:xfrm>
          <a:prstGeom prst="roundRect">
            <a:avLst>
              <a:gd name="adj" fmla="val 6000"/>
            </a:avLst>
          </a:prstGeom>
          <a:solidFill>
            <a:srgbClr val="DEF0FF"/>
          </a:solidFill>
          <a:ln>
            <a:noFill/>
          </a:ln>
          <a:effectLst/>
        </p:spPr>
        <p:style>
          <a:lnRef idx="1">
            <a:schemeClr val="accent1"/>
          </a:lnRef>
          <a:fillRef idx="3">
            <a:schemeClr val="accent1"/>
          </a:fillRef>
          <a:effectRef idx="2">
            <a:schemeClr val="accent1"/>
          </a:effectRef>
          <a:fontRef idx="minor">
            <a:schemeClr val="lt1"/>
          </a:fontRef>
        </p:style>
        <p:txBody>
          <a:bodyPr rtlCol="0" anchor="t" lIns="320040" rIns="320040" tIns="320040" bIns="320040" wrap="square"/>
          <a:lstStyle/>
          <a:p>
            <a:pPr algn="l">
              <a:lnSpc>
                <a:spcPct val="105000"/>
              </a:lnSpc>
              <a:spcAft>
                <a:spcPts val="800"/>
              </a:spcAft>
            </a:pPr>
            <a:r>
              <a:rPr sz="1900" b="0" i="0">
                <a:solidFill>
                  <a:srgbClr val="323232"/>
                </a:solidFill>
              </a:rPr>
              <a:t>OpenAI Codex and Anthropic Claude Code were used in an advisory role, as discussion partners:</a:t>
            </a:r>
          </a:p>
          <a:p>
            <a:pPr algn="l" marL="256032" indent="-256032">
              <a:lnSpc>
                <a:spcPct val="105000"/>
              </a:lnSpc>
              <a:spcAft>
                <a:spcPts val="400"/>
              </a:spcAft>
              <a:buFont typeface="Arial"/>
              <a:buChar char="•"/>
            </a:pPr>
            <a:r>
              <a:rPr sz="1900" b="0" i="0">
                <a:solidFill>
                  <a:srgbClr val="323232"/>
                </a:solidFill>
              </a:rPr>
              <a:t>discussing phrasing and implementation alternatives, and debugging</a:t>
            </a:r>
          </a:p>
          <a:p>
            <a:pPr algn="l" marL="256032" indent="-256032">
              <a:lnSpc>
                <a:spcPct val="105000"/>
              </a:lnSpc>
              <a:spcAft>
                <a:spcPts val="1200"/>
              </a:spcAft>
              <a:buFont typeface="Arial"/>
              <a:buChar char="•"/>
            </a:pPr>
            <a:r>
              <a:rPr sz="1900" b="0" i="0">
                <a:solidFill>
                  <a:srgbClr val="323232"/>
                </a:solidFill>
              </a:rPr>
              <a:t>preparing the revisions after supervisor and examiner feedback, and this presentation</a:t>
            </a:r>
          </a:p>
          <a:p>
            <a:pPr algn="l">
              <a:lnSpc>
                <a:spcPct val="105000"/>
              </a:lnSpc>
              <a:spcAft>
                <a:spcPts val="600"/>
              </a:spcAft>
            </a:pPr>
            <a:r>
              <a:rPr sz="1900" b="0" i="0">
                <a:solidFill>
                  <a:srgbClr val="323232"/>
                </a:solidFill>
              </a:rPr>
              <a:t>The research question, design, experiments, analyses and conclusions are my own; every reported number was checked against the logs and output files.</a:t>
            </a:r>
          </a:p>
        </p:txBody>
      </p:sp>
      <p:sp>
        <p:nvSpPr>
          <p:cNvPr id="7" name="TextBox 6"/>
          <p:cNvSpPr txBox="1"/>
          <p:nvPr/>
        </p:nvSpPr>
        <p:spPr>
          <a:xfrm>
            <a:off x="603504" y="5440680"/>
            <a:ext cx="10991088" cy="548640"/>
          </a:xfrm>
          <a:prstGeom prst="rect">
            <a:avLst/>
          </a:prstGeom>
          <a:noFill/>
        </p:spPr>
        <p:txBody>
          <a:bodyPr wrap="square" anchor="t" lIns="0" rIns="0" tIns="0" bIns="0">
            <a:spAutoFit/>
          </a:bodyPr>
          <a:lstStyle/>
          <a:p>
            <a:pPr algn="l">
              <a:lnSpc>
                <a:spcPct val="105000"/>
              </a:lnSpc>
              <a:spcAft>
                <a:spcPts val="600"/>
              </a:spcAft>
            </a:pPr>
            <a:r>
              <a:rPr sz="1500" b="0" i="0">
                <a:solidFill>
                  <a:srgbClr val="595959"/>
                </a:solidFill>
              </a:rPr>
              <a:t>Thesis Section 5.7, Use of generative AI tools. The Gemini model inside the pipeline is part of the method, not of this disclosure.</a:t>
            </a:r>
          </a:p>
        </p:txBody>
      </p:sp>
    </p:spTree>
  </p:cSld>
  <p:clrMapOvr>
    <a:masterClrMapping/>
  </p:clrMapOvr>
</p:sld>
</file>

<file path=ppt/theme/theme1.xml><?xml version="1.0" encoding="utf-8"?>
<a:theme xmlns:a="http://schemas.openxmlformats.org/drawingml/2006/main" name="Office-tema">
  <a:themeElements>
    <a:clrScheme name="KTH">
      <a:dk1>
        <a:srgbClr val="000000"/>
      </a:dk1>
      <a:lt1>
        <a:srgbClr val="FFFFFF"/>
      </a:lt1>
      <a:dk2>
        <a:srgbClr val="000061"/>
      </a:dk2>
      <a:lt2>
        <a:srgbClr val="EBE5E0"/>
      </a:lt2>
      <a:accent1>
        <a:srgbClr val="004791"/>
      </a:accent1>
      <a:accent2>
        <a:srgbClr val="6198D2"/>
      </a:accent2>
      <a:accent3>
        <a:srgbClr val="000061"/>
      </a:accent3>
      <a:accent4>
        <a:srgbClr val="DEF0FF"/>
      </a:accent4>
      <a:accent5>
        <a:srgbClr val="EBE5DF"/>
      </a:accent5>
      <a:accent6>
        <a:srgbClr val="0028ED"/>
      </a:accent6>
      <a:hlink>
        <a:srgbClr val="3878C2"/>
      </a:hlink>
      <a:folHlink>
        <a:srgbClr val="004691"/>
      </a:folHlink>
    </a:clrScheme>
    <a:fontScheme name="Office">
      <a:majorFont>
        <a:latin typeface="Figtree"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Figtree"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custClrLst>
    <a:custClr name="Sand">
      <a:srgbClr val="EBE5E0"/>
    </a:custClr>
    <a:custClr name="KTH blue">
      <a:srgbClr val="004791"/>
    </a:custClr>
    <a:custClr name="Sky blue">
      <a:srgbClr val="6298D2"/>
    </a:custClr>
    <a:custClr name="Navy blue">
      <a:srgbClr val="000061"/>
    </a:custClr>
    <a:custClr name="Light blue">
      <a:srgbClr val="DEF0FF"/>
    </a:custClr>
    <a:custClr name="Digital blue">
      <a:srgbClr val="0029ED"/>
    </a:custClr>
    <a:custClr name="Blank">
      <a:srgbClr val="FFFFFF"/>
    </a:custClr>
    <a:custClr name="Blank">
      <a:srgbClr val="FFFFFF"/>
    </a:custClr>
    <a:custClr name="Blank">
      <a:srgbClr val="FFFFFF"/>
    </a:custClr>
    <a:custClr name="Blank">
      <a:srgbClr val="FFFFFF"/>
    </a:custClr>
    <a:custClr name="Dark green">
      <a:srgbClr val="0D4A21"/>
    </a:custClr>
    <a:custClr name="Dark turquoise">
      <a:srgbClr val="1C434C"/>
    </a:custClr>
    <a:custClr name="Dark brick">
      <a:srgbClr val="78001A"/>
    </a:custClr>
    <a:custClr name="Dark yellow">
      <a:srgbClr val="A65900"/>
    </a:custClr>
    <a:custClr name="Dark grey">
      <a:srgbClr val="323232"/>
    </a:custClr>
    <a:custClr name="Blank">
      <a:srgbClr val="FFFFFF"/>
    </a:custClr>
    <a:custClr name="Blank">
      <a:srgbClr val="FFFFFF"/>
    </a:custClr>
    <a:custClr name="Blank">
      <a:srgbClr val="FFFFFF"/>
    </a:custClr>
    <a:custClr name="Blank">
      <a:srgbClr val="FFFFFF"/>
    </a:custClr>
    <a:custClr name="Blank">
      <a:srgbClr val="FFFFFF"/>
    </a:custClr>
    <a:custClr name="Green">
      <a:srgbClr val="4DA060"/>
    </a:custClr>
    <a:custClr name="Turquoise">
      <a:srgbClr val="339C9C"/>
    </a:custClr>
    <a:custClr name="Brick">
      <a:srgbClr val="E86A58"/>
    </a:custClr>
    <a:custClr name="Yellow">
      <a:srgbClr val="FFBE00"/>
    </a:custClr>
    <a:custClr name="Grey">
      <a:srgbClr val="A5A5A5"/>
    </a:custClr>
    <a:custClr name="Blank">
      <a:srgbClr val="FFFFFF"/>
    </a:custClr>
    <a:custClr name="Blank">
      <a:srgbClr val="FFFFFF"/>
    </a:custClr>
    <a:custClr name="Blank">
      <a:srgbClr val="FFFFFF"/>
    </a:custClr>
    <a:custClr name="Blank">
      <a:srgbClr val="FFFFFF"/>
    </a:custClr>
    <a:custClr name="Blank">
      <a:srgbClr val="FFFFFF"/>
    </a:custClr>
    <a:custClr name="Light green">
      <a:srgbClr val="C7EBBA"/>
    </a:custClr>
    <a:custClr name="Light turquoise">
      <a:srgbClr val="B2E0E0"/>
    </a:custClr>
    <a:custClr name="Light brick">
      <a:srgbClr val="FFCCC4"/>
    </a:custClr>
    <a:custClr name="Light yellow">
      <a:srgbClr val="FFF0B0"/>
    </a:custClr>
    <a:custClr name="Light grey">
      <a:srgbClr val="E6E6E6"/>
    </a:custClr>
  </a:custClrLst>
  <a:extLst>
    <a:ext uri="{05A4C25C-085E-4340-85A3-A5531E510DB2}">
      <thm15:themeFamily xmlns:thm15="http://schemas.microsoft.com/office/thememl/2012/main" name="KTH PPT template 251203.potx" id="{B9D87BD4-659E-40F0-9595-7EDEBA7F7B08}" vid="{8372EC08-571E-42EA-AAF5-CEC4489AF2D9}"/>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TotalTime>
  <Words>0</Words>
  <Application>Microsoft Office PowerPoint</Application>
  <PresentationFormat>Widescreen</PresentationFormat>
  <Paragraphs>0</Paragraphs>
  <Slides>3</Slides>
  <Notes>0</Notes>
  <HiddenSlides>1</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Calibri</vt:lpstr>
      <vt:lpstr>Arial</vt:lpstr>
      <vt:lpstr>Figtree</vt:lpstr>
      <vt:lpstr>Office-tema</vt:lpstr>
      <vt:lpstr>PowerPoint Presentation</vt:lpstr>
      <vt:lpstr>PowerPoint Presentation</vt:lpstr>
      <vt:lpstr>PowerPoint Presentation</vt:lpstr>
    </vt:vector>
  </TitlesOfParts>
  <Company>KTH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Malin Modig</dc:creator>
  <cp:lastModifiedBy>Tove Guldbrand</cp:lastModifiedBy>
  <cp:revision>7</cp:revision>
  <dcterms:created xsi:type="dcterms:W3CDTF">2025-11-27T14:16:18Z</dcterms:created>
  <dcterms:modified xsi:type="dcterms:W3CDTF">2025-12-03T08:33:26Z</dcterms:modified>
</cp:coreProperties>
</file>